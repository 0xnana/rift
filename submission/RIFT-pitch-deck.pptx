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56d28fbcea4aa0" /><Relationship Type="http://schemas.openxmlformats.org/officeDocument/2006/relationships/extended-properties" Target="/docProps/app.xml" Id="R738aadf17bc1434f" /><Relationship Type="http://schemas.openxmlformats.org/officeDocument/2006/relationships/officeDocument" Target="/ppt/presentation.xml" Id="R7c69037caff042b3" /></Relationships>
</file>

<file path=ppt/presentation.xml><?xml version="1.0" encoding="utf-8"?>
<p:presentation xmlns:p="http://schemas.openxmlformats.org/presentationml/2006/main">
  <p:sldMasterIdLst>
    <p:sldMasterId xmlns:r="http://schemas.openxmlformats.org/officeDocument/2006/relationships" id="2147483648" r:id="Rdd7ee2e686ec4dd3"/>
  </p:sldMasterIdLst>
  <p:notesMasterIdLst>
    <p:notesMasterId xmlns:r="http://schemas.openxmlformats.org/officeDocument/2006/relationships" r:id="R954bc8af24634560"/>
  </p:notesMasterIdLst>
  <p:sldIdLst>
    <p:sldId xmlns:r="http://schemas.openxmlformats.org/officeDocument/2006/relationships" id="256" r:id="Rfdb0092234e6408f"/>
    <p:sldId xmlns:r="http://schemas.openxmlformats.org/officeDocument/2006/relationships" id="257" r:id="R5893d75562d24025"/>
    <p:sldId xmlns:r="http://schemas.openxmlformats.org/officeDocument/2006/relationships" id="258" r:id="Rf8a69c2f62954732"/>
    <p:sldId xmlns:r="http://schemas.openxmlformats.org/officeDocument/2006/relationships" id="259" r:id="R9468c0a40f25497d"/>
    <p:sldId xmlns:r="http://schemas.openxmlformats.org/officeDocument/2006/relationships" id="260" r:id="Rb7638df7b47c4c7f"/>
    <p:sldId xmlns:r="http://schemas.openxmlformats.org/officeDocument/2006/relationships" id="261" r:id="R05d7ab80134b45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bbb52dcfa043a9" /><Relationship Type="http://schemas.openxmlformats.org/officeDocument/2006/relationships/slideMaster" Target="/ppt/slideMasters/slideMaster1.xml" Id="Rdd7ee2e686ec4dd3" /><Relationship Type="http://schemas.openxmlformats.org/officeDocument/2006/relationships/notesMaster" Target="/ppt/notesMasters/notesMaster1.xml" Id="R954bc8af24634560" /><Relationship Type="http://schemas.openxmlformats.org/officeDocument/2006/relationships/presProps" Target="/ppt/presProps.xml" Id="Rbb0461f5197d4de8" /><Relationship Type="http://schemas.openxmlformats.org/officeDocument/2006/relationships/tableStyles" Target="/ppt/tableStyles.xml" Id="Re37c89619ea1495a" /><Relationship Type="http://schemas.openxmlformats.org/officeDocument/2006/relationships/slide" Target="/ppt/slides/slide1.xml" Id="Rfdb0092234e6408f" /><Relationship Type="http://schemas.openxmlformats.org/officeDocument/2006/relationships/slide" Target="/ppt/slides/slide2.xml" Id="R5893d75562d24025" /><Relationship Type="http://schemas.openxmlformats.org/officeDocument/2006/relationships/slide" Target="/ppt/slides/slide3.xml" Id="Rf8a69c2f62954732" /><Relationship Type="http://schemas.openxmlformats.org/officeDocument/2006/relationships/slide" Target="/ppt/slides/slide4.xml" Id="R9468c0a40f25497d" /><Relationship Type="http://schemas.openxmlformats.org/officeDocument/2006/relationships/slide" Target="/ppt/slides/slide5.xml" Id="Rb7638df7b47c4c7f" /><Relationship Type="http://schemas.openxmlformats.org/officeDocument/2006/relationships/slide" Target="/ppt/slides/slide6.xml" Id="R05d7ab80134b45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0188b71cf840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259e205289452f" /><Relationship Type="http://schemas.openxmlformats.org/officeDocument/2006/relationships/notesMaster" Target="/ppt/notesMasters/notesMaster1.xml" Id="Rcdf341653f184b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e3290bcf4f4a3e" /><Relationship Type="http://schemas.openxmlformats.org/officeDocument/2006/relationships/notesMaster" Target="/ppt/notesMasters/notesMaster1.xml" Id="R4ee3c90240b74c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bc72c1fd7d466f" /><Relationship Type="http://schemas.openxmlformats.org/officeDocument/2006/relationships/notesMaster" Target="/ppt/notesMasters/notesMaster1.xml" Id="Redd81350b35b42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93a4597a0c4484" /><Relationship Type="http://schemas.openxmlformats.org/officeDocument/2006/relationships/notesMaster" Target="/ppt/notesMasters/notesMaster1.xml" Id="Rd8f1f6a9588d45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87905b01ca4c3a" /><Relationship Type="http://schemas.openxmlformats.org/officeDocument/2006/relationships/notesMaster" Target="/ppt/notesMasters/notesMaster1.xml" Id="R45c4c498905e44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99bbfe42ec48ce" /><Relationship Type="http://schemas.openxmlformats.org/officeDocument/2006/relationships/notesMaster" Target="/ppt/notesMasters/notesMaster1.xml" Id="R7e266580465647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RIFT gives Portaldot operators a live view of the imported head, GRANDPA finality, and BEEFY checkpoint progress, then lets them investigate a reporter-submitted on-chain report and its archived bytes. The registry does not verify consensus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RIFT focuses on the operational stages of the network pipeline rather than general block search. GRANDPA lag is Best minus GRANDPA. BEEFY lag is GRANDPA minus BEEFY. Author counts begin when the dashboard session connects and are not historical validator rankings.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was captured from the public Portaldot V3 native WebSocket on 29 October 2026. At capture, Best was 241,485, GRANDPA 241,483, BEEFY 241,475, GRANDPA lag 2 and BEEFY lag 8. These are RPC observations. The page history and author counters are session-local.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hash shown is snapshot id 2, captured and published on 27 October 2026 and included in block 221,091. The on-chain record and archived JSON were both loaded by the RIFT dashboard during capture. The input accepts a 32-byte payload hash or a publication transaction hash.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archive hash and six anchored values match the on-chain report. The six fields are Best, GRANDPA-finalized, BEEFY-finalized, BEEFY set id, authority count, and observed skipped slots. This proves consistency between the reporter-submitted archive and report fields. It does not prove the source observation was true or verify consensus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commercialization path, not validated demand. Today the dashboard reads RPC directly in the browser and keeps its chart history in session memory. The CLI collector already provides a starting point for a long-running service. First, use it internally or with one operator team; add persistence, service health, and alert delivery. Consider a paid hosted control plane only if teams ask for shared access, retention, and alert routing. No pilot, customer, or pricing commitment has been secured.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bfed5c31f944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7209a623b64a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058f22da7445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f79bab399f4e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b702f7779348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12c0dfa00943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73030E-FFF0-497D-A88B-94881C55891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8C1E66-A584-4BAE-AB53-DF5FF08A9D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360160-942A-45F3-AEC1-3D48E3A396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E16F80-17E8-407F-A6B8-D2346ABBE8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0703C8-5035-43B5-B3E5-EDAF2D09B8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74BA8C-098F-4CEA-9AF0-BCA564E48A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2E030-F3BB-414B-BF67-6A00359869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F4988A-49C4-4593-9B2B-1197A103FA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D4D0E-F450-450E-85F1-5EEB323383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B989B0-849D-4B13-8184-71935EAE42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8c8eaa625a48a8" /><Relationship Type="http://schemas.openxmlformats.org/officeDocument/2006/relationships/slideLayout" Target="/ppt/slideLayouts/slideLayout1.xml" Id="R2d8b4ce94dcf4400" /><Relationship Type="http://schemas.openxmlformats.org/officeDocument/2006/relationships/slideLayout" Target="/ppt/slideLayouts/slideLayout2.xml" Id="R925f700eb9ec4ee4" /><Relationship Type="http://schemas.openxmlformats.org/officeDocument/2006/relationships/slideLayout" Target="/ppt/slideLayouts/slideLayout3.xml" Id="Rad0225cd81c34843" /><Relationship Type="http://schemas.openxmlformats.org/officeDocument/2006/relationships/slideLayout" Target="/ppt/slideLayouts/slideLayout4.xml" Id="R23c72ca5250745eb" /><Relationship Type="http://schemas.openxmlformats.org/officeDocument/2006/relationships/slideLayout" Target="/ppt/slideLayouts/slideLayout5.xml" Id="Rac9f724bd8554c51" /><Relationship Type="http://schemas.openxmlformats.org/officeDocument/2006/relationships/slideLayout" Target="/ppt/slideLayouts/slideLayout6.xml" Id="R674c19e39b8740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8b4ce94dcf4400"/>
    <p:sldLayoutId xmlns:r="http://schemas.openxmlformats.org/officeDocument/2006/relationships" id="2147483650" r:id="R925f700eb9ec4ee4"/>
    <p:sldLayoutId xmlns:r="http://schemas.openxmlformats.org/officeDocument/2006/relationships" id="2147483651" r:id="Rad0225cd81c34843"/>
    <p:sldLayoutId xmlns:r="http://schemas.openxmlformats.org/officeDocument/2006/relationships" id="2147483652" r:id="R23c72ca5250745eb"/>
    <p:sldLayoutId xmlns:r="http://schemas.openxmlformats.org/officeDocument/2006/relationships" id="2147483653" r:id="Rac9f724bd8554c51"/>
    <p:sldLayoutId xmlns:r="http://schemas.openxmlformats.org/officeDocument/2006/relationships" id="2147483654" r:id="R674c19e39b8740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ed57959ad84578" /><Relationship Type="http://schemas.openxmlformats.org/officeDocument/2006/relationships/image" Target="/ppt/media/image.png" Id="Ree6bb19e28464823" /><Relationship Type="http://schemas.openxmlformats.org/officeDocument/2006/relationships/image" Target="/ppt/media/image.svg" Id="R6848c8b4b53c43bc" /><Relationship Type="http://schemas.openxmlformats.org/officeDocument/2006/relationships/notesSlide" Target="/ppt/notesSlides/notesSlide1.xml" Id="Rf0b9aaaae97140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e768188a7d4770" /><Relationship Type="http://schemas.openxmlformats.org/officeDocument/2006/relationships/notesSlide" Target="/ppt/notesSlides/notesSlide2.xml" Id="R5335be5e121a4f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eae91cff314682" /><Relationship Type="http://schemas.openxmlformats.org/officeDocument/2006/relationships/image" Target="/ppt/media/image2.png" Id="R1eb98b9425734c01" /><Relationship Type="http://schemas.openxmlformats.org/officeDocument/2006/relationships/notesSlide" Target="/ppt/notesSlides/notesSlide3.xml" Id="R274507daa6314d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c9ebf26b5442e9" /><Relationship Type="http://schemas.openxmlformats.org/officeDocument/2006/relationships/image" Target="/ppt/media/image3.png" Id="Rbcc9634a681640af" /><Relationship Type="http://schemas.openxmlformats.org/officeDocument/2006/relationships/notesSlide" Target="/ppt/notesSlides/notesSlide4.xml" Id="R24cac24e1b7d46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e1e0bf9a2548c7" /><Relationship Type="http://schemas.openxmlformats.org/officeDocument/2006/relationships/image" Target="/ppt/media/image4.png" Id="Red54a3dcf65b43b0" /><Relationship Type="http://schemas.openxmlformats.org/officeDocument/2006/relationships/notesSlide" Target="/ppt/notesSlides/notesSlide5.xml" Id="Rceb7110a1f0a42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9a2e24bc8a40a2" /><Relationship Type="http://schemas.openxmlformats.org/officeDocument/2006/relationships/notesSlide" Target="/ppt/notesSlides/notesSlide6.xml" Id="Ra05428e76ec5484c" /></Relationships>
</file>

<file path=ppt/slides/slide1.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2BF81920-2F45-44EC-9F8B-9900D6BF05E7}"/>
              </a:ext>
            </a:extLst>
          </p:cNvPr>
          <p:cNvPicPr>
            <a:picLocks xmlns:a="http://schemas.openxmlformats.org/drawingml/2006/main" noChangeAspect="1"/>
          </p:cNvPicPr>
          <p:nvPr/>
        </p:nvPicPr>
        <p:blipFill>
          <a:blip xmlns:r="http://schemas.openxmlformats.org/officeDocument/2006/relationships" xmlns:a="http://schemas.openxmlformats.org/drawingml/2006/main" r:embed="Ree6bb19e28464823">
            <a:extLst>
              <a:ext uri="{96DAC541-7B7A-43D3-8B79-37D633B846F1}">
                <asvg:svgBlip xmlns:asvg="http://schemas.microsoft.com/office/drawing/2016/SVG/main" r:embed="R6848c8b4b53c43bc"/>
              </a:ext>
            </a:extLst>
          </a:blip>
          <a:stretch xmlns:a="http://schemas.openxmlformats.org/drawingml/2006/main"/>
        </p:blipFill>
        <p:spPr>
          <a:xfrm xmlns:a="http://schemas.openxmlformats.org/drawingml/2006/main">
            <a:off x="666750" y="552450"/>
            <a:ext cx="457200" cy="457200"/>
          </a:xfrm>
          <a:prstGeom xmlns:a="http://schemas.openxmlformats.org/drawingml/2006/main" prst="rect">
            <a:avLst/>
          </a:prstGeom>
        </p:spPr>
      </p:pic>
      <p:sp>
        <p:nvSpPr>
          <p:cNvPr id="2" name="wordmark">
            <a:extLst xmlns:a="http://schemas.openxmlformats.org/drawingml/2006/main">
              <a:ext uri="{FF2B5EF4-FFF2-40B4-BE49-F238E27FC236}">
                <a16:creationId xmlns:a16="http://schemas.microsoft.com/office/drawing/2014/main" id="{3EECD19C-9902-4179-9747-06CBEC8F485C}"/>
              </a:ext>
            </a:extLst>
          </p:cNvPr>
          <p:cNvSpPr>
            <a:spLocks xmlns:a="http://schemas.openxmlformats.org/drawingml/2006/main" noGrp="1"/>
          </p:cNvSpPr>
          <p:nvPr/>
        </p:nvSpPr>
        <p:spPr>
          <a:xfrm xmlns:a="http://schemas.openxmlformats.org/drawingml/2006/main">
            <a:off x="1257300" y="5429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EF0E8"/>
                </a:solidFill>
                <a:latin typeface="DejaVu Sans"/>
                <a:ea typeface="DejaVu Sans"/>
                <a:cs typeface="DejaVu Sans"/>
              </a:defRPr>
            </a:defPPr>
            <a:lvl1pPr algn="l">
              <a:defRPr sz="1875" b="1">
                <a:solidFill>
                  <a:srgbClr val="EEF0E8"/>
                </a:solidFill>
                <a:latin typeface="DejaVu Sans"/>
                <a:ea typeface="DejaVu Sans"/>
                <a:cs typeface="DejaVu Sans"/>
              </a:defRPr>
            </a:lvl1pPr>
            <a:lvl2pPr algn="l">
              <a:defRPr sz="1875" b="1">
                <a:solidFill>
                  <a:srgbClr val="EEF0E8"/>
                </a:solidFill>
                <a:latin typeface="DejaVu Sans"/>
                <a:ea typeface="DejaVu Sans"/>
                <a:cs typeface="DejaVu Sans"/>
              </a:defRPr>
            </a:lvl2pPr>
            <a:lvl3pPr algn="l">
              <a:defRPr sz="1875" b="1">
                <a:solidFill>
                  <a:srgbClr val="EEF0E8"/>
                </a:solidFill>
                <a:latin typeface="DejaVu Sans"/>
                <a:ea typeface="DejaVu Sans"/>
                <a:cs typeface="DejaVu Sans"/>
              </a:defRPr>
            </a:lvl3pPr>
            <a:lvl4pPr algn="l">
              <a:defRPr sz="1875" b="1">
                <a:solidFill>
                  <a:srgbClr val="EEF0E8"/>
                </a:solidFill>
                <a:latin typeface="DejaVu Sans"/>
                <a:ea typeface="DejaVu Sans"/>
                <a:cs typeface="DejaVu Sans"/>
              </a:defRPr>
            </a:lvl4pPr>
            <a:lvl5pPr algn="l">
              <a:defRPr sz="1875" b="1">
                <a:solidFill>
                  <a:srgbClr val="EEF0E8"/>
                </a:solidFill>
                <a:latin typeface="DejaVu Sans"/>
                <a:ea typeface="DejaVu Sans"/>
                <a:cs typeface="DejaVu Sans"/>
              </a:defRPr>
            </a:lvl5pPr>
            <a:lvl6pPr algn="l">
              <a:defRPr sz="1875" b="1">
                <a:solidFill>
                  <a:srgbClr val="EEF0E8"/>
                </a:solidFill>
                <a:latin typeface="DejaVu Sans"/>
                <a:ea typeface="DejaVu Sans"/>
                <a:cs typeface="DejaVu Sans"/>
              </a:defRPr>
            </a:lvl6pPr>
            <a:lvl7pPr algn="l">
              <a:defRPr sz="1875" b="1">
                <a:solidFill>
                  <a:srgbClr val="EEF0E8"/>
                </a:solidFill>
                <a:latin typeface="DejaVu Sans"/>
                <a:ea typeface="DejaVu Sans"/>
                <a:cs typeface="DejaVu Sans"/>
              </a:defRPr>
            </a:lvl7pPr>
            <a:lvl8pPr algn="l">
              <a:defRPr sz="1875" b="1">
                <a:solidFill>
                  <a:srgbClr val="EEF0E8"/>
                </a:solidFill>
                <a:latin typeface="DejaVu Sans"/>
                <a:ea typeface="DejaVu Sans"/>
                <a:cs typeface="DejaVu Sans"/>
              </a:defRPr>
            </a:lvl8pPr>
            <a:lvl9pPr algn="l">
              <a:defRPr sz="1875" b="1">
                <a:solidFill>
                  <a:srgbClr val="EEF0E8"/>
                </a:solidFill>
                <a:latin typeface="DejaVu Sans"/>
                <a:ea typeface="DejaVu Sans"/>
                <a:cs typeface="DejaVu Sans"/>
              </a:defRPr>
            </a:lvl9pPr>
          </a:lstStyle>
          <a:p xmlns:a="http://schemas.openxmlformats.org/drawingml/2006/main">
            <a:pPr algn="l">
              <a:defRPr sz="1875" b="1">
                <a:solidFill>
                  <a:srgbClr val="EEF0E8"/>
                </a:solidFill>
                <a:latin typeface="DejaVu Sans"/>
                <a:ea typeface="DejaVu Sans"/>
                <a:cs typeface="DejaVu Sans"/>
              </a:defRPr>
            </a:pPr>
            <a:r>
              <a:rPr sz="1875" b="1">
                <a:solidFill>
                  <a:srgbClr val="EEF0E8"/>
                </a:solidFill>
                <a:latin typeface="DejaVu Sans"/>
                <a:ea typeface="DejaVu Sans"/>
                <a:cs typeface="DejaVu Sans"/>
              </a:rPr>
              <a:t>RIFT</a:t>
            </a:r>
          </a:p>
        </p:txBody>
      </p:sp>
      <p:sp>
        <p:nvSpPr>
          <p:cNvPr id="3" name="brand-line">
            <a:extLst xmlns:a="http://schemas.openxmlformats.org/drawingml/2006/main">
              <a:ext uri="{FF2B5EF4-FFF2-40B4-BE49-F238E27FC236}">
                <a16:creationId xmlns:a16="http://schemas.microsoft.com/office/drawing/2014/main" id="{700A9ECD-8F96-44ED-ACCE-8C6F3DBA6350}"/>
              </a:ext>
            </a:extLst>
          </p:cNvPr>
          <p:cNvSpPr>
            <a:spLocks xmlns:a="http://schemas.openxmlformats.org/drawingml/2006/main" noGrp="1"/>
          </p:cNvSpPr>
          <p:nvPr/>
        </p:nvSpPr>
        <p:spPr>
          <a:xfrm xmlns:a="http://schemas.openxmlformats.org/drawingml/2006/main">
            <a:off x="1257300" y="8001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A3A89D"/>
                </a:solidFill>
                <a:latin typeface="DejaVu Sans"/>
                <a:ea typeface="DejaVu Sans"/>
                <a:cs typeface="DejaVu Sans"/>
              </a:defRPr>
            </a:defPPr>
            <a:lvl1pPr algn="l">
              <a:defRPr sz="975" b="1">
                <a:solidFill>
                  <a:srgbClr val="A3A89D"/>
                </a:solidFill>
                <a:latin typeface="DejaVu Sans"/>
                <a:ea typeface="DejaVu Sans"/>
                <a:cs typeface="DejaVu Sans"/>
              </a:defRPr>
            </a:lvl1pPr>
            <a:lvl2pPr algn="l">
              <a:defRPr sz="975" b="1">
                <a:solidFill>
                  <a:srgbClr val="A3A89D"/>
                </a:solidFill>
                <a:latin typeface="DejaVu Sans"/>
                <a:ea typeface="DejaVu Sans"/>
                <a:cs typeface="DejaVu Sans"/>
              </a:defRPr>
            </a:lvl2pPr>
            <a:lvl3pPr algn="l">
              <a:defRPr sz="975" b="1">
                <a:solidFill>
                  <a:srgbClr val="A3A89D"/>
                </a:solidFill>
                <a:latin typeface="DejaVu Sans"/>
                <a:ea typeface="DejaVu Sans"/>
                <a:cs typeface="DejaVu Sans"/>
              </a:defRPr>
            </a:lvl3pPr>
            <a:lvl4pPr algn="l">
              <a:defRPr sz="975" b="1">
                <a:solidFill>
                  <a:srgbClr val="A3A89D"/>
                </a:solidFill>
                <a:latin typeface="DejaVu Sans"/>
                <a:ea typeface="DejaVu Sans"/>
                <a:cs typeface="DejaVu Sans"/>
              </a:defRPr>
            </a:lvl4pPr>
            <a:lvl5pPr algn="l">
              <a:defRPr sz="975" b="1">
                <a:solidFill>
                  <a:srgbClr val="A3A89D"/>
                </a:solidFill>
                <a:latin typeface="DejaVu Sans"/>
                <a:ea typeface="DejaVu Sans"/>
                <a:cs typeface="DejaVu Sans"/>
              </a:defRPr>
            </a:lvl5pPr>
            <a:lvl6pPr algn="l">
              <a:defRPr sz="975" b="1">
                <a:solidFill>
                  <a:srgbClr val="A3A89D"/>
                </a:solidFill>
                <a:latin typeface="DejaVu Sans"/>
                <a:ea typeface="DejaVu Sans"/>
                <a:cs typeface="DejaVu Sans"/>
              </a:defRPr>
            </a:lvl6pPr>
            <a:lvl7pPr algn="l">
              <a:defRPr sz="975" b="1">
                <a:solidFill>
                  <a:srgbClr val="A3A89D"/>
                </a:solidFill>
                <a:latin typeface="DejaVu Sans"/>
                <a:ea typeface="DejaVu Sans"/>
                <a:cs typeface="DejaVu Sans"/>
              </a:defRPr>
            </a:lvl7pPr>
            <a:lvl8pPr algn="l">
              <a:defRPr sz="975" b="1">
                <a:solidFill>
                  <a:srgbClr val="A3A89D"/>
                </a:solidFill>
                <a:latin typeface="DejaVu Sans"/>
                <a:ea typeface="DejaVu Sans"/>
                <a:cs typeface="DejaVu Sans"/>
              </a:defRPr>
            </a:lvl8pPr>
            <a:lvl9pPr algn="l">
              <a:defRPr sz="975" b="1">
                <a:solidFill>
                  <a:srgbClr val="A3A89D"/>
                </a:solidFill>
                <a:latin typeface="DejaVu Sans"/>
                <a:ea typeface="DejaVu Sans"/>
                <a:cs typeface="DejaVu Sans"/>
              </a:defRPr>
            </a:lvl9pPr>
          </a:lstStyle>
          <a:p xmlns:a="http://schemas.openxmlformats.org/drawingml/2006/main">
            <a:pPr algn="l">
              <a:defRPr sz="975" b="1">
                <a:solidFill>
                  <a:srgbClr val="A3A89D"/>
                </a:solidFill>
                <a:latin typeface="DejaVu Sans"/>
                <a:ea typeface="DejaVu Sans"/>
                <a:cs typeface="DejaVu Sans"/>
              </a:defRPr>
            </a:pPr>
            <a:r>
              <a:rPr sz="975" b="1">
                <a:solidFill>
                  <a:srgbClr val="A3A89D"/>
                </a:solidFill>
                <a:latin typeface="DejaVu Sans"/>
                <a:ea typeface="DejaVu Sans"/>
                <a:cs typeface="DejaVu Sans"/>
              </a:rPr>
              <a:t>ONCHAIN INTELLIGENCE</a:t>
            </a:r>
          </a:p>
        </p:txBody>
      </p:sp>
      <p:sp>
        <p:nvSpPr>
          <p:cNvPr id="4" name="cover-accent">
            <a:extLst xmlns:a="http://schemas.openxmlformats.org/drawingml/2006/main">
              <a:ext uri="{FF2B5EF4-FFF2-40B4-BE49-F238E27FC236}">
                <a16:creationId xmlns:a16="http://schemas.microsoft.com/office/drawing/2014/main" id="{206C7A1C-3978-4603-9528-210B871ED5AF}"/>
              </a:ext>
            </a:extLst>
          </p:cNvPr>
          <p:cNvSpPr>
            <a:spLocks xmlns:a="http://schemas.openxmlformats.org/drawingml/2006/main" noGrp="1"/>
          </p:cNvSpPr>
          <p:nvPr/>
        </p:nvSpPr>
        <p:spPr>
          <a:xfrm xmlns:a="http://schemas.openxmlformats.org/drawingml/2006/main">
            <a:off x="666750" y="1476375"/>
            <a:ext cx="704850" cy="38100"/>
          </a:xfrm>
          <a:prstGeom xmlns:a="http://schemas.openxmlformats.org/drawingml/2006/main" prst="rect">
            <a:avLst/>
          </a:prstGeom>
          <a:solidFill xmlns:a="http://schemas.openxmlformats.org/drawingml/2006/main">
            <a:srgbClr val="C8FF45"/>
          </a:solidFill>
          <a:ln xmlns:a="http://schemas.openxmlformats.org/drawingml/2006/main" w="0">
            <a:noFill/>
            <a:prstDash val="solid"/>
          </a:ln>
        </p:spPr>
      </p:sp>
      <p:sp>
        <p:nvSpPr>
          <p:cNvPr id="5" name="cover-title">
            <a:extLst xmlns:a="http://schemas.openxmlformats.org/drawingml/2006/main">
              <a:ext uri="{FF2B5EF4-FFF2-40B4-BE49-F238E27FC236}">
                <a16:creationId xmlns:a16="http://schemas.microsoft.com/office/drawing/2014/main" id="{83C6897C-A58C-4DD9-8D63-4680655B2550}"/>
              </a:ext>
            </a:extLst>
          </p:cNvPr>
          <p:cNvSpPr>
            <a:spLocks xmlns:a="http://schemas.openxmlformats.org/drawingml/2006/main" noGrp="1"/>
          </p:cNvSpPr>
          <p:nvPr/>
        </p:nvSpPr>
        <p:spPr>
          <a:xfrm xmlns:a="http://schemas.openxmlformats.org/drawingml/2006/main">
            <a:off x="666750" y="1800225"/>
            <a:ext cx="666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971"/>
          </a:bodyPr>
          <a:lstStyle xmlns:a="http://schemas.openxmlformats.org/drawingml/2006/main">
            <a:defPPr algn="l">
              <a:defRPr sz="5025" b="1">
                <a:solidFill>
                  <a:srgbClr val="EEF0E8"/>
                </a:solidFill>
                <a:latin typeface="DejaVu Sans"/>
                <a:ea typeface="DejaVu Sans"/>
                <a:cs typeface="DejaVu Sans"/>
              </a:defRPr>
            </a:defPPr>
            <a:lvl1pPr algn="l">
              <a:defRPr sz="5025" b="1">
                <a:solidFill>
                  <a:srgbClr val="EEF0E8"/>
                </a:solidFill>
                <a:latin typeface="DejaVu Sans"/>
                <a:ea typeface="DejaVu Sans"/>
                <a:cs typeface="DejaVu Sans"/>
              </a:defRPr>
            </a:lvl1pPr>
            <a:lvl2pPr algn="l">
              <a:defRPr sz="5025" b="1">
                <a:solidFill>
                  <a:srgbClr val="EEF0E8"/>
                </a:solidFill>
                <a:latin typeface="DejaVu Sans"/>
                <a:ea typeface="DejaVu Sans"/>
                <a:cs typeface="DejaVu Sans"/>
              </a:defRPr>
            </a:lvl2pPr>
            <a:lvl3pPr algn="l">
              <a:defRPr sz="5025" b="1">
                <a:solidFill>
                  <a:srgbClr val="EEF0E8"/>
                </a:solidFill>
                <a:latin typeface="DejaVu Sans"/>
                <a:ea typeface="DejaVu Sans"/>
                <a:cs typeface="DejaVu Sans"/>
              </a:defRPr>
            </a:lvl3pPr>
            <a:lvl4pPr algn="l">
              <a:defRPr sz="5025" b="1">
                <a:solidFill>
                  <a:srgbClr val="EEF0E8"/>
                </a:solidFill>
                <a:latin typeface="DejaVu Sans"/>
                <a:ea typeface="DejaVu Sans"/>
                <a:cs typeface="DejaVu Sans"/>
              </a:defRPr>
            </a:lvl4pPr>
            <a:lvl5pPr algn="l">
              <a:defRPr sz="5025" b="1">
                <a:solidFill>
                  <a:srgbClr val="EEF0E8"/>
                </a:solidFill>
                <a:latin typeface="DejaVu Sans"/>
                <a:ea typeface="DejaVu Sans"/>
                <a:cs typeface="DejaVu Sans"/>
              </a:defRPr>
            </a:lvl5pPr>
            <a:lvl6pPr algn="l">
              <a:defRPr sz="5025" b="1">
                <a:solidFill>
                  <a:srgbClr val="EEF0E8"/>
                </a:solidFill>
                <a:latin typeface="DejaVu Sans"/>
                <a:ea typeface="DejaVu Sans"/>
                <a:cs typeface="DejaVu Sans"/>
              </a:defRPr>
            </a:lvl6pPr>
            <a:lvl7pPr algn="l">
              <a:defRPr sz="5025" b="1">
                <a:solidFill>
                  <a:srgbClr val="EEF0E8"/>
                </a:solidFill>
                <a:latin typeface="DejaVu Sans"/>
                <a:ea typeface="DejaVu Sans"/>
                <a:cs typeface="DejaVu Sans"/>
              </a:defRPr>
            </a:lvl7pPr>
            <a:lvl8pPr algn="l">
              <a:defRPr sz="5025" b="1">
                <a:solidFill>
                  <a:srgbClr val="EEF0E8"/>
                </a:solidFill>
                <a:latin typeface="DejaVu Sans"/>
                <a:ea typeface="DejaVu Sans"/>
                <a:cs typeface="DejaVu Sans"/>
              </a:defRPr>
            </a:lvl8pPr>
            <a:lvl9pPr algn="l">
              <a:defRPr sz="5025" b="1">
                <a:solidFill>
                  <a:srgbClr val="EEF0E8"/>
                </a:solidFill>
                <a:latin typeface="DejaVu Sans"/>
                <a:ea typeface="DejaVu Sans"/>
                <a:cs typeface="DejaVu Sans"/>
              </a:defRPr>
            </a:lvl9pPr>
          </a:lstStyle>
          <a:p xmlns:a="http://schemas.openxmlformats.org/drawingml/2006/main">
            <a:pPr algn="l">
              <a:defRPr sz="5025" b="1">
                <a:solidFill>
                  <a:srgbClr val="EEF0E8"/>
                </a:solidFill>
                <a:latin typeface="DejaVu Sans"/>
                <a:ea typeface="DejaVu Sans"/>
                <a:cs typeface="DejaVu Sans"/>
              </a:defRPr>
            </a:pPr>
            <a:r>
              <a:rPr sz="5025" b="1">
                <a:solidFill>
                  <a:srgbClr val="EEF0E8"/>
                </a:solidFill>
                <a:latin typeface="DejaVu Sans"/>
                <a:ea typeface="DejaVu Sans"/>
                <a:cs typeface="DejaVu Sans"/>
              </a:rPr>
              <a:t>See the signal.</a:t>
            </a:r>
          </a:p>
          <a:p xmlns:a="http://schemas.openxmlformats.org/drawingml/2006/main">
            <a:pPr algn="l">
              <a:defRPr sz="5025" b="1">
                <a:solidFill>
                  <a:srgbClr val="EEF0E8"/>
                </a:solidFill>
                <a:latin typeface="DejaVu Sans"/>
                <a:ea typeface="DejaVu Sans"/>
                <a:cs typeface="DejaVu Sans"/>
              </a:defRPr>
            </a:pPr>
            <a:r>
              <a:rPr sz="5025" b="1">
                <a:solidFill>
                  <a:srgbClr val="EEF0E8"/>
                </a:solidFill>
                <a:latin typeface="DejaVu Sans"/>
                <a:ea typeface="DejaVu Sans"/>
                <a:cs typeface="DejaVu Sans"/>
              </a:rPr>
              <a:t>Follow the evidence.</a:t>
            </a:r>
          </a:p>
        </p:txBody>
      </p:sp>
      <p:sp>
        <p:nvSpPr>
          <p:cNvPr id="6" name="cover-subtitle">
            <a:extLst xmlns:a="http://schemas.openxmlformats.org/drawingml/2006/main">
              <a:ext uri="{FF2B5EF4-FFF2-40B4-BE49-F238E27FC236}">
                <a16:creationId xmlns:a16="http://schemas.microsoft.com/office/drawing/2014/main" id="{B6C04ACC-5D3D-4C6D-A928-7684E4BFE7A6}"/>
              </a:ext>
            </a:extLst>
          </p:cNvPr>
          <p:cNvSpPr>
            <a:spLocks xmlns:a="http://schemas.openxmlformats.org/drawingml/2006/main" noGrp="1"/>
          </p:cNvSpPr>
          <p:nvPr/>
        </p:nvSpPr>
        <p:spPr>
          <a:xfrm xmlns:a="http://schemas.openxmlformats.org/drawingml/2006/main">
            <a:off x="685800" y="3781425"/>
            <a:ext cx="5810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A3A89D"/>
                </a:solidFill>
                <a:latin typeface="DejaVu Sans"/>
                <a:ea typeface="DejaVu Sans"/>
                <a:cs typeface="DejaVu Sans"/>
              </a:defRPr>
            </a:defPPr>
            <a:lvl1pPr algn="l">
              <a:defRPr sz="1875" b="0">
                <a:solidFill>
                  <a:srgbClr val="A3A89D"/>
                </a:solidFill>
                <a:latin typeface="DejaVu Sans"/>
                <a:ea typeface="DejaVu Sans"/>
                <a:cs typeface="DejaVu Sans"/>
              </a:defRPr>
            </a:lvl1pPr>
            <a:lvl2pPr algn="l">
              <a:defRPr sz="1875" b="0">
                <a:solidFill>
                  <a:srgbClr val="A3A89D"/>
                </a:solidFill>
                <a:latin typeface="DejaVu Sans"/>
                <a:ea typeface="DejaVu Sans"/>
                <a:cs typeface="DejaVu Sans"/>
              </a:defRPr>
            </a:lvl2pPr>
            <a:lvl3pPr algn="l">
              <a:defRPr sz="1875" b="0">
                <a:solidFill>
                  <a:srgbClr val="A3A89D"/>
                </a:solidFill>
                <a:latin typeface="DejaVu Sans"/>
                <a:ea typeface="DejaVu Sans"/>
                <a:cs typeface="DejaVu Sans"/>
              </a:defRPr>
            </a:lvl3pPr>
            <a:lvl4pPr algn="l">
              <a:defRPr sz="1875" b="0">
                <a:solidFill>
                  <a:srgbClr val="A3A89D"/>
                </a:solidFill>
                <a:latin typeface="DejaVu Sans"/>
                <a:ea typeface="DejaVu Sans"/>
                <a:cs typeface="DejaVu Sans"/>
              </a:defRPr>
            </a:lvl4pPr>
            <a:lvl5pPr algn="l">
              <a:defRPr sz="1875" b="0">
                <a:solidFill>
                  <a:srgbClr val="A3A89D"/>
                </a:solidFill>
                <a:latin typeface="DejaVu Sans"/>
                <a:ea typeface="DejaVu Sans"/>
                <a:cs typeface="DejaVu Sans"/>
              </a:defRPr>
            </a:lvl5pPr>
            <a:lvl6pPr algn="l">
              <a:defRPr sz="1875" b="0">
                <a:solidFill>
                  <a:srgbClr val="A3A89D"/>
                </a:solidFill>
                <a:latin typeface="DejaVu Sans"/>
                <a:ea typeface="DejaVu Sans"/>
                <a:cs typeface="DejaVu Sans"/>
              </a:defRPr>
            </a:lvl6pPr>
            <a:lvl7pPr algn="l">
              <a:defRPr sz="1875" b="0">
                <a:solidFill>
                  <a:srgbClr val="A3A89D"/>
                </a:solidFill>
                <a:latin typeface="DejaVu Sans"/>
                <a:ea typeface="DejaVu Sans"/>
                <a:cs typeface="DejaVu Sans"/>
              </a:defRPr>
            </a:lvl7pPr>
            <a:lvl8pPr algn="l">
              <a:defRPr sz="1875" b="0">
                <a:solidFill>
                  <a:srgbClr val="A3A89D"/>
                </a:solidFill>
                <a:latin typeface="DejaVu Sans"/>
                <a:ea typeface="DejaVu Sans"/>
                <a:cs typeface="DejaVu Sans"/>
              </a:defRPr>
            </a:lvl8pPr>
            <a:lvl9pPr algn="l">
              <a:defRPr sz="1875" b="0">
                <a:solidFill>
                  <a:srgbClr val="A3A89D"/>
                </a:solidFill>
                <a:latin typeface="DejaVu Sans"/>
                <a:ea typeface="DejaVu Sans"/>
                <a:cs typeface="DejaVu Sans"/>
              </a:defRPr>
            </a:lvl9pPr>
          </a:lstStyle>
          <a:p xmlns:a="http://schemas.openxmlformats.org/drawingml/2006/main">
            <a:pPr algn="l">
              <a:defRPr sz="1875" b="0">
                <a:solidFill>
                  <a:srgbClr val="A3A89D"/>
                </a:solidFill>
                <a:latin typeface="DejaVu Sans"/>
                <a:ea typeface="DejaVu Sans"/>
                <a:cs typeface="DejaVu Sans"/>
              </a:defRPr>
            </a:pPr>
            <a:r>
              <a:rPr sz="1875" b="0">
                <a:solidFill>
                  <a:srgbClr val="A3A89D"/>
                </a:solidFill>
                <a:latin typeface="DejaVu Sans"/>
                <a:ea typeface="DejaVu Sans"/>
                <a:cs typeface="DejaVu Sans"/>
              </a:rPr>
              <a:t>Live Portaldot V3 finality monitoring and hash-based report investigation.</a:t>
            </a:r>
          </a:p>
        </p:txBody>
      </p:sp>
      <p:sp>
        <p:nvSpPr>
          <p:cNvPr id="7" name="cover-label">
            <a:extLst xmlns:a="http://schemas.openxmlformats.org/drawingml/2006/main">
              <a:ext uri="{FF2B5EF4-FFF2-40B4-BE49-F238E27FC236}">
                <a16:creationId xmlns:a16="http://schemas.microsoft.com/office/drawing/2014/main" id="{EA5DDA46-466E-4004-9755-3E7935DE5533}"/>
              </a:ext>
            </a:extLst>
          </p:cNvPr>
          <p:cNvSpPr>
            <a:spLocks xmlns:a="http://schemas.openxmlformats.org/drawingml/2006/main" noGrp="1"/>
          </p:cNvSpPr>
          <p:nvPr/>
        </p:nvSpPr>
        <p:spPr>
          <a:xfrm xmlns:a="http://schemas.openxmlformats.org/drawingml/2006/main">
            <a:off x="685800" y="53625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8FF45"/>
                </a:solidFill>
                <a:latin typeface="DejaVu Sans"/>
                <a:ea typeface="DejaVu Sans"/>
                <a:cs typeface="DejaVu Sans"/>
              </a:defRPr>
            </a:defPPr>
            <a:lvl1pPr algn="l">
              <a:defRPr sz="1200" b="1">
                <a:solidFill>
                  <a:srgbClr val="C8FF45"/>
                </a:solidFill>
                <a:latin typeface="DejaVu Sans"/>
                <a:ea typeface="DejaVu Sans"/>
                <a:cs typeface="DejaVu Sans"/>
              </a:defRPr>
            </a:lvl1pPr>
            <a:lvl2pPr algn="l">
              <a:defRPr sz="1200" b="1">
                <a:solidFill>
                  <a:srgbClr val="C8FF45"/>
                </a:solidFill>
                <a:latin typeface="DejaVu Sans"/>
                <a:ea typeface="DejaVu Sans"/>
                <a:cs typeface="DejaVu Sans"/>
              </a:defRPr>
            </a:lvl2pPr>
            <a:lvl3pPr algn="l">
              <a:defRPr sz="1200" b="1">
                <a:solidFill>
                  <a:srgbClr val="C8FF45"/>
                </a:solidFill>
                <a:latin typeface="DejaVu Sans"/>
                <a:ea typeface="DejaVu Sans"/>
                <a:cs typeface="DejaVu Sans"/>
              </a:defRPr>
            </a:lvl3pPr>
            <a:lvl4pPr algn="l">
              <a:defRPr sz="1200" b="1">
                <a:solidFill>
                  <a:srgbClr val="C8FF45"/>
                </a:solidFill>
                <a:latin typeface="DejaVu Sans"/>
                <a:ea typeface="DejaVu Sans"/>
                <a:cs typeface="DejaVu Sans"/>
              </a:defRPr>
            </a:lvl4pPr>
            <a:lvl5pPr algn="l">
              <a:defRPr sz="1200" b="1">
                <a:solidFill>
                  <a:srgbClr val="C8FF45"/>
                </a:solidFill>
                <a:latin typeface="DejaVu Sans"/>
                <a:ea typeface="DejaVu Sans"/>
                <a:cs typeface="DejaVu Sans"/>
              </a:defRPr>
            </a:lvl5pPr>
            <a:lvl6pPr algn="l">
              <a:defRPr sz="1200" b="1">
                <a:solidFill>
                  <a:srgbClr val="C8FF45"/>
                </a:solidFill>
                <a:latin typeface="DejaVu Sans"/>
                <a:ea typeface="DejaVu Sans"/>
                <a:cs typeface="DejaVu Sans"/>
              </a:defRPr>
            </a:lvl6pPr>
            <a:lvl7pPr algn="l">
              <a:defRPr sz="1200" b="1">
                <a:solidFill>
                  <a:srgbClr val="C8FF45"/>
                </a:solidFill>
                <a:latin typeface="DejaVu Sans"/>
                <a:ea typeface="DejaVu Sans"/>
                <a:cs typeface="DejaVu Sans"/>
              </a:defRPr>
            </a:lvl7pPr>
            <a:lvl8pPr algn="l">
              <a:defRPr sz="1200" b="1">
                <a:solidFill>
                  <a:srgbClr val="C8FF45"/>
                </a:solidFill>
                <a:latin typeface="DejaVu Sans"/>
                <a:ea typeface="DejaVu Sans"/>
                <a:cs typeface="DejaVu Sans"/>
              </a:defRPr>
            </a:lvl8pPr>
            <a:lvl9pPr algn="l">
              <a:defRPr sz="1200" b="1">
                <a:solidFill>
                  <a:srgbClr val="C8FF45"/>
                </a:solidFill>
                <a:latin typeface="DejaVu Sans"/>
                <a:ea typeface="DejaVu Sans"/>
                <a:cs typeface="DejaVu Sans"/>
              </a:defRPr>
            </a:lvl9pPr>
          </a:lstStyle>
          <a:p xmlns:a="http://schemas.openxmlformats.org/drawingml/2006/main">
            <a:pPr algn="l">
              <a:defRPr sz="1200" b="1">
                <a:solidFill>
                  <a:srgbClr val="C8FF45"/>
                </a:solidFill>
                <a:latin typeface="DejaVu Sans"/>
                <a:ea typeface="DejaVu Sans"/>
                <a:cs typeface="DejaVu Sans"/>
              </a:defRPr>
            </a:pPr>
            <a:r>
              <a:rPr sz="1200" b="1">
                <a:solidFill>
                  <a:srgbClr val="C8FF45"/>
                </a:solidFill>
                <a:latin typeface="DejaVu Sans"/>
                <a:ea typeface="DejaVu Sans"/>
                <a:cs typeface="DejaVu Sans"/>
              </a:rPr>
              <a:t>NODE OPERATIONS &amp; TOOLING</a:t>
            </a:r>
          </a:p>
        </p:txBody>
      </p:sp>
      <p:sp>
        <p:nvSpPr>
          <p:cNvPr id="8" name="cover-event">
            <a:extLst xmlns:a="http://schemas.openxmlformats.org/drawingml/2006/main">
              <a:ext uri="{FF2B5EF4-FFF2-40B4-BE49-F238E27FC236}">
                <a16:creationId xmlns:a16="http://schemas.microsoft.com/office/drawing/2014/main" id="{1A74EA75-8AA9-4E75-8E1D-C1066D302B50}"/>
              </a:ext>
            </a:extLst>
          </p:cNvPr>
          <p:cNvSpPr>
            <a:spLocks xmlns:a="http://schemas.openxmlformats.org/drawingml/2006/main" noGrp="1"/>
          </p:cNvSpPr>
          <p:nvPr/>
        </p:nvSpPr>
        <p:spPr>
          <a:xfrm xmlns:a="http://schemas.openxmlformats.org/drawingml/2006/main">
            <a:off x="685800" y="56864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787E74"/>
                </a:solidFill>
                <a:latin typeface="DejaVu Sans"/>
                <a:ea typeface="DejaVu Sans"/>
                <a:cs typeface="DejaVu Sans"/>
              </a:defRPr>
            </a:defPPr>
            <a:lvl1pPr algn="l">
              <a:defRPr sz="1275" b="0">
                <a:solidFill>
                  <a:srgbClr val="787E74"/>
                </a:solidFill>
                <a:latin typeface="DejaVu Sans"/>
                <a:ea typeface="DejaVu Sans"/>
                <a:cs typeface="DejaVu Sans"/>
              </a:defRPr>
            </a:lvl1pPr>
            <a:lvl2pPr algn="l">
              <a:defRPr sz="1275" b="0">
                <a:solidFill>
                  <a:srgbClr val="787E74"/>
                </a:solidFill>
                <a:latin typeface="DejaVu Sans"/>
                <a:ea typeface="DejaVu Sans"/>
                <a:cs typeface="DejaVu Sans"/>
              </a:defRPr>
            </a:lvl2pPr>
            <a:lvl3pPr algn="l">
              <a:defRPr sz="1275" b="0">
                <a:solidFill>
                  <a:srgbClr val="787E74"/>
                </a:solidFill>
                <a:latin typeface="DejaVu Sans"/>
                <a:ea typeface="DejaVu Sans"/>
                <a:cs typeface="DejaVu Sans"/>
              </a:defRPr>
            </a:lvl3pPr>
            <a:lvl4pPr algn="l">
              <a:defRPr sz="1275" b="0">
                <a:solidFill>
                  <a:srgbClr val="787E74"/>
                </a:solidFill>
                <a:latin typeface="DejaVu Sans"/>
                <a:ea typeface="DejaVu Sans"/>
                <a:cs typeface="DejaVu Sans"/>
              </a:defRPr>
            </a:lvl4pPr>
            <a:lvl5pPr algn="l">
              <a:defRPr sz="1275" b="0">
                <a:solidFill>
                  <a:srgbClr val="787E74"/>
                </a:solidFill>
                <a:latin typeface="DejaVu Sans"/>
                <a:ea typeface="DejaVu Sans"/>
                <a:cs typeface="DejaVu Sans"/>
              </a:defRPr>
            </a:lvl5pPr>
            <a:lvl6pPr algn="l">
              <a:defRPr sz="1275" b="0">
                <a:solidFill>
                  <a:srgbClr val="787E74"/>
                </a:solidFill>
                <a:latin typeface="DejaVu Sans"/>
                <a:ea typeface="DejaVu Sans"/>
                <a:cs typeface="DejaVu Sans"/>
              </a:defRPr>
            </a:lvl6pPr>
            <a:lvl7pPr algn="l">
              <a:defRPr sz="1275" b="0">
                <a:solidFill>
                  <a:srgbClr val="787E74"/>
                </a:solidFill>
                <a:latin typeface="DejaVu Sans"/>
                <a:ea typeface="DejaVu Sans"/>
                <a:cs typeface="DejaVu Sans"/>
              </a:defRPr>
            </a:lvl7pPr>
            <a:lvl8pPr algn="l">
              <a:defRPr sz="1275" b="0">
                <a:solidFill>
                  <a:srgbClr val="787E74"/>
                </a:solidFill>
                <a:latin typeface="DejaVu Sans"/>
                <a:ea typeface="DejaVu Sans"/>
                <a:cs typeface="DejaVu Sans"/>
              </a:defRPr>
            </a:lvl8pPr>
            <a:lvl9pPr algn="l">
              <a:defRPr sz="1275" b="0">
                <a:solidFill>
                  <a:srgbClr val="787E74"/>
                </a:solidFill>
                <a:latin typeface="DejaVu Sans"/>
                <a:ea typeface="DejaVu Sans"/>
                <a:cs typeface="DejaVu Sans"/>
              </a:defRPr>
            </a:lvl9pPr>
          </a:lstStyle>
          <a:p xmlns:a="http://schemas.openxmlformats.org/drawingml/2006/main">
            <a:pPr algn="l">
              <a:defRPr sz="1275" b="0">
                <a:solidFill>
                  <a:srgbClr val="787E74"/>
                </a:solidFill>
                <a:latin typeface="DejaVu Sans"/>
                <a:ea typeface="DejaVu Sans"/>
                <a:cs typeface="DejaVu Sans"/>
              </a:defRPr>
            </a:pPr>
            <a:r>
              <a:rPr sz="1275" b="0">
                <a:solidFill>
                  <a:srgbClr val="787E74"/>
                </a:solidFill>
                <a:latin typeface="DejaVu Sans"/>
                <a:ea typeface="DejaVu Sans"/>
                <a:cs typeface="DejaVu Sans"/>
              </a:rPr>
              <a:t>PORTALDOT HACKER HOUSE 2026  ·  29 OCTOBER 2026</a:t>
            </a:r>
          </a:p>
        </p:txBody>
      </p:sp>
      <p:sp>
        <p:nvSpPr>
          <p:cNvPr id="9" name="rule-900-280">
            <a:extLst xmlns:a="http://schemas.openxmlformats.org/drawingml/2006/main">
              <a:ext uri="{FF2B5EF4-FFF2-40B4-BE49-F238E27FC236}">
                <a16:creationId xmlns:a16="http://schemas.microsoft.com/office/drawing/2014/main" id="{6B7A1F16-00D5-4C4F-92F0-5DFBB1C50E54}"/>
              </a:ext>
            </a:extLst>
          </p:cNvPr>
          <p:cNvSpPr>
            <a:spLocks xmlns:a="http://schemas.openxmlformats.org/drawingml/2006/main" noGrp="1"/>
          </p:cNvSpPr>
          <p:nvPr/>
        </p:nvSpPr>
        <p:spPr>
          <a:xfrm xmlns:a="http://schemas.openxmlformats.org/drawingml/2006/main">
            <a:off x="8572500" y="2667000"/>
            <a:ext cx="2381250" cy="19050"/>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0" name="cover-node-1">
            <a:extLst xmlns:a="http://schemas.openxmlformats.org/drawingml/2006/main">
              <a:ext uri="{FF2B5EF4-FFF2-40B4-BE49-F238E27FC236}">
                <a16:creationId xmlns:a16="http://schemas.microsoft.com/office/drawing/2014/main" id="{6F3125AD-112D-4561-AE3F-52F7045C8EA6}"/>
              </a:ext>
            </a:extLst>
          </p:cNvPr>
          <p:cNvSpPr>
            <a:spLocks xmlns:a="http://schemas.openxmlformats.org/drawingml/2006/main" noGrp="1"/>
          </p:cNvSpPr>
          <p:nvPr/>
        </p:nvSpPr>
        <p:spPr>
          <a:xfrm xmlns:a="http://schemas.openxmlformats.org/drawingml/2006/main">
            <a:off x="8524875" y="2571750"/>
            <a:ext cx="209550" cy="209550"/>
          </a:xfrm>
          <a:prstGeom xmlns:a="http://schemas.openxmlformats.org/drawingml/2006/main" prst="roundRect">
            <a:avLst>
              <a:gd name="adj" fmla="val 50000"/>
            </a:avLst>
          </a:prstGeom>
          <a:solidFill xmlns:a="http://schemas.openxmlformats.org/drawingml/2006/main">
            <a:srgbClr val="C8FF45"/>
          </a:solidFill>
          <a:ln xmlns:a="http://schemas.openxmlformats.org/drawingml/2006/main" w="0">
            <a:noFill/>
            <a:prstDash val="solid"/>
          </a:ln>
        </p:spPr>
      </p:sp>
      <p:sp>
        <p:nvSpPr>
          <p:cNvPr id="11" name="cover-node-label-1">
            <a:extLst xmlns:a="http://schemas.openxmlformats.org/drawingml/2006/main">
              <a:ext uri="{FF2B5EF4-FFF2-40B4-BE49-F238E27FC236}">
                <a16:creationId xmlns:a16="http://schemas.microsoft.com/office/drawing/2014/main" id="{8D8266A0-21F5-4AF6-9014-8ECBCBF01886}"/>
              </a:ext>
            </a:extLst>
          </p:cNvPr>
          <p:cNvSpPr>
            <a:spLocks xmlns:a="http://schemas.openxmlformats.org/drawingml/2006/main" noGrp="1"/>
          </p:cNvSpPr>
          <p:nvPr/>
        </p:nvSpPr>
        <p:spPr>
          <a:xfrm xmlns:a="http://schemas.openxmlformats.org/drawingml/2006/main">
            <a:off x="8277225" y="3028950"/>
            <a:ext cx="1104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C8FF45"/>
                </a:solidFill>
                <a:latin typeface="DejaVu Sans"/>
                <a:ea typeface="DejaVu Sans"/>
                <a:cs typeface="DejaVu Sans"/>
              </a:defRPr>
            </a:defPPr>
            <a:lvl1pPr algn="ctr">
              <a:defRPr sz="1125" b="1">
                <a:solidFill>
                  <a:srgbClr val="C8FF45"/>
                </a:solidFill>
                <a:latin typeface="DejaVu Sans"/>
                <a:ea typeface="DejaVu Sans"/>
                <a:cs typeface="DejaVu Sans"/>
              </a:defRPr>
            </a:lvl1pPr>
            <a:lvl2pPr algn="ctr">
              <a:defRPr sz="1125" b="1">
                <a:solidFill>
                  <a:srgbClr val="C8FF45"/>
                </a:solidFill>
                <a:latin typeface="DejaVu Sans"/>
                <a:ea typeface="DejaVu Sans"/>
                <a:cs typeface="DejaVu Sans"/>
              </a:defRPr>
            </a:lvl2pPr>
            <a:lvl3pPr algn="ctr">
              <a:defRPr sz="1125" b="1">
                <a:solidFill>
                  <a:srgbClr val="C8FF45"/>
                </a:solidFill>
                <a:latin typeface="DejaVu Sans"/>
                <a:ea typeface="DejaVu Sans"/>
                <a:cs typeface="DejaVu Sans"/>
              </a:defRPr>
            </a:lvl3pPr>
            <a:lvl4pPr algn="ctr">
              <a:defRPr sz="1125" b="1">
                <a:solidFill>
                  <a:srgbClr val="C8FF45"/>
                </a:solidFill>
                <a:latin typeface="DejaVu Sans"/>
                <a:ea typeface="DejaVu Sans"/>
                <a:cs typeface="DejaVu Sans"/>
              </a:defRPr>
            </a:lvl4pPr>
            <a:lvl5pPr algn="ctr">
              <a:defRPr sz="1125" b="1">
                <a:solidFill>
                  <a:srgbClr val="C8FF45"/>
                </a:solidFill>
                <a:latin typeface="DejaVu Sans"/>
                <a:ea typeface="DejaVu Sans"/>
                <a:cs typeface="DejaVu Sans"/>
              </a:defRPr>
            </a:lvl5pPr>
            <a:lvl6pPr algn="ctr">
              <a:defRPr sz="1125" b="1">
                <a:solidFill>
                  <a:srgbClr val="C8FF45"/>
                </a:solidFill>
                <a:latin typeface="DejaVu Sans"/>
                <a:ea typeface="DejaVu Sans"/>
                <a:cs typeface="DejaVu Sans"/>
              </a:defRPr>
            </a:lvl6pPr>
            <a:lvl7pPr algn="ctr">
              <a:defRPr sz="1125" b="1">
                <a:solidFill>
                  <a:srgbClr val="C8FF45"/>
                </a:solidFill>
                <a:latin typeface="DejaVu Sans"/>
                <a:ea typeface="DejaVu Sans"/>
                <a:cs typeface="DejaVu Sans"/>
              </a:defRPr>
            </a:lvl7pPr>
            <a:lvl8pPr algn="ctr">
              <a:defRPr sz="1125" b="1">
                <a:solidFill>
                  <a:srgbClr val="C8FF45"/>
                </a:solidFill>
                <a:latin typeface="DejaVu Sans"/>
                <a:ea typeface="DejaVu Sans"/>
                <a:cs typeface="DejaVu Sans"/>
              </a:defRPr>
            </a:lvl8pPr>
            <a:lvl9pPr algn="ctr">
              <a:defRPr sz="1125" b="1">
                <a:solidFill>
                  <a:srgbClr val="C8FF45"/>
                </a:solidFill>
                <a:latin typeface="DejaVu Sans"/>
                <a:ea typeface="DejaVu Sans"/>
                <a:cs typeface="DejaVu Sans"/>
              </a:defRPr>
            </a:lvl9pPr>
          </a:lstStyle>
          <a:p xmlns:a="http://schemas.openxmlformats.org/drawingml/2006/main">
            <a:pPr algn="ctr">
              <a:defRPr sz="1125" b="1">
                <a:solidFill>
                  <a:srgbClr val="C8FF45"/>
                </a:solidFill>
                <a:latin typeface="DejaVu Sans"/>
                <a:ea typeface="DejaVu Sans"/>
                <a:cs typeface="DejaVu Sans"/>
              </a:defRPr>
            </a:pPr>
            <a:r>
              <a:rPr sz="1125" b="1">
                <a:solidFill>
                  <a:srgbClr val="C8FF45"/>
                </a:solidFill>
                <a:latin typeface="DejaVu Sans"/>
                <a:ea typeface="DejaVu Sans"/>
                <a:cs typeface="DejaVu Sans"/>
              </a:rPr>
              <a:t>BEST</a:t>
            </a:r>
          </a:p>
        </p:txBody>
      </p:sp>
      <p:sp>
        <p:nvSpPr>
          <p:cNvPr id="12" name="cover-node-2">
            <a:extLst xmlns:a="http://schemas.openxmlformats.org/drawingml/2006/main">
              <a:ext uri="{FF2B5EF4-FFF2-40B4-BE49-F238E27FC236}">
                <a16:creationId xmlns:a16="http://schemas.microsoft.com/office/drawing/2014/main" id="{BFE78CB3-C51D-4CED-AC09-7418540355C4}"/>
              </a:ext>
            </a:extLst>
          </p:cNvPr>
          <p:cNvSpPr>
            <a:spLocks xmlns:a="http://schemas.openxmlformats.org/drawingml/2006/main" noGrp="1"/>
          </p:cNvSpPr>
          <p:nvPr/>
        </p:nvSpPr>
        <p:spPr>
          <a:xfrm xmlns:a="http://schemas.openxmlformats.org/drawingml/2006/main">
            <a:off x="9667875" y="2571750"/>
            <a:ext cx="209550" cy="209550"/>
          </a:xfrm>
          <a:prstGeom xmlns:a="http://schemas.openxmlformats.org/drawingml/2006/main" prst="roundRect">
            <a:avLst>
              <a:gd name="adj" fmla="val 50000"/>
            </a:avLst>
          </a:prstGeom>
          <a:solidFill xmlns:a="http://schemas.openxmlformats.org/drawingml/2006/main">
            <a:srgbClr val="A995FF"/>
          </a:solidFill>
          <a:ln xmlns:a="http://schemas.openxmlformats.org/drawingml/2006/main" w="0">
            <a:noFill/>
            <a:prstDash val="solid"/>
          </a:ln>
        </p:spPr>
      </p:sp>
      <p:sp>
        <p:nvSpPr>
          <p:cNvPr id="13" name="cover-node-label-2">
            <a:extLst xmlns:a="http://schemas.openxmlformats.org/drawingml/2006/main">
              <a:ext uri="{FF2B5EF4-FFF2-40B4-BE49-F238E27FC236}">
                <a16:creationId xmlns:a16="http://schemas.microsoft.com/office/drawing/2014/main" id="{F88BB636-1F9C-4F31-BA42-72FDB93F8E52}"/>
              </a:ext>
            </a:extLst>
          </p:cNvPr>
          <p:cNvSpPr>
            <a:spLocks xmlns:a="http://schemas.openxmlformats.org/drawingml/2006/main" noGrp="1"/>
          </p:cNvSpPr>
          <p:nvPr/>
        </p:nvSpPr>
        <p:spPr>
          <a:xfrm xmlns:a="http://schemas.openxmlformats.org/drawingml/2006/main">
            <a:off x="9420225" y="3028950"/>
            <a:ext cx="1104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A995FF"/>
                </a:solidFill>
                <a:latin typeface="DejaVu Sans"/>
                <a:ea typeface="DejaVu Sans"/>
                <a:cs typeface="DejaVu Sans"/>
              </a:defRPr>
            </a:defPPr>
            <a:lvl1pPr algn="ctr">
              <a:defRPr sz="1125" b="1">
                <a:solidFill>
                  <a:srgbClr val="A995FF"/>
                </a:solidFill>
                <a:latin typeface="DejaVu Sans"/>
                <a:ea typeface="DejaVu Sans"/>
                <a:cs typeface="DejaVu Sans"/>
              </a:defRPr>
            </a:lvl1pPr>
            <a:lvl2pPr algn="ctr">
              <a:defRPr sz="1125" b="1">
                <a:solidFill>
                  <a:srgbClr val="A995FF"/>
                </a:solidFill>
                <a:latin typeface="DejaVu Sans"/>
                <a:ea typeface="DejaVu Sans"/>
                <a:cs typeface="DejaVu Sans"/>
              </a:defRPr>
            </a:lvl2pPr>
            <a:lvl3pPr algn="ctr">
              <a:defRPr sz="1125" b="1">
                <a:solidFill>
                  <a:srgbClr val="A995FF"/>
                </a:solidFill>
                <a:latin typeface="DejaVu Sans"/>
                <a:ea typeface="DejaVu Sans"/>
                <a:cs typeface="DejaVu Sans"/>
              </a:defRPr>
            </a:lvl3pPr>
            <a:lvl4pPr algn="ctr">
              <a:defRPr sz="1125" b="1">
                <a:solidFill>
                  <a:srgbClr val="A995FF"/>
                </a:solidFill>
                <a:latin typeface="DejaVu Sans"/>
                <a:ea typeface="DejaVu Sans"/>
                <a:cs typeface="DejaVu Sans"/>
              </a:defRPr>
            </a:lvl4pPr>
            <a:lvl5pPr algn="ctr">
              <a:defRPr sz="1125" b="1">
                <a:solidFill>
                  <a:srgbClr val="A995FF"/>
                </a:solidFill>
                <a:latin typeface="DejaVu Sans"/>
                <a:ea typeface="DejaVu Sans"/>
                <a:cs typeface="DejaVu Sans"/>
              </a:defRPr>
            </a:lvl5pPr>
            <a:lvl6pPr algn="ctr">
              <a:defRPr sz="1125" b="1">
                <a:solidFill>
                  <a:srgbClr val="A995FF"/>
                </a:solidFill>
                <a:latin typeface="DejaVu Sans"/>
                <a:ea typeface="DejaVu Sans"/>
                <a:cs typeface="DejaVu Sans"/>
              </a:defRPr>
            </a:lvl6pPr>
            <a:lvl7pPr algn="ctr">
              <a:defRPr sz="1125" b="1">
                <a:solidFill>
                  <a:srgbClr val="A995FF"/>
                </a:solidFill>
                <a:latin typeface="DejaVu Sans"/>
                <a:ea typeface="DejaVu Sans"/>
                <a:cs typeface="DejaVu Sans"/>
              </a:defRPr>
            </a:lvl7pPr>
            <a:lvl8pPr algn="ctr">
              <a:defRPr sz="1125" b="1">
                <a:solidFill>
                  <a:srgbClr val="A995FF"/>
                </a:solidFill>
                <a:latin typeface="DejaVu Sans"/>
                <a:ea typeface="DejaVu Sans"/>
                <a:cs typeface="DejaVu Sans"/>
              </a:defRPr>
            </a:lvl8pPr>
            <a:lvl9pPr algn="ctr">
              <a:defRPr sz="1125" b="1">
                <a:solidFill>
                  <a:srgbClr val="A995FF"/>
                </a:solidFill>
                <a:latin typeface="DejaVu Sans"/>
                <a:ea typeface="DejaVu Sans"/>
                <a:cs typeface="DejaVu Sans"/>
              </a:defRPr>
            </a:lvl9pPr>
          </a:lstStyle>
          <a:p xmlns:a="http://schemas.openxmlformats.org/drawingml/2006/main">
            <a:pPr algn="ctr">
              <a:defRPr sz="1125" b="1">
                <a:solidFill>
                  <a:srgbClr val="A995FF"/>
                </a:solidFill>
                <a:latin typeface="DejaVu Sans"/>
                <a:ea typeface="DejaVu Sans"/>
                <a:cs typeface="DejaVu Sans"/>
              </a:defRPr>
            </a:pPr>
            <a:r>
              <a:rPr sz="1125" b="1">
                <a:solidFill>
                  <a:srgbClr val="A995FF"/>
                </a:solidFill>
                <a:latin typeface="DejaVu Sans"/>
                <a:ea typeface="DejaVu Sans"/>
                <a:cs typeface="DejaVu Sans"/>
              </a:rPr>
              <a:t>GRANDPA</a:t>
            </a:r>
          </a:p>
        </p:txBody>
      </p:sp>
      <p:sp>
        <p:nvSpPr>
          <p:cNvPr id="14" name="cover-node-3">
            <a:extLst xmlns:a="http://schemas.openxmlformats.org/drawingml/2006/main">
              <a:ext uri="{FF2B5EF4-FFF2-40B4-BE49-F238E27FC236}">
                <a16:creationId xmlns:a16="http://schemas.microsoft.com/office/drawing/2014/main" id="{2AC4EBA2-A2B2-4043-871E-A0DB7203B529}"/>
              </a:ext>
            </a:extLst>
          </p:cNvPr>
          <p:cNvSpPr>
            <a:spLocks xmlns:a="http://schemas.openxmlformats.org/drawingml/2006/main" noGrp="1"/>
          </p:cNvSpPr>
          <p:nvPr/>
        </p:nvSpPr>
        <p:spPr>
          <a:xfrm xmlns:a="http://schemas.openxmlformats.org/drawingml/2006/main">
            <a:off x="10810875" y="2571750"/>
            <a:ext cx="209550" cy="209550"/>
          </a:xfrm>
          <a:prstGeom xmlns:a="http://schemas.openxmlformats.org/drawingml/2006/main" prst="roundRect">
            <a:avLst>
              <a:gd name="adj" fmla="val 50000"/>
            </a:avLst>
          </a:prstGeom>
          <a:solidFill xmlns:a="http://schemas.openxmlformats.org/drawingml/2006/main">
            <a:srgbClr val="73DCE1"/>
          </a:solidFill>
          <a:ln xmlns:a="http://schemas.openxmlformats.org/drawingml/2006/main" w="0">
            <a:noFill/>
            <a:prstDash val="solid"/>
          </a:ln>
        </p:spPr>
      </p:sp>
      <p:sp>
        <p:nvSpPr>
          <p:cNvPr id="15" name="cover-node-label-3">
            <a:extLst xmlns:a="http://schemas.openxmlformats.org/drawingml/2006/main">
              <a:ext uri="{FF2B5EF4-FFF2-40B4-BE49-F238E27FC236}">
                <a16:creationId xmlns:a16="http://schemas.microsoft.com/office/drawing/2014/main" id="{30355083-98B4-4060-9030-EB8B7CBFE635}"/>
              </a:ext>
            </a:extLst>
          </p:cNvPr>
          <p:cNvSpPr>
            <a:spLocks xmlns:a="http://schemas.openxmlformats.org/drawingml/2006/main" noGrp="1"/>
          </p:cNvSpPr>
          <p:nvPr/>
        </p:nvSpPr>
        <p:spPr>
          <a:xfrm xmlns:a="http://schemas.openxmlformats.org/drawingml/2006/main">
            <a:off x="10563225" y="3028950"/>
            <a:ext cx="1104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73DCE1"/>
                </a:solidFill>
                <a:latin typeface="DejaVu Sans"/>
                <a:ea typeface="DejaVu Sans"/>
                <a:cs typeface="DejaVu Sans"/>
              </a:defRPr>
            </a:defPPr>
            <a:lvl1pPr algn="ctr">
              <a:defRPr sz="1125" b="1">
                <a:solidFill>
                  <a:srgbClr val="73DCE1"/>
                </a:solidFill>
                <a:latin typeface="DejaVu Sans"/>
                <a:ea typeface="DejaVu Sans"/>
                <a:cs typeface="DejaVu Sans"/>
              </a:defRPr>
            </a:lvl1pPr>
            <a:lvl2pPr algn="ctr">
              <a:defRPr sz="1125" b="1">
                <a:solidFill>
                  <a:srgbClr val="73DCE1"/>
                </a:solidFill>
                <a:latin typeface="DejaVu Sans"/>
                <a:ea typeface="DejaVu Sans"/>
                <a:cs typeface="DejaVu Sans"/>
              </a:defRPr>
            </a:lvl2pPr>
            <a:lvl3pPr algn="ctr">
              <a:defRPr sz="1125" b="1">
                <a:solidFill>
                  <a:srgbClr val="73DCE1"/>
                </a:solidFill>
                <a:latin typeface="DejaVu Sans"/>
                <a:ea typeface="DejaVu Sans"/>
                <a:cs typeface="DejaVu Sans"/>
              </a:defRPr>
            </a:lvl3pPr>
            <a:lvl4pPr algn="ctr">
              <a:defRPr sz="1125" b="1">
                <a:solidFill>
                  <a:srgbClr val="73DCE1"/>
                </a:solidFill>
                <a:latin typeface="DejaVu Sans"/>
                <a:ea typeface="DejaVu Sans"/>
                <a:cs typeface="DejaVu Sans"/>
              </a:defRPr>
            </a:lvl4pPr>
            <a:lvl5pPr algn="ctr">
              <a:defRPr sz="1125" b="1">
                <a:solidFill>
                  <a:srgbClr val="73DCE1"/>
                </a:solidFill>
                <a:latin typeface="DejaVu Sans"/>
                <a:ea typeface="DejaVu Sans"/>
                <a:cs typeface="DejaVu Sans"/>
              </a:defRPr>
            </a:lvl5pPr>
            <a:lvl6pPr algn="ctr">
              <a:defRPr sz="1125" b="1">
                <a:solidFill>
                  <a:srgbClr val="73DCE1"/>
                </a:solidFill>
                <a:latin typeface="DejaVu Sans"/>
                <a:ea typeface="DejaVu Sans"/>
                <a:cs typeface="DejaVu Sans"/>
              </a:defRPr>
            </a:lvl6pPr>
            <a:lvl7pPr algn="ctr">
              <a:defRPr sz="1125" b="1">
                <a:solidFill>
                  <a:srgbClr val="73DCE1"/>
                </a:solidFill>
                <a:latin typeface="DejaVu Sans"/>
                <a:ea typeface="DejaVu Sans"/>
                <a:cs typeface="DejaVu Sans"/>
              </a:defRPr>
            </a:lvl7pPr>
            <a:lvl8pPr algn="ctr">
              <a:defRPr sz="1125" b="1">
                <a:solidFill>
                  <a:srgbClr val="73DCE1"/>
                </a:solidFill>
                <a:latin typeface="DejaVu Sans"/>
                <a:ea typeface="DejaVu Sans"/>
                <a:cs typeface="DejaVu Sans"/>
              </a:defRPr>
            </a:lvl8pPr>
            <a:lvl9pPr algn="ctr">
              <a:defRPr sz="1125" b="1">
                <a:solidFill>
                  <a:srgbClr val="73DCE1"/>
                </a:solidFill>
                <a:latin typeface="DejaVu Sans"/>
                <a:ea typeface="DejaVu Sans"/>
                <a:cs typeface="DejaVu Sans"/>
              </a:defRPr>
            </a:lvl9pPr>
          </a:lstStyle>
          <a:p xmlns:a="http://schemas.openxmlformats.org/drawingml/2006/main">
            <a:pPr algn="ctr">
              <a:defRPr sz="1125" b="1">
                <a:solidFill>
                  <a:srgbClr val="73DCE1"/>
                </a:solidFill>
                <a:latin typeface="DejaVu Sans"/>
                <a:ea typeface="DejaVu Sans"/>
                <a:cs typeface="DejaVu Sans"/>
              </a:defRPr>
            </a:pPr>
            <a:r>
              <a:rPr sz="1125" b="1">
                <a:solidFill>
                  <a:srgbClr val="73DCE1"/>
                </a:solidFill>
                <a:latin typeface="DejaVu Sans"/>
                <a:ea typeface="DejaVu Sans"/>
                <a:cs typeface="DejaVu Sans"/>
              </a:rPr>
              <a:t>BEEFY</a:t>
            </a:r>
          </a:p>
        </p:txBody>
      </p:sp>
      <p:sp>
        <p:nvSpPr>
          <p:cNvPr id="16" name="cover-pipeline">
            <a:extLst xmlns:a="http://schemas.openxmlformats.org/drawingml/2006/main">
              <a:ext uri="{FF2B5EF4-FFF2-40B4-BE49-F238E27FC236}">
                <a16:creationId xmlns:a16="http://schemas.microsoft.com/office/drawing/2014/main" id="{EB733900-0468-4241-A35D-AA50DE672167}"/>
              </a:ext>
            </a:extLst>
          </p:cNvPr>
          <p:cNvSpPr>
            <a:spLocks xmlns:a="http://schemas.openxmlformats.org/drawingml/2006/main" noGrp="1"/>
          </p:cNvSpPr>
          <p:nvPr/>
        </p:nvSpPr>
        <p:spPr>
          <a:xfrm xmlns:a="http://schemas.openxmlformats.org/drawingml/2006/main">
            <a:off x="8048625" y="363855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A3A89D"/>
                </a:solidFill>
                <a:latin typeface="DejaVu Sans"/>
                <a:ea typeface="DejaVu Sans"/>
                <a:cs typeface="DejaVu Sans"/>
              </a:defRPr>
            </a:defPPr>
            <a:lvl1pPr algn="ctr">
              <a:defRPr sz="1275" b="1">
                <a:solidFill>
                  <a:srgbClr val="A3A89D"/>
                </a:solidFill>
                <a:latin typeface="DejaVu Sans"/>
                <a:ea typeface="DejaVu Sans"/>
                <a:cs typeface="DejaVu Sans"/>
              </a:defRPr>
            </a:lvl1pPr>
            <a:lvl2pPr algn="ctr">
              <a:defRPr sz="1275" b="1">
                <a:solidFill>
                  <a:srgbClr val="A3A89D"/>
                </a:solidFill>
                <a:latin typeface="DejaVu Sans"/>
                <a:ea typeface="DejaVu Sans"/>
                <a:cs typeface="DejaVu Sans"/>
              </a:defRPr>
            </a:lvl2pPr>
            <a:lvl3pPr algn="ctr">
              <a:defRPr sz="1275" b="1">
                <a:solidFill>
                  <a:srgbClr val="A3A89D"/>
                </a:solidFill>
                <a:latin typeface="DejaVu Sans"/>
                <a:ea typeface="DejaVu Sans"/>
                <a:cs typeface="DejaVu Sans"/>
              </a:defRPr>
            </a:lvl3pPr>
            <a:lvl4pPr algn="ctr">
              <a:defRPr sz="1275" b="1">
                <a:solidFill>
                  <a:srgbClr val="A3A89D"/>
                </a:solidFill>
                <a:latin typeface="DejaVu Sans"/>
                <a:ea typeface="DejaVu Sans"/>
                <a:cs typeface="DejaVu Sans"/>
              </a:defRPr>
            </a:lvl4pPr>
            <a:lvl5pPr algn="ctr">
              <a:defRPr sz="1275" b="1">
                <a:solidFill>
                  <a:srgbClr val="A3A89D"/>
                </a:solidFill>
                <a:latin typeface="DejaVu Sans"/>
                <a:ea typeface="DejaVu Sans"/>
                <a:cs typeface="DejaVu Sans"/>
              </a:defRPr>
            </a:lvl5pPr>
            <a:lvl6pPr algn="ctr">
              <a:defRPr sz="1275" b="1">
                <a:solidFill>
                  <a:srgbClr val="A3A89D"/>
                </a:solidFill>
                <a:latin typeface="DejaVu Sans"/>
                <a:ea typeface="DejaVu Sans"/>
                <a:cs typeface="DejaVu Sans"/>
              </a:defRPr>
            </a:lvl6pPr>
            <a:lvl7pPr algn="ctr">
              <a:defRPr sz="1275" b="1">
                <a:solidFill>
                  <a:srgbClr val="A3A89D"/>
                </a:solidFill>
                <a:latin typeface="DejaVu Sans"/>
                <a:ea typeface="DejaVu Sans"/>
                <a:cs typeface="DejaVu Sans"/>
              </a:defRPr>
            </a:lvl7pPr>
            <a:lvl8pPr algn="ctr">
              <a:defRPr sz="1275" b="1">
                <a:solidFill>
                  <a:srgbClr val="A3A89D"/>
                </a:solidFill>
                <a:latin typeface="DejaVu Sans"/>
                <a:ea typeface="DejaVu Sans"/>
                <a:cs typeface="DejaVu Sans"/>
              </a:defRPr>
            </a:lvl8pPr>
            <a:lvl9pPr algn="ctr">
              <a:defRPr sz="1275" b="1">
                <a:solidFill>
                  <a:srgbClr val="A3A89D"/>
                </a:solidFill>
                <a:latin typeface="DejaVu Sans"/>
                <a:ea typeface="DejaVu Sans"/>
                <a:cs typeface="DejaVu Sans"/>
              </a:defRPr>
            </a:lvl9pPr>
          </a:lstStyle>
          <a:p xmlns:a="http://schemas.openxmlformats.org/drawingml/2006/main">
            <a:pPr algn="ctr">
              <a:defRPr sz="1275" b="1">
                <a:solidFill>
                  <a:srgbClr val="A3A89D"/>
                </a:solidFill>
                <a:latin typeface="DejaVu Sans"/>
                <a:ea typeface="DejaVu Sans"/>
                <a:cs typeface="DejaVu Sans"/>
              </a:defRPr>
            </a:pPr>
            <a:r>
              <a:rPr sz="1275" b="1">
                <a:solidFill>
                  <a:srgbClr val="A3A89D"/>
                </a:solidFill>
                <a:latin typeface="DejaVu Sans"/>
                <a:ea typeface="DejaVu Sans"/>
                <a:cs typeface="DejaVu Sans"/>
              </a:rPr>
              <a:t>PRODUCTION  →  FINALITY  →  CHECKPOINT</a:t>
            </a:r>
          </a:p>
        </p:txBody>
      </p:sp>
      <p:sp>
        <p:nvSpPr>
          <p:cNvPr id="17" name="cover-boundary">
            <a:extLst xmlns:a="http://schemas.openxmlformats.org/drawingml/2006/main">
              <a:ext uri="{FF2B5EF4-FFF2-40B4-BE49-F238E27FC236}">
                <a16:creationId xmlns:a16="http://schemas.microsoft.com/office/drawing/2014/main" id="{6D49FE81-82B4-4593-8624-3B870E4B7403}"/>
              </a:ext>
            </a:extLst>
          </p:cNvPr>
          <p:cNvSpPr>
            <a:spLocks xmlns:a="http://schemas.openxmlformats.org/drawingml/2006/main" noGrp="1"/>
          </p:cNvSpPr>
          <p:nvPr/>
        </p:nvSpPr>
        <p:spPr>
          <a:xfrm xmlns:a="http://schemas.openxmlformats.org/drawingml/2006/main">
            <a:off x="8048625" y="4276725"/>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0">
                <a:solidFill>
                  <a:srgbClr val="787E74"/>
                </a:solidFill>
                <a:latin typeface="DejaVu Sans"/>
                <a:ea typeface="DejaVu Sans"/>
                <a:cs typeface="DejaVu Sans"/>
              </a:defRPr>
            </a:defPPr>
            <a:lvl1pPr algn="ctr">
              <a:defRPr sz="1425" b="0">
                <a:solidFill>
                  <a:srgbClr val="787E74"/>
                </a:solidFill>
                <a:latin typeface="DejaVu Sans"/>
                <a:ea typeface="DejaVu Sans"/>
                <a:cs typeface="DejaVu Sans"/>
              </a:defRPr>
            </a:lvl1pPr>
            <a:lvl2pPr algn="ctr">
              <a:defRPr sz="1425" b="0">
                <a:solidFill>
                  <a:srgbClr val="787E74"/>
                </a:solidFill>
                <a:latin typeface="DejaVu Sans"/>
                <a:ea typeface="DejaVu Sans"/>
                <a:cs typeface="DejaVu Sans"/>
              </a:defRPr>
            </a:lvl2pPr>
            <a:lvl3pPr algn="ctr">
              <a:defRPr sz="1425" b="0">
                <a:solidFill>
                  <a:srgbClr val="787E74"/>
                </a:solidFill>
                <a:latin typeface="DejaVu Sans"/>
                <a:ea typeface="DejaVu Sans"/>
                <a:cs typeface="DejaVu Sans"/>
              </a:defRPr>
            </a:lvl3pPr>
            <a:lvl4pPr algn="ctr">
              <a:defRPr sz="1425" b="0">
                <a:solidFill>
                  <a:srgbClr val="787E74"/>
                </a:solidFill>
                <a:latin typeface="DejaVu Sans"/>
                <a:ea typeface="DejaVu Sans"/>
                <a:cs typeface="DejaVu Sans"/>
              </a:defRPr>
            </a:lvl4pPr>
            <a:lvl5pPr algn="ctr">
              <a:defRPr sz="1425" b="0">
                <a:solidFill>
                  <a:srgbClr val="787E74"/>
                </a:solidFill>
                <a:latin typeface="DejaVu Sans"/>
                <a:ea typeface="DejaVu Sans"/>
                <a:cs typeface="DejaVu Sans"/>
              </a:defRPr>
            </a:lvl5pPr>
            <a:lvl6pPr algn="ctr">
              <a:defRPr sz="1425" b="0">
                <a:solidFill>
                  <a:srgbClr val="787E74"/>
                </a:solidFill>
                <a:latin typeface="DejaVu Sans"/>
                <a:ea typeface="DejaVu Sans"/>
                <a:cs typeface="DejaVu Sans"/>
              </a:defRPr>
            </a:lvl6pPr>
            <a:lvl7pPr algn="ctr">
              <a:defRPr sz="1425" b="0">
                <a:solidFill>
                  <a:srgbClr val="787E74"/>
                </a:solidFill>
                <a:latin typeface="DejaVu Sans"/>
                <a:ea typeface="DejaVu Sans"/>
                <a:cs typeface="DejaVu Sans"/>
              </a:defRPr>
            </a:lvl7pPr>
            <a:lvl8pPr algn="ctr">
              <a:defRPr sz="1425" b="0">
                <a:solidFill>
                  <a:srgbClr val="787E74"/>
                </a:solidFill>
                <a:latin typeface="DejaVu Sans"/>
                <a:ea typeface="DejaVu Sans"/>
                <a:cs typeface="DejaVu Sans"/>
              </a:defRPr>
            </a:lvl8pPr>
            <a:lvl9pPr algn="ctr">
              <a:defRPr sz="1425" b="0">
                <a:solidFill>
                  <a:srgbClr val="787E74"/>
                </a:solidFill>
                <a:latin typeface="DejaVu Sans"/>
                <a:ea typeface="DejaVu Sans"/>
                <a:cs typeface="DejaVu Sans"/>
              </a:defRPr>
            </a:lvl9pPr>
          </a:lstStyle>
          <a:p xmlns:a="http://schemas.openxmlformats.org/drawingml/2006/main">
            <a:pPr algn="ctr">
              <a:defRPr sz="1425" b="0">
                <a:solidFill>
                  <a:srgbClr val="787E74"/>
                </a:solidFill>
                <a:latin typeface="DejaVu Sans"/>
                <a:ea typeface="DejaVu Sans"/>
                <a:cs typeface="DejaVu Sans"/>
              </a:defRPr>
            </a:pPr>
            <a:r>
              <a:rPr sz="1425" b="0">
                <a:solidFill>
                  <a:srgbClr val="787E74"/>
                </a:solidFill>
                <a:latin typeface="DejaVu Sans"/>
                <a:ea typeface="DejaVu Sans"/>
                <a:cs typeface="DejaVu Sans"/>
              </a:rPr>
              <a:t>Monitoring and report evidence for operators</a:t>
            </a:r>
          </a:p>
        </p:txBody>
      </p:sp>
      <p:sp>
        <p:nvSpPr>
          <p:cNvPr id="18" name="rule-70-674">
            <a:extLst xmlns:a="http://schemas.openxmlformats.org/drawingml/2006/main">
              <a:ext uri="{FF2B5EF4-FFF2-40B4-BE49-F238E27FC236}">
                <a16:creationId xmlns:a16="http://schemas.microsoft.com/office/drawing/2014/main" id="{96028132-78BB-4D4B-B364-5401B0102F52}"/>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9" name="footer-1">
            <a:extLst xmlns:a="http://schemas.openxmlformats.org/drawingml/2006/main">
              <a:ext uri="{FF2B5EF4-FFF2-40B4-BE49-F238E27FC236}">
                <a16:creationId xmlns:a16="http://schemas.microsoft.com/office/drawing/2014/main" id="{AAD3F31F-9C16-4200-BA49-9F4643F88BBE}"/>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20" name="page-1">
            <a:extLst xmlns:a="http://schemas.openxmlformats.org/drawingml/2006/main">
              <a:ext uri="{FF2B5EF4-FFF2-40B4-BE49-F238E27FC236}">
                <a16:creationId xmlns:a16="http://schemas.microsoft.com/office/drawing/2014/main" id="{D285E277-A4C6-45BC-8627-2B79C51FBD7B}"/>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01  /  06</a:t>
            </a:r>
          </a:p>
        </p:txBody>
      </p:sp>
    </p:spTree>
    <p:extLst>
      <p:ext uri="{BB962C8B-B14F-4D97-AF65-F5344CB8AC3E}">
        <p14:creationId xmlns:p14="http://schemas.microsoft.com/office/powerpoint/2010/main" val="848254708"/>
      </p:ext>
    </p:extLst>
  </p:cSld>
</p:sld>
</file>

<file path=ppt/slides/slide2.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sp>
        <p:nvSpPr>
          <p:cNvPr id="26" name="eyebrow-2">
            <a:extLst xmlns:a="http://schemas.openxmlformats.org/drawingml/2006/main">
              <a:ext uri="{FF2B5EF4-FFF2-40B4-BE49-F238E27FC236}">
                <a16:creationId xmlns:a16="http://schemas.microsoft.com/office/drawing/2014/main" id="{2E3DC882-5538-4184-8AD8-4E6AFAF84C89}"/>
              </a:ext>
            </a:extLst>
          </p:cNvPr>
          <p:cNvSpPr>
            <a:spLocks xmlns:a="http://schemas.openxmlformats.org/drawingml/2006/main" noGrp="1"/>
          </p:cNvSpPr>
          <p:nvPr/>
        </p:nvSpPr>
        <p:spPr>
          <a:xfrm xmlns:a="http://schemas.openxmlformats.org/drawingml/2006/main">
            <a:off x="6667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RIFT  /  PORTALDOT V3</a:t>
            </a:r>
          </a:p>
        </p:txBody>
      </p:sp>
      <p:sp>
        <p:nvSpPr>
          <p:cNvPr id="2" name="title-2">
            <a:extLst xmlns:a="http://schemas.openxmlformats.org/drawingml/2006/main">
              <a:ext uri="{FF2B5EF4-FFF2-40B4-BE49-F238E27FC236}">
                <a16:creationId xmlns:a16="http://schemas.microsoft.com/office/drawing/2014/main" id="{12578078-8B5F-44B9-9FC0-7AFE94DC7AB2}"/>
              </a:ext>
            </a:extLst>
          </p:cNvPr>
          <p:cNvSpPr>
            <a:spLocks xmlns:a="http://schemas.openxmlformats.org/drawingml/2006/main" noGrp="1"/>
          </p:cNvSpPr>
          <p:nvPr/>
        </p:nvSpPr>
        <p:spPr>
          <a:xfrm xmlns:a="http://schemas.openxmlformats.org/drawingml/2006/main">
            <a:off x="666750" y="6381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The finality pipeline</a:t>
            </a:r>
          </a:p>
        </p:txBody>
      </p:sp>
      <p:sp>
        <p:nvSpPr>
          <p:cNvPr id="3" name="subtitle-2">
            <a:extLst xmlns:a="http://schemas.openxmlformats.org/drawingml/2006/main">
              <a:ext uri="{FF2B5EF4-FFF2-40B4-BE49-F238E27FC236}">
                <a16:creationId xmlns:a16="http://schemas.microsoft.com/office/drawing/2014/main" id="{FEBADD8D-9C94-48F4-A731-89DF05EDC8B5}"/>
              </a:ext>
            </a:extLst>
          </p:cNvPr>
          <p:cNvSpPr>
            <a:spLocks xmlns:a="http://schemas.openxmlformats.org/drawingml/2006/main" noGrp="1"/>
          </p:cNvSpPr>
          <p:nvPr/>
        </p:nvSpPr>
        <p:spPr>
          <a:xfrm xmlns:a="http://schemas.openxmlformats.org/drawingml/2006/main">
            <a:off x="666750" y="121920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3A89D"/>
                </a:solidFill>
                <a:latin typeface="DejaVu Sans"/>
                <a:ea typeface="DejaVu Sans"/>
                <a:cs typeface="DejaVu Sans"/>
              </a:defRPr>
            </a:defPPr>
            <a:lvl1pPr algn="l">
              <a:defRPr sz="1650" b="0">
                <a:solidFill>
                  <a:srgbClr val="A3A89D"/>
                </a:solidFill>
                <a:latin typeface="DejaVu Sans"/>
                <a:ea typeface="DejaVu Sans"/>
                <a:cs typeface="DejaVu Sans"/>
              </a:defRPr>
            </a:lvl1pPr>
            <a:lvl2pPr algn="l">
              <a:defRPr sz="1650" b="0">
                <a:solidFill>
                  <a:srgbClr val="A3A89D"/>
                </a:solidFill>
                <a:latin typeface="DejaVu Sans"/>
                <a:ea typeface="DejaVu Sans"/>
                <a:cs typeface="DejaVu Sans"/>
              </a:defRPr>
            </a:lvl2pPr>
            <a:lvl3pPr algn="l">
              <a:defRPr sz="1650" b="0">
                <a:solidFill>
                  <a:srgbClr val="A3A89D"/>
                </a:solidFill>
                <a:latin typeface="DejaVu Sans"/>
                <a:ea typeface="DejaVu Sans"/>
                <a:cs typeface="DejaVu Sans"/>
              </a:defRPr>
            </a:lvl3pPr>
            <a:lvl4pPr algn="l">
              <a:defRPr sz="1650" b="0">
                <a:solidFill>
                  <a:srgbClr val="A3A89D"/>
                </a:solidFill>
                <a:latin typeface="DejaVu Sans"/>
                <a:ea typeface="DejaVu Sans"/>
                <a:cs typeface="DejaVu Sans"/>
              </a:defRPr>
            </a:lvl4pPr>
            <a:lvl5pPr algn="l">
              <a:defRPr sz="1650" b="0">
                <a:solidFill>
                  <a:srgbClr val="A3A89D"/>
                </a:solidFill>
                <a:latin typeface="DejaVu Sans"/>
                <a:ea typeface="DejaVu Sans"/>
                <a:cs typeface="DejaVu Sans"/>
              </a:defRPr>
            </a:lvl5pPr>
            <a:lvl6pPr algn="l">
              <a:defRPr sz="1650" b="0">
                <a:solidFill>
                  <a:srgbClr val="A3A89D"/>
                </a:solidFill>
                <a:latin typeface="DejaVu Sans"/>
                <a:ea typeface="DejaVu Sans"/>
                <a:cs typeface="DejaVu Sans"/>
              </a:defRPr>
            </a:lvl6pPr>
            <a:lvl7pPr algn="l">
              <a:defRPr sz="1650" b="0">
                <a:solidFill>
                  <a:srgbClr val="A3A89D"/>
                </a:solidFill>
                <a:latin typeface="DejaVu Sans"/>
                <a:ea typeface="DejaVu Sans"/>
                <a:cs typeface="DejaVu Sans"/>
              </a:defRPr>
            </a:lvl7pPr>
            <a:lvl8pPr algn="l">
              <a:defRPr sz="1650" b="0">
                <a:solidFill>
                  <a:srgbClr val="A3A89D"/>
                </a:solidFill>
                <a:latin typeface="DejaVu Sans"/>
                <a:ea typeface="DejaVu Sans"/>
                <a:cs typeface="DejaVu Sans"/>
              </a:defRPr>
            </a:lvl8pPr>
            <a:lvl9pPr algn="l">
              <a:defRPr sz="1650" b="0">
                <a:solidFill>
                  <a:srgbClr val="A3A89D"/>
                </a:solidFill>
                <a:latin typeface="DejaVu Sans"/>
                <a:ea typeface="DejaVu Sans"/>
                <a:cs typeface="DejaVu Sans"/>
              </a:defRPr>
            </a:lvl9pPr>
          </a:lstStyle>
          <a:p xmlns:a="http://schemas.openxmlformats.org/drawingml/2006/main">
            <a:pPr algn="l">
              <a:defRPr sz="1650" b="0">
                <a:solidFill>
                  <a:srgbClr val="A3A89D"/>
                </a:solidFill>
                <a:latin typeface="DejaVu Sans"/>
                <a:ea typeface="DejaVu Sans"/>
                <a:cs typeface="DejaVu Sans"/>
              </a:defRPr>
            </a:pPr>
            <a:r>
              <a:rPr sz="1650" b="0">
                <a:solidFill>
                  <a:srgbClr val="A3A89D"/>
                </a:solidFill>
                <a:latin typeface="DejaVu Sans"/>
                <a:ea typeface="DejaVu Sans"/>
                <a:cs typeface="DejaVu Sans"/>
              </a:rPr>
              <a:t>One latest-block number does not show which stage is waiting.</a:t>
            </a:r>
          </a:p>
        </p:txBody>
      </p:sp>
      <p:sp>
        <p:nvSpPr>
          <p:cNvPr id="4" name="rule-70-177">
            <a:extLst xmlns:a="http://schemas.openxmlformats.org/drawingml/2006/main">
              <a:ext uri="{FF2B5EF4-FFF2-40B4-BE49-F238E27FC236}">
                <a16:creationId xmlns:a16="http://schemas.microsoft.com/office/drawing/2014/main" id="{06F321ED-C533-4663-8005-C9B9CC9C538B}"/>
              </a:ext>
            </a:extLst>
          </p:cNvPr>
          <p:cNvSpPr>
            <a:spLocks xmlns:a="http://schemas.openxmlformats.org/drawingml/2006/main" noGrp="1"/>
          </p:cNvSpPr>
          <p:nvPr/>
        </p:nvSpPr>
        <p:spPr>
          <a:xfrm xmlns:a="http://schemas.openxmlformats.org/drawingml/2006/main">
            <a:off x="666750" y="1685925"/>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5" name="rule-70-674">
            <a:extLst xmlns:a="http://schemas.openxmlformats.org/drawingml/2006/main">
              <a:ext uri="{FF2B5EF4-FFF2-40B4-BE49-F238E27FC236}">
                <a16:creationId xmlns:a16="http://schemas.microsoft.com/office/drawing/2014/main" id="{B934341E-BA7A-4476-91DB-70BF1454F3CC}"/>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6" name="footer-2">
            <a:extLst xmlns:a="http://schemas.openxmlformats.org/drawingml/2006/main">
              <a:ext uri="{FF2B5EF4-FFF2-40B4-BE49-F238E27FC236}">
                <a16:creationId xmlns:a16="http://schemas.microsoft.com/office/drawing/2014/main" id="{1FDA805E-145E-4201-871B-ACE8D3028EDB}"/>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7" name="page-2">
            <a:extLst xmlns:a="http://schemas.openxmlformats.org/drawingml/2006/main">
              <a:ext uri="{FF2B5EF4-FFF2-40B4-BE49-F238E27FC236}">
                <a16:creationId xmlns:a16="http://schemas.microsoft.com/office/drawing/2014/main" id="{B48998B9-4402-4771-8079-BF5FCA54474C}"/>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02  /  06</a:t>
            </a:r>
          </a:p>
        </p:txBody>
      </p:sp>
      <p:sp>
        <p:nvSpPr>
          <p:cNvPr id="8" name="rule-230-270">
            <a:extLst xmlns:a="http://schemas.openxmlformats.org/drawingml/2006/main">
              <a:ext uri="{FF2B5EF4-FFF2-40B4-BE49-F238E27FC236}">
                <a16:creationId xmlns:a16="http://schemas.microsoft.com/office/drawing/2014/main" id="{6B25958F-46E0-409C-9193-69376617941A}"/>
              </a:ext>
            </a:extLst>
          </p:cNvPr>
          <p:cNvSpPr>
            <a:spLocks xmlns:a="http://schemas.openxmlformats.org/drawingml/2006/main" noGrp="1"/>
          </p:cNvSpPr>
          <p:nvPr/>
        </p:nvSpPr>
        <p:spPr>
          <a:xfrm xmlns:a="http://schemas.openxmlformats.org/drawingml/2006/main">
            <a:off x="2190750" y="2571750"/>
            <a:ext cx="7810500" cy="19050"/>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9" name="stage-num-0">
            <a:extLst xmlns:a="http://schemas.openxmlformats.org/drawingml/2006/main">
              <a:ext uri="{FF2B5EF4-FFF2-40B4-BE49-F238E27FC236}">
                <a16:creationId xmlns:a16="http://schemas.microsoft.com/office/drawing/2014/main" id="{655737F8-64C8-4590-BDBE-86DB02289359}"/>
              </a:ext>
            </a:extLst>
          </p:cNvPr>
          <p:cNvSpPr>
            <a:spLocks xmlns:a="http://schemas.openxmlformats.org/drawingml/2006/main" noGrp="1"/>
          </p:cNvSpPr>
          <p:nvPr/>
        </p:nvSpPr>
        <p:spPr>
          <a:xfrm xmlns:a="http://schemas.openxmlformats.org/drawingml/2006/main">
            <a:off x="1762125" y="20478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C8FF45"/>
                </a:solidFill>
                <a:latin typeface="DejaVu Sans"/>
                <a:ea typeface="DejaVu Sans"/>
                <a:cs typeface="DejaVu Sans"/>
              </a:defRPr>
            </a:defPPr>
            <a:lvl1pPr algn="ctr">
              <a:defRPr sz="1200" b="1">
                <a:solidFill>
                  <a:srgbClr val="C8FF45"/>
                </a:solidFill>
                <a:latin typeface="DejaVu Sans"/>
                <a:ea typeface="DejaVu Sans"/>
                <a:cs typeface="DejaVu Sans"/>
              </a:defRPr>
            </a:lvl1pPr>
            <a:lvl2pPr algn="ctr">
              <a:defRPr sz="1200" b="1">
                <a:solidFill>
                  <a:srgbClr val="C8FF45"/>
                </a:solidFill>
                <a:latin typeface="DejaVu Sans"/>
                <a:ea typeface="DejaVu Sans"/>
                <a:cs typeface="DejaVu Sans"/>
              </a:defRPr>
            </a:lvl2pPr>
            <a:lvl3pPr algn="ctr">
              <a:defRPr sz="1200" b="1">
                <a:solidFill>
                  <a:srgbClr val="C8FF45"/>
                </a:solidFill>
                <a:latin typeface="DejaVu Sans"/>
                <a:ea typeface="DejaVu Sans"/>
                <a:cs typeface="DejaVu Sans"/>
              </a:defRPr>
            </a:lvl3pPr>
            <a:lvl4pPr algn="ctr">
              <a:defRPr sz="1200" b="1">
                <a:solidFill>
                  <a:srgbClr val="C8FF45"/>
                </a:solidFill>
                <a:latin typeface="DejaVu Sans"/>
                <a:ea typeface="DejaVu Sans"/>
                <a:cs typeface="DejaVu Sans"/>
              </a:defRPr>
            </a:lvl4pPr>
            <a:lvl5pPr algn="ctr">
              <a:defRPr sz="1200" b="1">
                <a:solidFill>
                  <a:srgbClr val="C8FF45"/>
                </a:solidFill>
                <a:latin typeface="DejaVu Sans"/>
                <a:ea typeface="DejaVu Sans"/>
                <a:cs typeface="DejaVu Sans"/>
              </a:defRPr>
            </a:lvl5pPr>
            <a:lvl6pPr algn="ctr">
              <a:defRPr sz="1200" b="1">
                <a:solidFill>
                  <a:srgbClr val="C8FF45"/>
                </a:solidFill>
                <a:latin typeface="DejaVu Sans"/>
                <a:ea typeface="DejaVu Sans"/>
                <a:cs typeface="DejaVu Sans"/>
              </a:defRPr>
            </a:lvl6pPr>
            <a:lvl7pPr algn="ctr">
              <a:defRPr sz="1200" b="1">
                <a:solidFill>
                  <a:srgbClr val="C8FF45"/>
                </a:solidFill>
                <a:latin typeface="DejaVu Sans"/>
                <a:ea typeface="DejaVu Sans"/>
                <a:cs typeface="DejaVu Sans"/>
              </a:defRPr>
            </a:lvl7pPr>
            <a:lvl8pPr algn="ctr">
              <a:defRPr sz="1200" b="1">
                <a:solidFill>
                  <a:srgbClr val="C8FF45"/>
                </a:solidFill>
                <a:latin typeface="DejaVu Sans"/>
                <a:ea typeface="DejaVu Sans"/>
                <a:cs typeface="DejaVu Sans"/>
              </a:defRPr>
            </a:lvl8pPr>
            <a:lvl9pPr algn="ctr">
              <a:defRPr sz="1200" b="1">
                <a:solidFill>
                  <a:srgbClr val="C8FF45"/>
                </a:solidFill>
                <a:latin typeface="DejaVu Sans"/>
                <a:ea typeface="DejaVu Sans"/>
                <a:cs typeface="DejaVu Sans"/>
              </a:defRPr>
            </a:lvl9pPr>
          </a:lstStyle>
          <a:p xmlns:a="http://schemas.openxmlformats.org/drawingml/2006/main">
            <a:pPr algn="ctr">
              <a:defRPr sz="1200" b="1">
                <a:solidFill>
                  <a:srgbClr val="C8FF45"/>
                </a:solidFill>
                <a:latin typeface="DejaVu Sans"/>
                <a:ea typeface="DejaVu Sans"/>
                <a:cs typeface="DejaVu Sans"/>
              </a:defRPr>
            </a:pPr>
            <a:r>
              <a:rPr sz="1200" b="1">
                <a:solidFill>
                  <a:srgbClr val="C8FF45"/>
                </a:solidFill>
                <a:latin typeface="DejaVu Sans"/>
                <a:ea typeface="DejaVu Sans"/>
                <a:cs typeface="DejaVu Sans"/>
              </a:rPr>
              <a:t>01</a:t>
            </a:r>
          </a:p>
        </p:txBody>
      </p:sp>
      <p:sp>
        <p:nvSpPr>
          <p:cNvPr id="10" name="stage-node-0">
            <a:extLst xmlns:a="http://schemas.openxmlformats.org/drawingml/2006/main">
              <a:ext uri="{FF2B5EF4-FFF2-40B4-BE49-F238E27FC236}">
                <a16:creationId xmlns:a16="http://schemas.microsoft.com/office/drawing/2014/main" id="{7937B213-5A87-4625-B973-5584B6E10AFE}"/>
              </a:ext>
            </a:extLst>
          </p:cNvPr>
          <p:cNvSpPr>
            <a:spLocks xmlns:a="http://schemas.openxmlformats.org/drawingml/2006/main" noGrp="1"/>
          </p:cNvSpPr>
          <p:nvPr/>
        </p:nvSpPr>
        <p:spPr>
          <a:xfrm xmlns:a="http://schemas.openxmlformats.org/drawingml/2006/main">
            <a:off x="2066925" y="2466975"/>
            <a:ext cx="247650" cy="247650"/>
          </a:xfrm>
          <a:prstGeom xmlns:a="http://schemas.openxmlformats.org/drawingml/2006/main" prst="roundRect">
            <a:avLst>
              <a:gd name="adj" fmla="val 50000"/>
            </a:avLst>
          </a:prstGeom>
          <a:solidFill xmlns:a="http://schemas.openxmlformats.org/drawingml/2006/main">
            <a:srgbClr val="C8FF45"/>
          </a:solidFill>
          <a:ln xmlns:a="http://schemas.openxmlformats.org/drawingml/2006/main" w="0">
            <a:noFill/>
            <a:prstDash val="solid"/>
          </a:ln>
        </p:spPr>
      </p:sp>
      <p:sp>
        <p:nvSpPr>
          <p:cNvPr id="11" name="stage-name-0">
            <a:extLst xmlns:a="http://schemas.openxmlformats.org/drawingml/2006/main">
              <a:ext uri="{FF2B5EF4-FFF2-40B4-BE49-F238E27FC236}">
                <a16:creationId xmlns:a16="http://schemas.microsoft.com/office/drawing/2014/main" id="{609B9D30-13D3-4FA8-8158-80F9AE3319DD}"/>
              </a:ext>
            </a:extLst>
          </p:cNvPr>
          <p:cNvSpPr>
            <a:spLocks xmlns:a="http://schemas.openxmlformats.org/drawingml/2006/main" noGrp="1"/>
          </p:cNvSpPr>
          <p:nvPr/>
        </p:nvSpPr>
        <p:spPr>
          <a:xfrm xmlns:a="http://schemas.openxmlformats.org/drawingml/2006/main">
            <a:off x="762000" y="30670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EEF0E8"/>
                </a:solidFill>
                <a:latin typeface="DejaVu Sans"/>
                <a:ea typeface="DejaVu Sans"/>
                <a:cs typeface="DejaVu Sans"/>
              </a:defRPr>
            </a:defPPr>
            <a:lvl1pPr algn="ctr">
              <a:defRPr sz="2250" b="1">
                <a:solidFill>
                  <a:srgbClr val="EEF0E8"/>
                </a:solidFill>
                <a:latin typeface="DejaVu Sans"/>
                <a:ea typeface="DejaVu Sans"/>
                <a:cs typeface="DejaVu Sans"/>
              </a:defRPr>
            </a:lvl1pPr>
            <a:lvl2pPr algn="ctr">
              <a:defRPr sz="2250" b="1">
                <a:solidFill>
                  <a:srgbClr val="EEF0E8"/>
                </a:solidFill>
                <a:latin typeface="DejaVu Sans"/>
                <a:ea typeface="DejaVu Sans"/>
                <a:cs typeface="DejaVu Sans"/>
              </a:defRPr>
            </a:lvl2pPr>
            <a:lvl3pPr algn="ctr">
              <a:defRPr sz="2250" b="1">
                <a:solidFill>
                  <a:srgbClr val="EEF0E8"/>
                </a:solidFill>
                <a:latin typeface="DejaVu Sans"/>
                <a:ea typeface="DejaVu Sans"/>
                <a:cs typeface="DejaVu Sans"/>
              </a:defRPr>
            </a:lvl3pPr>
            <a:lvl4pPr algn="ctr">
              <a:defRPr sz="2250" b="1">
                <a:solidFill>
                  <a:srgbClr val="EEF0E8"/>
                </a:solidFill>
                <a:latin typeface="DejaVu Sans"/>
                <a:ea typeface="DejaVu Sans"/>
                <a:cs typeface="DejaVu Sans"/>
              </a:defRPr>
            </a:lvl4pPr>
            <a:lvl5pPr algn="ctr">
              <a:defRPr sz="2250" b="1">
                <a:solidFill>
                  <a:srgbClr val="EEF0E8"/>
                </a:solidFill>
                <a:latin typeface="DejaVu Sans"/>
                <a:ea typeface="DejaVu Sans"/>
                <a:cs typeface="DejaVu Sans"/>
              </a:defRPr>
            </a:lvl5pPr>
            <a:lvl6pPr algn="ctr">
              <a:defRPr sz="2250" b="1">
                <a:solidFill>
                  <a:srgbClr val="EEF0E8"/>
                </a:solidFill>
                <a:latin typeface="DejaVu Sans"/>
                <a:ea typeface="DejaVu Sans"/>
                <a:cs typeface="DejaVu Sans"/>
              </a:defRPr>
            </a:lvl6pPr>
            <a:lvl7pPr algn="ctr">
              <a:defRPr sz="2250" b="1">
                <a:solidFill>
                  <a:srgbClr val="EEF0E8"/>
                </a:solidFill>
                <a:latin typeface="DejaVu Sans"/>
                <a:ea typeface="DejaVu Sans"/>
                <a:cs typeface="DejaVu Sans"/>
              </a:defRPr>
            </a:lvl7pPr>
            <a:lvl8pPr algn="ctr">
              <a:defRPr sz="2250" b="1">
                <a:solidFill>
                  <a:srgbClr val="EEF0E8"/>
                </a:solidFill>
                <a:latin typeface="DejaVu Sans"/>
                <a:ea typeface="DejaVu Sans"/>
                <a:cs typeface="DejaVu Sans"/>
              </a:defRPr>
            </a:lvl8pPr>
            <a:lvl9pPr algn="ctr">
              <a:defRPr sz="2250" b="1">
                <a:solidFill>
                  <a:srgbClr val="EEF0E8"/>
                </a:solidFill>
                <a:latin typeface="DejaVu Sans"/>
                <a:ea typeface="DejaVu Sans"/>
                <a:cs typeface="DejaVu Sans"/>
              </a:defRPr>
            </a:lvl9pPr>
          </a:lstStyle>
          <a:p xmlns:a="http://schemas.openxmlformats.org/drawingml/2006/main">
            <a:pPr algn="ctr">
              <a:defRPr sz="2250" b="1">
                <a:solidFill>
                  <a:srgbClr val="EEF0E8"/>
                </a:solidFill>
                <a:latin typeface="DejaVu Sans"/>
                <a:ea typeface="DejaVu Sans"/>
                <a:cs typeface="DejaVu Sans"/>
              </a:defRPr>
            </a:pPr>
            <a:r>
              <a:rPr sz="2250" b="1">
                <a:solidFill>
                  <a:srgbClr val="EEF0E8"/>
                </a:solidFill>
                <a:latin typeface="DejaVu Sans"/>
                <a:ea typeface="DejaVu Sans"/>
                <a:cs typeface="DejaVu Sans"/>
              </a:rPr>
              <a:t>BEST</a:t>
            </a:r>
          </a:p>
        </p:txBody>
      </p:sp>
      <p:sp>
        <p:nvSpPr>
          <p:cNvPr id="12" name="stage-desc-0">
            <a:extLst xmlns:a="http://schemas.openxmlformats.org/drawingml/2006/main">
              <a:ext uri="{FF2B5EF4-FFF2-40B4-BE49-F238E27FC236}">
                <a16:creationId xmlns:a16="http://schemas.microsoft.com/office/drawing/2014/main" id="{FFBA5066-4DEF-40F7-886C-05782E48B8B5}"/>
              </a:ext>
            </a:extLst>
          </p:cNvPr>
          <p:cNvSpPr>
            <a:spLocks xmlns:a="http://schemas.openxmlformats.org/drawingml/2006/main" noGrp="1"/>
          </p:cNvSpPr>
          <p:nvPr/>
        </p:nvSpPr>
        <p:spPr>
          <a:xfrm xmlns:a="http://schemas.openxmlformats.org/drawingml/2006/main">
            <a:off x="666750" y="34766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A3A89D"/>
                </a:solidFill>
                <a:latin typeface="DejaVu Sans"/>
                <a:ea typeface="DejaVu Sans"/>
                <a:cs typeface="DejaVu Sans"/>
              </a:defRPr>
            </a:defPPr>
            <a:lvl1pPr algn="ctr">
              <a:defRPr sz="1500" b="0">
                <a:solidFill>
                  <a:srgbClr val="A3A89D"/>
                </a:solidFill>
                <a:latin typeface="DejaVu Sans"/>
                <a:ea typeface="DejaVu Sans"/>
                <a:cs typeface="DejaVu Sans"/>
              </a:defRPr>
            </a:lvl1pPr>
            <a:lvl2pPr algn="ctr">
              <a:defRPr sz="1500" b="0">
                <a:solidFill>
                  <a:srgbClr val="A3A89D"/>
                </a:solidFill>
                <a:latin typeface="DejaVu Sans"/>
                <a:ea typeface="DejaVu Sans"/>
                <a:cs typeface="DejaVu Sans"/>
              </a:defRPr>
            </a:lvl2pPr>
            <a:lvl3pPr algn="ctr">
              <a:defRPr sz="1500" b="0">
                <a:solidFill>
                  <a:srgbClr val="A3A89D"/>
                </a:solidFill>
                <a:latin typeface="DejaVu Sans"/>
                <a:ea typeface="DejaVu Sans"/>
                <a:cs typeface="DejaVu Sans"/>
              </a:defRPr>
            </a:lvl3pPr>
            <a:lvl4pPr algn="ctr">
              <a:defRPr sz="1500" b="0">
                <a:solidFill>
                  <a:srgbClr val="A3A89D"/>
                </a:solidFill>
                <a:latin typeface="DejaVu Sans"/>
                <a:ea typeface="DejaVu Sans"/>
                <a:cs typeface="DejaVu Sans"/>
              </a:defRPr>
            </a:lvl4pPr>
            <a:lvl5pPr algn="ctr">
              <a:defRPr sz="1500" b="0">
                <a:solidFill>
                  <a:srgbClr val="A3A89D"/>
                </a:solidFill>
                <a:latin typeface="DejaVu Sans"/>
                <a:ea typeface="DejaVu Sans"/>
                <a:cs typeface="DejaVu Sans"/>
              </a:defRPr>
            </a:lvl5pPr>
            <a:lvl6pPr algn="ctr">
              <a:defRPr sz="1500" b="0">
                <a:solidFill>
                  <a:srgbClr val="A3A89D"/>
                </a:solidFill>
                <a:latin typeface="DejaVu Sans"/>
                <a:ea typeface="DejaVu Sans"/>
                <a:cs typeface="DejaVu Sans"/>
              </a:defRPr>
            </a:lvl6pPr>
            <a:lvl7pPr algn="ctr">
              <a:defRPr sz="1500" b="0">
                <a:solidFill>
                  <a:srgbClr val="A3A89D"/>
                </a:solidFill>
                <a:latin typeface="DejaVu Sans"/>
                <a:ea typeface="DejaVu Sans"/>
                <a:cs typeface="DejaVu Sans"/>
              </a:defRPr>
            </a:lvl7pPr>
            <a:lvl8pPr algn="ctr">
              <a:defRPr sz="1500" b="0">
                <a:solidFill>
                  <a:srgbClr val="A3A89D"/>
                </a:solidFill>
                <a:latin typeface="DejaVu Sans"/>
                <a:ea typeface="DejaVu Sans"/>
                <a:cs typeface="DejaVu Sans"/>
              </a:defRPr>
            </a:lvl8pPr>
            <a:lvl9pPr algn="ctr">
              <a:defRPr sz="1500" b="0">
                <a:solidFill>
                  <a:srgbClr val="A3A89D"/>
                </a:solidFill>
                <a:latin typeface="DejaVu Sans"/>
                <a:ea typeface="DejaVu Sans"/>
                <a:cs typeface="DejaVu Sans"/>
              </a:defRPr>
            </a:lvl9pPr>
          </a:lstStyle>
          <a:p xmlns:a="http://schemas.openxmlformats.org/drawingml/2006/main">
            <a:pPr algn="ctr">
              <a:defRPr sz="1500" b="0">
                <a:solidFill>
                  <a:srgbClr val="A3A89D"/>
                </a:solidFill>
                <a:latin typeface="DejaVu Sans"/>
                <a:ea typeface="DejaVu Sans"/>
                <a:cs typeface="DejaVu Sans"/>
              </a:defRPr>
            </a:pPr>
            <a:r>
              <a:rPr sz="1500" b="0">
                <a:solidFill>
                  <a:srgbClr val="A3A89D"/>
                </a:solidFill>
                <a:latin typeface="DejaVu Sans"/>
                <a:ea typeface="DejaVu Sans"/>
                <a:cs typeface="DejaVu Sans"/>
              </a:rPr>
              <a:t>Latest imported head</a:t>
            </a:r>
          </a:p>
        </p:txBody>
      </p:sp>
      <p:sp>
        <p:nvSpPr>
          <p:cNvPr id="13" name="stage-num-1">
            <a:extLst xmlns:a="http://schemas.openxmlformats.org/drawingml/2006/main">
              <a:ext uri="{FF2B5EF4-FFF2-40B4-BE49-F238E27FC236}">
                <a16:creationId xmlns:a16="http://schemas.microsoft.com/office/drawing/2014/main" id="{9D94E450-C931-4609-9150-6F042F8674A5}"/>
              </a:ext>
            </a:extLst>
          </p:cNvPr>
          <p:cNvSpPr>
            <a:spLocks xmlns:a="http://schemas.openxmlformats.org/drawingml/2006/main" noGrp="1"/>
          </p:cNvSpPr>
          <p:nvPr/>
        </p:nvSpPr>
        <p:spPr>
          <a:xfrm xmlns:a="http://schemas.openxmlformats.org/drawingml/2006/main">
            <a:off x="5667375" y="20478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A995FF"/>
                </a:solidFill>
                <a:latin typeface="DejaVu Sans"/>
                <a:ea typeface="DejaVu Sans"/>
                <a:cs typeface="DejaVu Sans"/>
              </a:defRPr>
            </a:defPPr>
            <a:lvl1pPr algn="ctr">
              <a:defRPr sz="1200" b="1">
                <a:solidFill>
                  <a:srgbClr val="A995FF"/>
                </a:solidFill>
                <a:latin typeface="DejaVu Sans"/>
                <a:ea typeface="DejaVu Sans"/>
                <a:cs typeface="DejaVu Sans"/>
              </a:defRPr>
            </a:lvl1pPr>
            <a:lvl2pPr algn="ctr">
              <a:defRPr sz="1200" b="1">
                <a:solidFill>
                  <a:srgbClr val="A995FF"/>
                </a:solidFill>
                <a:latin typeface="DejaVu Sans"/>
                <a:ea typeface="DejaVu Sans"/>
                <a:cs typeface="DejaVu Sans"/>
              </a:defRPr>
            </a:lvl2pPr>
            <a:lvl3pPr algn="ctr">
              <a:defRPr sz="1200" b="1">
                <a:solidFill>
                  <a:srgbClr val="A995FF"/>
                </a:solidFill>
                <a:latin typeface="DejaVu Sans"/>
                <a:ea typeface="DejaVu Sans"/>
                <a:cs typeface="DejaVu Sans"/>
              </a:defRPr>
            </a:lvl3pPr>
            <a:lvl4pPr algn="ctr">
              <a:defRPr sz="1200" b="1">
                <a:solidFill>
                  <a:srgbClr val="A995FF"/>
                </a:solidFill>
                <a:latin typeface="DejaVu Sans"/>
                <a:ea typeface="DejaVu Sans"/>
                <a:cs typeface="DejaVu Sans"/>
              </a:defRPr>
            </a:lvl4pPr>
            <a:lvl5pPr algn="ctr">
              <a:defRPr sz="1200" b="1">
                <a:solidFill>
                  <a:srgbClr val="A995FF"/>
                </a:solidFill>
                <a:latin typeface="DejaVu Sans"/>
                <a:ea typeface="DejaVu Sans"/>
                <a:cs typeface="DejaVu Sans"/>
              </a:defRPr>
            </a:lvl5pPr>
            <a:lvl6pPr algn="ctr">
              <a:defRPr sz="1200" b="1">
                <a:solidFill>
                  <a:srgbClr val="A995FF"/>
                </a:solidFill>
                <a:latin typeface="DejaVu Sans"/>
                <a:ea typeface="DejaVu Sans"/>
                <a:cs typeface="DejaVu Sans"/>
              </a:defRPr>
            </a:lvl6pPr>
            <a:lvl7pPr algn="ctr">
              <a:defRPr sz="1200" b="1">
                <a:solidFill>
                  <a:srgbClr val="A995FF"/>
                </a:solidFill>
                <a:latin typeface="DejaVu Sans"/>
                <a:ea typeface="DejaVu Sans"/>
                <a:cs typeface="DejaVu Sans"/>
              </a:defRPr>
            </a:lvl7pPr>
            <a:lvl8pPr algn="ctr">
              <a:defRPr sz="1200" b="1">
                <a:solidFill>
                  <a:srgbClr val="A995FF"/>
                </a:solidFill>
                <a:latin typeface="DejaVu Sans"/>
                <a:ea typeface="DejaVu Sans"/>
                <a:cs typeface="DejaVu Sans"/>
              </a:defRPr>
            </a:lvl8pPr>
            <a:lvl9pPr algn="ctr">
              <a:defRPr sz="1200" b="1">
                <a:solidFill>
                  <a:srgbClr val="A995FF"/>
                </a:solidFill>
                <a:latin typeface="DejaVu Sans"/>
                <a:ea typeface="DejaVu Sans"/>
                <a:cs typeface="DejaVu Sans"/>
              </a:defRPr>
            </a:lvl9pPr>
          </a:lstStyle>
          <a:p xmlns:a="http://schemas.openxmlformats.org/drawingml/2006/main">
            <a:pPr algn="ctr">
              <a:defRPr sz="1200" b="1">
                <a:solidFill>
                  <a:srgbClr val="A995FF"/>
                </a:solidFill>
                <a:latin typeface="DejaVu Sans"/>
                <a:ea typeface="DejaVu Sans"/>
                <a:cs typeface="DejaVu Sans"/>
              </a:defRPr>
            </a:pPr>
            <a:r>
              <a:rPr sz="1200" b="1">
                <a:solidFill>
                  <a:srgbClr val="A995FF"/>
                </a:solidFill>
                <a:latin typeface="DejaVu Sans"/>
                <a:ea typeface="DejaVu Sans"/>
                <a:cs typeface="DejaVu Sans"/>
              </a:rPr>
              <a:t>02</a:t>
            </a:r>
          </a:p>
        </p:txBody>
      </p:sp>
      <p:sp>
        <p:nvSpPr>
          <p:cNvPr id="14" name="stage-node-1">
            <a:extLst xmlns:a="http://schemas.openxmlformats.org/drawingml/2006/main">
              <a:ext uri="{FF2B5EF4-FFF2-40B4-BE49-F238E27FC236}">
                <a16:creationId xmlns:a16="http://schemas.microsoft.com/office/drawing/2014/main" id="{E21EFAC9-A458-4B3F-85C8-A4B4F2313340}"/>
              </a:ext>
            </a:extLst>
          </p:cNvPr>
          <p:cNvSpPr>
            <a:spLocks xmlns:a="http://schemas.openxmlformats.org/drawingml/2006/main" noGrp="1"/>
          </p:cNvSpPr>
          <p:nvPr/>
        </p:nvSpPr>
        <p:spPr>
          <a:xfrm xmlns:a="http://schemas.openxmlformats.org/drawingml/2006/main">
            <a:off x="5972175" y="2466975"/>
            <a:ext cx="247650" cy="247650"/>
          </a:xfrm>
          <a:prstGeom xmlns:a="http://schemas.openxmlformats.org/drawingml/2006/main" prst="roundRect">
            <a:avLst>
              <a:gd name="adj" fmla="val 50000"/>
            </a:avLst>
          </a:prstGeom>
          <a:solidFill xmlns:a="http://schemas.openxmlformats.org/drawingml/2006/main">
            <a:srgbClr val="A995FF"/>
          </a:solidFill>
          <a:ln xmlns:a="http://schemas.openxmlformats.org/drawingml/2006/main" w="0">
            <a:noFill/>
            <a:prstDash val="solid"/>
          </a:ln>
        </p:spPr>
      </p:sp>
      <p:sp>
        <p:nvSpPr>
          <p:cNvPr id="15" name="stage-name-1">
            <a:extLst xmlns:a="http://schemas.openxmlformats.org/drawingml/2006/main">
              <a:ext uri="{FF2B5EF4-FFF2-40B4-BE49-F238E27FC236}">
                <a16:creationId xmlns:a16="http://schemas.microsoft.com/office/drawing/2014/main" id="{02896B53-AF3B-4634-B9C0-7C4703750DF7}"/>
              </a:ext>
            </a:extLst>
          </p:cNvPr>
          <p:cNvSpPr>
            <a:spLocks xmlns:a="http://schemas.openxmlformats.org/drawingml/2006/main" noGrp="1"/>
          </p:cNvSpPr>
          <p:nvPr/>
        </p:nvSpPr>
        <p:spPr>
          <a:xfrm xmlns:a="http://schemas.openxmlformats.org/drawingml/2006/main">
            <a:off x="4667250" y="30670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EEF0E8"/>
                </a:solidFill>
                <a:latin typeface="DejaVu Sans"/>
                <a:ea typeface="DejaVu Sans"/>
                <a:cs typeface="DejaVu Sans"/>
              </a:defRPr>
            </a:defPPr>
            <a:lvl1pPr algn="ctr">
              <a:defRPr sz="2250" b="1">
                <a:solidFill>
                  <a:srgbClr val="EEF0E8"/>
                </a:solidFill>
                <a:latin typeface="DejaVu Sans"/>
                <a:ea typeface="DejaVu Sans"/>
                <a:cs typeface="DejaVu Sans"/>
              </a:defRPr>
            </a:lvl1pPr>
            <a:lvl2pPr algn="ctr">
              <a:defRPr sz="2250" b="1">
                <a:solidFill>
                  <a:srgbClr val="EEF0E8"/>
                </a:solidFill>
                <a:latin typeface="DejaVu Sans"/>
                <a:ea typeface="DejaVu Sans"/>
                <a:cs typeface="DejaVu Sans"/>
              </a:defRPr>
            </a:lvl2pPr>
            <a:lvl3pPr algn="ctr">
              <a:defRPr sz="2250" b="1">
                <a:solidFill>
                  <a:srgbClr val="EEF0E8"/>
                </a:solidFill>
                <a:latin typeface="DejaVu Sans"/>
                <a:ea typeface="DejaVu Sans"/>
                <a:cs typeface="DejaVu Sans"/>
              </a:defRPr>
            </a:lvl3pPr>
            <a:lvl4pPr algn="ctr">
              <a:defRPr sz="2250" b="1">
                <a:solidFill>
                  <a:srgbClr val="EEF0E8"/>
                </a:solidFill>
                <a:latin typeface="DejaVu Sans"/>
                <a:ea typeface="DejaVu Sans"/>
                <a:cs typeface="DejaVu Sans"/>
              </a:defRPr>
            </a:lvl4pPr>
            <a:lvl5pPr algn="ctr">
              <a:defRPr sz="2250" b="1">
                <a:solidFill>
                  <a:srgbClr val="EEF0E8"/>
                </a:solidFill>
                <a:latin typeface="DejaVu Sans"/>
                <a:ea typeface="DejaVu Sans"/>
                <a:cs typeface="DejaVu Sans"/>
              </a:defRPr>
            </a:lvl5pPr>
            <a:lvl6pPr algn="ctr">
              <a:defRPr sz="2250" b="1">
                <a:solidFill>
                  <a:srgbClr val="EEF0E8"/>
                </a:solidFill>
                <a:latin typeface="DejaVu Sans"/>
                <a:ea typeface="DejaVu Sans"/>
                <a:cs typeface="DejaVu Sans"/>
              </a:defRPr>
            </a:lvl6pPr>
            <a:lvl7pPr algn="ctr">
              <a:defRPr sz="2250" b="1">
                <a:solidFill>
                  <a:srgbClr val="EEF0E8"/>
                </a:solidFill>
                <a:latin typeface="DejaVu Sans"/>
                <a:ea typeface="DejaVu Sans"/>
                <a:cs typeface="DejaVu Sans"/>
              </a:defRPr>
            </a:lvl7pPr>
            <a:lvl8pPr algn="ctr">
              <a:defRPr sz="2250" b="1">
                <a:solidFill>
                  <a:srgbClr val="EEF0E8"/>
                </a:solidFill>
                <a:latin typeface="DejaVu Sans"/>
                <a:ea typeface="DejaVu Sans"/>
                <a:cs typeface="DejaVu Sans"/>
              </a:defRPr>
            </a:lvl8pPr>
            <a:lvl9pPr algn="ctr">
              <a:defRPr sz="2250" b="1">
                <a:solidFill>
                  <a:srgbClr val="EEF0E8"/>
                </a:solidFill>
                <a:latin typeface="DejaVu Sans"/>
                <a:ea typeface="DejaVu Sans"/>
                <a:cs typeface="DejaVu Sans"/>
              </a:defRPr>
            </a:lvl9pPr>
          </a:lstStyle>
          <a:p xmlns:a="http://schemas.openxmlformats.org/drawingml/2006/main">
            <a:pPr algn="ctr">
              <a:defRPr sz="2250" b="1">
                <a:solidFill>
                  <a:srgbClr val="EEF0E8"/>
                </a:solidFill>
                <a:latin typeface="DejaVu Sans"/>
                <a:ea typeface="DejaVu Sans"/>
                <a:cs typeface="DejaVu Sans"/>
              </a:defRPr>
            </a:pPr>
            <a:r>
              <a:rPr sz="2250" b="1">
                <a:solidFill>
                  <a:srgbClr val="EEF0E8"/>
                </a:solidFill>
                <a:latin typeface="DejaVu Sans"/>
                <a:ea typeface="DejaVu Sans"/>
                <a:cs typeface="DejaVu Sans"/>
              </a:rPr>
              <a:t>GRANDPA</a:t>
            </a:r>
          </a:p>
        </p:txBody>
      </p:sp>
      <p:sp>
        <p:nvSpPr>
          <p:cNvPr id="16" name="stage-desc-1">
            <a:extLst xmlns:a="http://schemas.openxmlformats.org/drawingml/2006/main">
              <a:ext uri="{FF2B5EF4-FFF2-40B4-BE49-F238E27FC236}">
                <a16:creationId xmlns:a16="http://schemas.microsoft.com/office/drawing/2014/main" id="{97FF26EF-FF9E-4DA7-9695-8F776A9536DB}"/>
              </a:ext>
            </a:extLst>
          </p:cNvPr>
          <p:cNvSpPr>
            <a:spLocks xmlns:a="http://schemas.openxmlformats.org/drawingml/2006/main" noGrp="1"/>
          </p:cNvSpPr>
          <p:nvPr/>
        </p:nvSpPr>
        <p:spPr>
          <a:xfrm xmlns:a="http://schemas.openxmlformats.org/drawingml/2006/main">
            <a:off x="4572000" y="34766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A3A89D"/>
                </a:solidFill>
                <a:latin typeface="DejaVu Sans"/>
                <a:ea typeface="DejaVu Sans"/>
                <a:cs typeface="DejaVu Sans"/>
              </a:defRPr>
            </a:defPPr>
            <a:lvl1pPr algn="ctr">
              <a:defRPr sz="1500" b="0">
                <a:solidFill>
                  <a:srgbClr val="A3A89D"/>
                </a:solidFill>
                <a:latin typeface="DejaVu Sans"/>
                <a:ea typeface="DejaVu Sans"/>
                <a:cs typeface="DejaVu Sans"/>
              </a:defRPr>
            </a:lvl1pPr>
            <a:lvl2pPr algn="ctr">
              <a:defRPr sz="1500" b="0">
                <a:solidFill>
                  <a:srgbClr val="A3A89D"/>
                </a:solidFill>
                <a:latin typeface="DejaVu Sans"/>
                <a:ea typeface="DejaVu Sans"/>
                <a:cs typeface="DejaVu Sans"/>
              </a:defRPr>
            </a:lvl2pPr>
            <a:lvl3pPr algn="ctr">
              <a:defRPr sz="1500" b="0">
                <a:solidFill>
                  <a:srgbClr val="A3A89D"/>
                </a:solidFill>
                <a:latin typeface="DejaVu Sans"/>
                <a:ea typeface="DejaVu Sans"/>
                <a:cs typeface="DejaVu Sans"/>
              </a:defRPr>
            </a:lvl3pPr>
            <a:lvl4pPr algn="ctr">
              <a:defRPr sz="1500" b="0">
                <a:solidFill>
                  <a:srgbClr val="A3A89D"/>
                </a:solidFill>
                <a:latin typeface="DejaVu Sans"/>
                <a:ea typeface="DejaVu Sans"/>
                <a:cs typeface="DejaVu Sans"/>
              </a:defRPr>
            </a:lvl4pPr>
            <a:lvl5pPr algn="ctr">
              <a:defRPr sz="1500" b="0">
                <a:solidFill>
                  <a:srgbClr val="A3A89D"/>
                </a:solidFill>
                <a:latin typeface="DejaVu Sans"/>
                <a:ea typeface="DejaVu Sans"/>
                <a:cs typeface="DejaVu Sans"/>
              </a:defRPr>
            </a:lvl5pPr>
            <a:lvl6pPr algn="ctr">
              <a:defRPr sz="1500" b="0">
                <a:solidFill>
                  <a:srgbClr val="A3A89D"/>
                </a:solidFill>
                <a:latin typeface="DejaVu Sans"/>
                <a:ea typeface="DejaVu Sans"/>
                <a:cs typeface="DejaVu Sans"/>
              </a:defRPr>
            </a:lvl6pPr>
            <a:lvl7pPr algn="ctr">
              <a:defRPr sz="1500" b="0">
                <a:solidFill>
                  <a:srgbClr val="A3A89D"/>
                </a:solidFill>
                <a:latin typeface="DejaVu Sans"/>
                <a:ea typeface="DejaVu Sans"/>
                <a:cs typeface="DejaVu Sans"/>
              </a:defRPr>
            </a:lvl7pPr>
            <a:lvl8pPr algn="ctr">
              <a:defRPr sz="1500" b="0">
                <a:solidFill>
                  <a:srgbClr val="A3A89D"/>
                </a:solidFill>
                <a:latin typeface="DejaVu Sans"/>
                <a:ea typeface="DejaVu Sans"/>
                <a:cs typeface="DejaVu Sans"/>
              </a:defRPr>
            </a:lvl8pPr>
            <a:lvl9pPr algn="ctr">
              <a:defRPr sz="1500" b="0">
                <a:solidFill>
                  <a:srgbClr val="A3A89D"/>
                </a:solidFill>
                <a:latin typeface="DejaVu Sans"/>
                <a:ea typeface="DejaVu Sans"/>
                <a:cs typeface="DejaVu Sans"/>
              </a:defRPr>
            </a:lvl9pPr>
          </a:lstStyle>
          <a:p xmlns:a="http://schemas.openxmlformats.org/drawingml/2006/main">
            <a:pPr algn="ctr">
              <a:defRPr sz="1500" b="0">
                <a:solidFill>
                  <a:srgbClr val="A3A89D"/>
                </a:solidFill>
                <a:latin typeface="DejaVu Sans"/>
                <a:ea typeface="DejaVu Sans"/>
                <a:cs typeface="DejaVu Sans"/>
              </a:defRPr>
            </a:pPr>
            <a:r>
              <a:rPr sz="1500" b="0">
                <a:solidFill>
                  <a:srgbClr val="A3A89D"/>
                </a:solidFill>
                <a:latin typeface="DejaVu Sans"/>
                <a:ea typeface="DejaVu Sans"/>
                <a:cs typeface="DejaVu Sans"/>
              </a:rPr>
              <a:t>Finalized head</a:t>
            </a:r>
          </a:p>
        </p:txBody>
      </p:sp>
      <p:sp>
        <p:nvSpPr>
          <p:cNvPr id="17" name="stage-num-2">
            <a:extLst xmlns:a="http://schemas.openxmlformats.org/drawingml/2006/main">
              <a:ext uri="{FF2B5EF4-FFF2-40B4-BE49-F238E27FC236}">
                <a16:creationId xmlns:a16="http://schemas.microsoft.com/office/drawing/2014/main" id="{5EC5082D-109A-4788-AA23-DB143D5D6DCD}"/>
              </a:ext>
            </a:extLst>
          </p:cNvPr>
          <p:cNvSpPr>
            <a:spLocks xmlns:a="http://schemas.openxmlformats.org/drawingml/2006/main" noGrp="1"/>
          </p:cNvSpPr>
          <p:nvPr/>
        </p:nvSpPr>
        <p:spPr>
          <a:xfrm xmlns:a="http://schemas.openxmlformats.org/drawingml/2006/main">
            <a:off x="9572625" y="20478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73DCE1"/>
                </a:solidFill>
                <a:latin typeface="DejaVu Sans"/>
                <a:ea typeface="DejaVu Sans"/>
                <a:cs typeface="DejaVu Sans"/>
              </a:defRPr>
            </a:defPPr>
            <a:lvl1pPr algn="ctr">
              <a:defRPr sz="1200" b="1">
                <a:solidFill>
                  <a:srgbClr val="73DCE1"/>
                </a:solidFill>
                <a:latin typeface="DejaVu Sans"/>
                <a:ea typeface="DejaVu Sans"/>
                <a:cs typeface="DejaVu Sans"/>
              </a:defRPr>
            </a:lvl1pPr>
            <a:lvl2pPr algn="ctr">
              <a:defRPr sz="1200" b="1">
                <a:solidFill>
                  <a:srgbClr val="73DCE1"/>
                </a:solidFill>
                <a:latin typeface="DejaVu Sans"/>
                <a:ea typeface="DejaVu Sans"/>
                <a:cs typeface="DejaVu Sans"/>
              </a:defRPr>
            </a:lvl2pPr>
            <a:lvl3pPr algn="ctr">
              <a:defRPr sz="1200" b="1">
                <a:solidFill>
                  <a:srgbClr val="73DCE1"/>
                </a:solidFill>
                <a:latin typeface="DejaVu Sans"/>
                <a:ea typeface="DejaVu Sans"/>
                <a:cs typeface="DejaVu Sans"/>
              </a:defRPr>
            </a:lvl3pPr>
            <a:lvl4pPr algn="ctr">
              <a:defRPr sz="1200" b="1">
                <a:solidFill>
                  <a:srgbClr val="73DCE1"/>
                </a:solidFill>
                <a:latin typeface="DejaVu Sans"/>
                <a:ea typeface="DejaVu Sans"/>
                <a:cs typeface="DejaVu Sans"/>
              </a:defRPr>
            </a:lvl4pPr>
            <a:lvl5pPr algn="ctr">
              <a:defRPr sz="1200" b="1">
                <a:solidFill>
                  <a:srgbClr val="73DCE1"/>
                </a:solidFill>
                <a:latin typeface="DejaVu Sans"/>
                <a:ea typeface="DejaVu Sans"/>
                <a:cs typeface="DejaVu Sans"/>
              </a:defRPr>
            </a:lvl5pPr>
            <a:lvl6pPr algn="ctr">
              <a:defRPr sz="1200" b="1">
                <a:solidFill>
                  <a:srgbClr val="73DCE1"/>
                </a:solidFill>
                <a:latin typeface="DejaVu Sans"/>
                <a:ea typeface="DejaVu Sans"/>
                <a:cs typeface="DejaVu Sans"/>
              </a:defRPr>
            </a:lvl6pPr>
            <a:lvl7pPr algn="ctr">
              <a:defRPr sz="1200" b="1">
                <a:solidFill>
                  <a:srgbClr val="73DCE1"/>
                </a:solidFill>
                <a:latin typeface="DejaVu Sans"/>
                <a:ea typeface="DejaVu Sans"/>
                <a:cs typeface="DejaVu Sans"/>
              </a:defRPr>
            </a:lvl7pPr>
            <a:lvl8pPr algn="ctr">
              <a:defRPr sz="1200" b="1">
                <a:solidFill>
                  <a:srgbClr val="73DCE1"/>
                </a:solidFill>
                <a:latin typeface="DejaVu Sans"/>
                <a:ea typeface="DejaVu Sans"/>
                <a:cs typeface="DejaVu Sans"/>
              </a:defRPr>
            </a:lvl8pPr>
            <a:lvl9pPr algn="ctr">
              <a:defRPr sz="1200" b="1">
                <a:solidFill>
                  <a:srgbClr val="73DCE1"/>
                </a:solidFill>
                <a:latin typeface="DejaVu Sans"/>
                <a:ea typeface="DejaVu Sans"/>
                <a:cs typeface="DejaVu Sans"/>
              </a:defRPr>
            </a:lvl9pPr>
          </a:lstStyle>
          <a:p xmlns:a="http://schemas.openxmlformats.org/drawingml/2006/main">
            <a:pPr algn="ctr">
              <a:defRPr sz="1200" b="1">
                <a:solidFill>
                  <a:srgbClr val="73DCE1"/>
                </a:solidFill>
                <a:latin typeface="DejaVu Sans"/>
                <a:ea typeface="DejaVu Sans"/>
                <a:cs typeface="DejaVu Sans"/>
              </a:defRPr>
            </a:pPr>
            <a:r>
              <a:rPr sz="1200" b="1">
                <a:solidFill>
                  <a:srgbClr val="73DCE1"/>
                </a:solidFill>
                <a:latin typeface="DejaVu Sans"/>
                <a:ea typeface="DejaVu Sans"/>
                <a:cs typeface="DejaVu Sans"/>
              </a:rPr>
              <a:t>03</a:t>
            </a:r>
          </a:p>
        </p:txBody>
      </p:sp>
      <p:sp>
        <p:nvSpPr>
          <p:cNvPr id="18" name="stage-node-2">
            <a:extLst xmlns:a="http://schemas.openxmlformats.org/drawingml/2006/main">
              <a:ext uri="{FF2B5EF4-FFF2-40B4-BE49-F238E27FC236}">
                <a16:creationId xmlns:a16="http://schemas.microsoft.com/office/drawing/2014/main" id="{936FAED7-0F9F-42D3-B701-B536EFC23D32}"/>
              </a:ext>
            </a:extLst>
          </p:cNvPr>
          <p:cNvSpPr>
            <a:spLocks xmlns:a="http://schemas.openxmlformats.org/drawingml/2006/main" noGrp="1"/>
          </p:cNvSpPr>
          <p:nvPr/>
        </p:nvSpPr>
        <p:spPr>
          <a:xfrm xmlns:a="http://schemas.openxmlformats.org/drawingml/2006/main">
            <a:off x="9877425" y="2466975"/>
            <a:ext cx="247650" cy="247650"/>
          </a:xfrm>
          <a:prstGeom xmlns:a="http://schemas.openxmlformats.org/drawingml/2006/main" prst="roundRect">
            <a:avLst>
              <a:gd name="adj" fmla="val 50000"/>
            </a:avLst>
          </a:prstGeom>
          <a:solidFill xmlns:a="http://schemas.openxmlformats.org/drawingml/2006/main">
            <a:srgbClr val="73DCE1"/>
          </a:solidFill>
          <a:ln xmlns:a="http://schemas.openxmlformats.org/drawingml/2006/main" w="0">
            <a:noFill/>
            <a:prstDash val="solid"/>
          </a:ln>
        </p:spPr>
      </p:sp>
      <p:sp>
        <p:nvSpPr>
          <p:cNvPr id="19" name="stage-name-2">
            <a:extLst xmlns:a="http://schemas.openxmlformats.org/drawingml/2006/main">
              <a:ext uri="{FF2B5EF4-FFF2-40B4-BE49-F238E27FC236}">
                <a16:creationId xmlns:a16="http://schemas.microsoft.com/office/drawing/2014/main" id="{09E1B66E-D9C8-45A0-B563-C02B3124286D}"/>
              </a:ext>
            </a:extLst>
          </p:cNvPr>
          <p:cNvSpPr>
            <a:spLocks xmlns:a="http://schemas.openxmlformats.org/drawingml/2006/main" noGrp="1"/>
          </p:cNvSpPr>
          <p:nvPr/>
        </p:nvSpPr>
        <p:spPr>
          <a:xfrm xmlns:a="http://schemas.openxmlformats.org/drawingml/2006/main">
            <a:off x="8572500" y="30670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EEF0E8"/>
                </a:solidFill>
                <a:latin typeface="DejaVu Sans"/>
                <a:ea typeface="DejaVu Sans"/>
                <a:cs typeface="DejaVu Sans"/>
              </a:defRPr>
            </a:defPPr>
            <a:lvl1pPr algn="ctr">
              <a:defRPr sz="2250" b="1">
                <a:solidFill>
                  <a:srgbClr val="EEF0E8"/>
                </a:solidFill>
                <a:latin typeface="DejaVu Sans"/>
                <a:ea typeface="DejaVu Sans"/>
                <a:cs typeface="DejaVu Sans"/>
              </a:defRPr>
            </a:lvl1pPr>
            <a:lvl2pPr algn="ctr">
              <a:defRPr sz="2250" b="1">
                <a:solidFill>
                  <a:srgbClr val="EEF0E8"/>
                </a:solidFill>
                <a:latin typeface="DejaVu Sans"/>
                <a:ea typeface="DejaVu Sans"/>
                <a:cs typeface="DejaVu Sans"/>
              </a:defRPr>
            </a:lvl2pPr>
            <a:lvl3pPr algn="ctr">
              <a:defRPr sz="2250" b="1">
                <a:solidFill>
                  <a:srgbClr val="EEF0E8"/>
                </a:solidFill>
                <a:latin typeface="DejaVu Sans"/>
                <a:ea typeface="DejaVu Sans"/>
                <a:cs typeface="DejaVu Sans"/>
              </a:defRPr>
            </a:lvl3pPr>
            <a:lvl4pPr algn="ctr">
              <a:defRPr sz="2250" b="1">
                <a:solidFill>
                  <a:srgbClr val="EEF0E8"/>
                </a:solidFill>
                <a:latin typeface="DejaVu Sans"/>
                <a:ea typeface="DejaVu Sans"/>
                <a:cs typeface="DejaVu Sans"/>
              </a:defRPr>
            </a:lvl4pPr>
            <a:lvl5pPr algn="ctr">
              <a:defRPr sz="2250" b="1">
                <a:solidFill>
                  <a:srgbClr val="EEF0E8"/>
                </a:solidFill>
                <a:latin typeface="DejaVu Sans"/>
                <a:ea typeface="DejaVu Sans"/>
                <a:cs typeface="DejaVu Sans"/>
              </a:defRPr>
            </a:lvl5pPr>
            <a:lvl6pPr algn="ctr">
              <a:defRPr sz="2250" b="1">
                <a:solidFill>
                  <a:srgbClr val="EEF0E8"/>
                </a:solidFill>
                <a:latin typeface="DejaVu Sans"/>
                <a:ea typeface="DejaVu Sans"/>
                <a:cs typeface="DejaVu Sans"/>
              </a:defRPr>
            </a:lvl6pPr>
            <a:lvl7pPr algn="ctr">
              <a:defRPr sz="2250" b="1">
                <a:solidFill>
                  <a:srgbClr val="EEF0E8"/>
                </a:solidFill>
                <a:latin typeface="DejaVu Sans"/>
                <a:ea typeface="DejaVu Sans"/>
                <a:cs typeface="DejaVu Sans"/>
              </a:defRPr>
            </a:lvl7pPr>
            <a:lvl8pPr algn="ctr">
              <a:defRPr sz="2250" b="1">
                <a:solidFill>
                  <a:srgbClr val="EEF0E8"/>
                </a:solidFill>
                <a:latin typeface="DejaVu Sans"/>
                <a:ea typeface="DejaVu Sans"/>
                <a:cs typeface="DejaVu Sans"/>
              </a:defRPr>
            </a:lvl8pPr>
            <a:lvl9pPr algn="ctr">
              <a:defRPr sz="2250" b="1">
                <a:solidFill>
                  <a:srgbClr val="EEF0E8"/>
                </a:solidFill>
                <a:latin typeface="DejaVu Sans"/>
                <a:ea typeface="DejaVu Sans"/>
                <a:cs typeface="DejaVu Sans"/>
              </a:defRPr>
            </a:lvl9pPr>
          </a:lstStyle>
          <a:p xmlns:a="http://schemas.openxmlformats.org/drawingml/2006/main">
            <a:pPr algn="ctr">
              <a:defRPr sz="2250" b="1">
                <a:solidFill>
                  <a:srgbClr val="EEF0E8"/>
                </a:solidFill>
                <a:latin typeface="DejaVu Sans"/>
                <a:ea typeface="DejaVu Sans"/>
                <a:cs typeface="DejaVu Sans"/>
              </a:defRPr>
            </a:pPr>
            <a:r>
              <a:rPr sz="2250" b="1">
                <a:solidFill>
                  <a:srgbClr val="EEF0E8"/>
                </a:solidFill>
                <a:latin typeface="DejaVu Sans"/>
                <a:ea typeface="DejaVu Sans"/>
                <a:cs typeface="DejaVu Sans"/>
              </a:rPr>
              <a:t>BEEFY</a:t>
            </a:r>
          </a:p>
        </p:txBody>
      </p:sp>
      <p:sp>
        <p:nvSpPr>
          <p:cNvPr id="20" name="stage-desc-2">
            <a:extLst xmlns:a="http://schemas.openxmlformats.org/drawingml/2006/main">
              <a:ext uri="{FF2B5EF4-FFF2-40B4-BE49-F238E27FC236}">
                <a16:creationId xmlns:a16="http://schemas.microsoft.com/office/drawing/2014/main" id="{4B113602-D364-4CCD-A252-5A62B40134F1}"/>
              </a:ext>
            </a:extLst>
          </p:cNvPr>
          <p:cNvSpPr>
            <a:spLocks xmlns:a="http://schemas.openxmlformats.org/drawingml/2006/main" noGrp="1"/>
          </p:cNvSpPr>
          <p:nvPr/>
        </p:nvSpPr>
        <p:spPr>
          <a:xfrm xmlns:a="http://schemas.openxmlformats.org/drawingml/2006/main">
            <a:off x="8477250" y="34766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A3A89D"/>
                </a:solidFill>
                <a:latin typeface="DejaVu Sans"/>
                <a:ea typeface="DejaVu Sans"/>
                <a:cs typeface="DejaVu Sans"/>
              </a:defRPr>
            </a:defPPr>
            <a:lvl1pPr algn="ctr">
              <a:defRPr sz="1500" b="0">
                <a:solidFill>
                  <a:srgbClr val="A3A89D"/>
                </a:solidFill>
                <a:latin typeface="DejaVu Sans"/>
                <a:ea typeface="DejaVu Sans"/>
                <a:cs typeface="DejaVu Sans"/>
              </a:defRPr>
            </a:lvl1pPr>
            <a:lvl2pPr algn="ctr">
              <a:defRPr sz="1500" b="0">
                <a:solidFill>
                  <a:srgbClr val="A3A89D"/>
                </a:solidFill>
                <a:latin typeface="DejaVu Sans"/>
                <a:ea typeface="DejaVu Sans"/>
                <a:cs typeface="DejaVu Sans"/>
              </a:defRPr>
            </a:lvl2pPr>
            <a:lvl3pPr algn="ctr">
              <a:defRPr sz="1500" b="0">
                <a:solidFill>
                  <a:srgbClr val="A3A89D"/>
                </a:solidFill>
                <a:latin typeface="DejaVu Sans"/>
                <a:ea typeface="DejaVu Sans"/>
                <a:cs typeface="DejaVu Sans"/>
              </a:defRPr>
            </a:lvl3pPr>
            <a:lvl4pPr algn="ctr">
              <a:defRPr sz="1500" b="0">
                <a:solidFill>
                  <a:srgbClr val="A3A89D"/>
                </a:solidFill>
                <a:latin typeface="DejaVu Sans"/>
                <a:ea typeface="DejaVu Sans"/>
                <a:cs typeface="DejaVu Sans"/>
              </a:defRPr>
            </a:lvl4pPr>
            <a:lvl5pPr algn="ctr">
              <a:defRPr sz="1500" b="0">
                <a:solidFill>
                  <a:srgbClr val="A3A89D"/>
                </a:solidFill>
                <a:latin typeface="DejaVu Sans"/>
                <a:ea typeface="DejaVu Sans"/>
                <a:cs typeface="DejaVu Sans"/>
              </a:defRPr>
            </a:lvl5pPr>
            <a:lvl6pPr algn="ctr">
              <a:defRPr sz="1500" b="0">
                <a:solidFill>
                  <a:srgbClr val="A3A89D"/>
                </a:solidFill>
                <a:latin typeface="DejaVu Sans"/>
                <a:ea typeface="DejaVu Sans"/>
                <a:cs typeface="DejaVu Sans"/>
              </a:defRPr>
            </a:lvl6pPr>
            <a:lvl7pPr algn="ctr">
              <a:defRPr sz="1500" b="0">
                <a:solidFill>
                  <a:srgbClr val="A3A89D"/>
                </a:solidFill>
                <a:latin typeface="DejaVu Sans"/>
                <a:ea typeface="DejaVu Sans"/>
                <a:cs typeface="DejaVu Sans"/>
              </a:defRPr>
            </a:lvl7pPr>
            <a:lvl8pPr algn="ctr">
              <a:defRPr sz="1500" b="0">
                <a:solidFill>
                  <a:srgbClr val="A3A89D"/>
                </a:solidFill>
                <a:latin typeface="DejaVu Sans"/>
                <a:ea typeface="DejaVu Sans"/>
                <a:cs typeface="DejaVu Sans"/>
              </a:defRPr>
            </a:lvl8pPr>
            <a:lvl9pPr algn="ctr">
              <a:defRPr sz="1500" b="0">
                <a:solidFill>
                  <a:srgbClr val="A3A89D"/>
                </a:solidFill>
                <a:latin typeface="DejaVu Sans"/>
                <a:ea typeface="DejaVu Sans"/>
                <a:cs typeface="DejaVu Sans"/>
              </a:defRPr>
            </a:lvl9pPr>
          </a:lstStyle>
          <a:p xmlns:a="http://schemas.openxmlformats.org/drawingml/2006/main">
            <a:pPr algn="ctr">
              <a:defRPr sz="1500" b="0">
                <a:solidFill>
                  <a:srgbClr val="A3A89D"/>
                </a:solidFill>
                <a:latin typeface="DejaVu Sans"/>
                <a:ea typeface="DejaVu Sans"/>
                <a:cs typeface="DejaVu Sans"/>
              </a:defRPr>
            </a:pPr>
            <a:r>
              <a:rPr sz="1500" b="0">
                <a:solidFill>
                  <a:srgbClr val="A3A89D"/>
                </a:solidFill>
                <a:latin typeface="DejaVu Sans"/>
                <a:ea typeface="DejaVu Sans"/>
                <a:cs typeface="DejaVu Sans"/>
              </a:rPr>
              <a:t>Checkpoint finalized</a:t>
            </a:r>
          </a:p>
        </p:txBody>
      </p:sp>
      <p:sp>
        <p:nvSpPr>
          <p:cNvPr id="21" name="grandpa-formula">
            <a:extLst xmlns:a="http://schemas.openxmlformats.org/drawingml/2006/main">
              <a:ext uri="{FF2B5EF4-FFF2-40B4-BE49-F238E27FC236}">
                <a16:creationId xmlns:a16="http://schemas.microsoft.com/office/drawing/2014/main" id="{9762E526-3693-4AEF-8AD1-63156ACA75EE}"/>
              </a:ext>
            </a:extLst>
          </p:cNvPr>
          <p:cNvSpPr>
            <a:spLocks xmlns:a="http://schemas.openxmlformats.org/drawingml/2006/main" noGrp="1"/>
          </p:cNvSpPr>
          <p:nvPr/>
        </p:nvSpPr>
        <p:spPr>
          <a:xfrm xmlns:a="http://schemas.openxmlformats.org/drawingml/2006/main">
            <a:off x="2000250" y="41529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A995FF"/>
                </a:solidFill>
                <a:latin typeface="DejaVu Sans"/>
                <a:ea typeface="DejaVu Sans"/>
                <a:cs typeface="DejaVu Sans"/>
              </a:defRPr>
            </a:defPPr>
            <a:lvl1pPr algn="ctr">
              <a:defRPr sz="1425" b="1">
                <a:solidFill>
                  <a:srgbClr val="A995FF"/>
                </a:solidFill>
                <a:latin typeface="DejaVu Sans"/>
                <a:ea typeface="DejaVu Sans"/>
                <a:cs typeface="DejaVu Sans"/>
              </a:defRPr>
            </a:lvl1pPr>
            <a:lvl2pPr algn="ctr">
              <a:defRPr sz="1425" b="1">
                <a:solidFill>
                  <a:srgbClr val="A995FF"/>
                </a:solidFill>
                <a:latin typeface="DejaVu Sans"/>
                <a:ea typeface="DejaVu Sans"/>
                <a:cs typeface="DejaVu Sans"/>
              </a:defRPr>
            </a:lvl2pPr>
            <a:lvl3pPr algn="ctr">
              <a:defRPr sz="1425" b="1">
                <a:solidFill>
                  <a:srgbClr val="A995FF"/>
                </a:solidFill>
                <a:latin typeface="DejaVu Sans"/>
                <a:ea typeface="DejaVu Sans"/>
                <a:cs typeface="DejaVu Sans"/>
              </a:defRPr>
            </a:lvl3pPr>
            <a:lvl4pPr algn="ctr">
              <a:defRPr sz="1425" b="1">
                <a:solidFill>
                  <a:srgbClr val="A995FF"/>
                </a:solidFill>
                <a:latin typeface="DejaVu Sans"/>
                <a:ea typeface="DejaVu Sans"/>
                <a:cs typeface="DejaVu Sans"/>
              </a:defRPr>
            </a:lvl4pPr>
            <a:lvl5pPr algn="ctr">
              <a:defRPr sz="1425" b="1">
                <a:solidFill>
                  <a:srgbClr val="A995FF"/>
                </a:solidFill>
                <a:latin typeface="DejaVu Sans"/>
                <a:ea typeface="DejaVu Sans"/>
                <a:cs typeface="DejaVu Sans"/>
              </a:defRPr>
            </a:lvl5pPr>
            <a:lvl6pPr algn="ctr">
              <a:defRPr sz="1425" b="1">
                <a:solidFill>
                  <a:srgbClr val="A995FF"/>
                </a:solidFill>
                <a:latin typeface="DejaVu Sans"/>
                <a:ea typeface="DejaVu Sans"/>
                <a:cs typeface="DejaVu Sans"/>
              </a:defRPr>
            </a:lvl6pPr>
            <a:lvl7pPr algn="ctr">
              <a:defRPr sz="1425" b="1">
                <a:solidFill>
                  <a:srgbClr val="A995FF"/>
                </a:solidFill>
                <a:latin typeface="DejaVu Sans"/>
                <a:ea typeface="DejaVu Sans"/>
                <a:cs typeface="DejaVu Sans"/>
              </a:defRPr>
            </a:lvl7pPr>
            <a:lvl8pPr algn="ctr">
              <a:defRPr sz="1425" b="1">
                <a:solidFill>
                  <a:srgbClr val="A995FF"/>
                </a:solidFill>
                <a:latin typeface="DejaVu Sans"/>
                <a:ea typeface="DejaVu Sans"/>
                <a:cs typeface="DejaVu Sans"/>
              </a:defRPr>
            </a:lvl8pPr>
            <a:lvl9pPr algn="ctr">
              <a:defRPr sz="1425" b="1">
                <a:solidFill>
                  <a:srgbClr val="A995FF"/>
                </a:solidFill>
                <a:latin typeface="DejaVu Sans"/>
                <a:ea typeface="DejaVu Sans"/>
                <a:cs typeface="DejaVu Sans"/>
              </a:defRPr>
            </a:lvl9pPr>
          </a:lstStyle>
          <a:p xmlns:a="http://schemas.openxmlformats.org/drawingml/2006/main">
            <a:pPr algn="ctr">
              <a:defRPr sz="1425" b="1">
                <a:solidFill>
                  <a:srgbClr val="A995FF"/>
                </a:solidFill>
                <a:latin typeface="DejaVu Sans"/>
                <a:ea typeface="DejaVu Sans"/>
                <a:cs typeface="DejaVu Sans"/>
              </a:defRPr>
            </a:pPr>
            <a:r>
              <a:rPr sz="1425" b="1">
                <a:solidFill>
                  <a:srgbClr val="A995FF"/>
                </a:solidFill>
                <a:latin typeface="DejaVu Sans"/>
                <a:ea typeface="DejaVu Sans"/>
                <a:cs typeface="DejaVu Sans"/>
              </a:rPr>
              <a:t>GRANDPA LAG  =  BEST  −  GRANDPA</a:t>
            </a:r>
          </a:p>
        </p:txBody>
      </p:sp>
      <p:sp>
        <p:nvSpPr>
          <p:cNvPr id="22" name="beefy-formula">
            <a:extLst xmlns:a="http://schemas.openxmlformats.org/drawingml/2006/main">
              <a:ext uri="{FF2B5EF4-FFF2-40B4-BE49-F238E27FC236}">
                <a16:creationId xmlns:a16="http://schemas.microsoft.com/office/drawing/2014/main" id="{0FE990D6-0EA9-4CB0-A07A-7BBD33DC7C30}"/>
              </a:ext>
            </a:extLst>
          </p:cNvPr>
          <p:cNvSpPr>
            <a:spLocks xmlns:a="http://schemas.openxmlformats.org/drawingml/2006/main" noGrp="1"/>
          </p:cNvSpPr>
          <p:nvPr/>
        </p:nvSpPr>
        <p:spPr>
          <a:xfrm xmlns:a="http://schemas.openxmlformats.org/drawingml/2006/main">
            <a:off x="6210300" y="415290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73DCE1"/>
                </a:solidFill>
                <a:latin typeface="DejaVu Sans"/>
                <a:ea typeface="DejaVu Sans"/>
                <a:cs typeface="DejaVu Sans"/>
              </a:defRPr>
            </a:defPPr>
            <a:lvl1pPr algn="ctr">
              <a:defRPr sz="1425" b="1">
                <a:solidFill>
                  <a:srgbClr val="73DCE1"/>
                </a:solidFill>
                <a:latin typeface="DejaVu Sans"/>
                <a:ea typeface="DejaVu Sans"/>
                <a:cs typeface="DejaVu Sans"/>
              </a:defRPr>
            </a:lvl1pPr>
            <a:lvl2pPr algn="ctr">
              <a:defRPr sz="1425" b="1">
                <a:solidFill>
                  <a:srgbClr val="73DCE1"/>
                </a:solidFill>
                <a:latin typeface="DejaVu Sans"/>
                <a:ea typeface="DejaVu Sans"/>
                <a:cs typeface="DejaVu Sans"/>
              </a:defRPr>
            </a:lvl2pPr>
            <a:lvl3pPr algn="ctr">
              <a:defRPr sz="1425" b="1">
                <a:solidFill>
                  <a:srgbClr val="73DCE1"/>
                </a:solidFill>
                <a:latin typeface="DejaVu Sans"/>
                <a:ea typeface="DejaVu Sans"/>
                <a:cs typeface="DejaVu Sans"/>
              </a:defRPr>
            </a:lvl3pPr>
            <a:lvl4pPr algn="ctr">
              <a:defRPr sz="1425" b="1">
                <a:solidFill>
                  <a:srgbClr val="73DCE1"/>
                </a:solidFill>
                <a:latin typeface="DejaVu Sans"/>
                <a:ea typeface="DejaVu Sans"/>
                <a:cs typeface="DejaVu Sans"/>
              </a:defRPr>
            </a:lvl4pPr>
            <a:lvl5pPr algn="ctr">
              <a:defRPr sz="1425" b="1">
                <a:solidFill>
                  <a:srgbClr val="73DCE1"/>
                </a:solidFill>
                <a:latin typeface="DejaVu Sans"/>
                <a:ea typeface="DejaVu Sans"/>
                <a:cs typeface="DejaVu Sans"/>
              </a:defRPr>
            </a:lvl5pPr>
            <a:lvl6pPr algn="ctr">
              <a:defRPr sz="1425" b="1">
                <a:solidFill>
                  <a:srgbClr val="73DCE1"/>
                </a:solidFill>
                <a:latin typeface="DejaVu Sans"/>
                <a:ea typeface="DejaVu Sans"/>
                <a:cs typeface="DejaVu Sans"/>
              </a:defRPr>
            </a:lvl6pPr>
            <a:lvl7pPr algn="ctr">
              <a:defRPr sz="1425" b="1">
                <a:solidFill>
                  <a:srgbClr val="73DCE1"/>
                </a:solidFill>
                <a:latin typeface="DejaVu Sans"/>
                <a:ea typeface="DejaVu Sans"/>
                <a:cs typeface="DejaVu Sans"/>
              </a:defRPr>
            </a:lvl7pPr>
            <a:lvl8pPr algn="ctr">
              <a:defRPr sz="1425" b="1">
                <a:solidFill>
                  <a:srgbClr val="73DCE1"/>
                </a:solidFill>
                <a:latin typeface="DejaVu Sans"/>
                <a:ea typeface="DejaVu Sans"/>
                <a:cs typeface="DejaVu Sans"/>
              </a:defRPr>
            </a:lvl8pPr>
            <a:lvl9pPr algn="ctr">
              <a:defRPr sz="1425" b="1">
                <a:solidFill>
                  <a:srgbClr val="73DCE1"/>
                </a:solidFill>
                <a:latin typeface="DejaVu Sans"/>
                <a:ea typeface="DejaVu Sans"/>
                <a:cs typeface="DejaVu Sans"/>
              </a:defRPr>
            </a:lvl9pPr>
          </a:lstStyle>
          <a:p xmlns:a="http://schemas.openxmlformats.org/drawingml/2006/main">
            <a:pPr algn="ctr">
              <a:defRPr sz="1425" b="1">
                <a:solidFill>
                  <a:srgbClr val="73DCE1"/>
                </a:solidFill>
                <a:latin typeface="DejaVu Sans"/>
                <a:ea typeface="DejaVu Sans"/>
                <a:cs typeface="DejaVu Sans"/>
              </a:defRPr>
            </a:pPr>
            <a:r>
              <a:rPr sz="1425" b="1">
                <a:solidFill>
                  <a:srgbClr val="73DCE1"/>
                </a:solidFill>
                <a:latin typeface="DejaVu Sans"/>
                <a:ea typeface="DejaVu Sans"/>
                <a:cs typeface="DejaVu Sans"/>
              </a:rPr>
              <a:t>BEEFY LAG  =  GRANDPA  −  BEEFY</a:t>
            </a:r>
          </a:p>
        </p:txBody>
      </p:sp>
      <p:sp>
        <p:nvSpPr>
          <p:cNvPr id="23" name="rule-70-510">
            <a:extLst xmlns:a="http://schemas.openxmlformats.org/drawingml/2006/main">
              <a:ext uri="{FF2B5EF4-FFF2-40B4-BE49-F238E27FC236}">
                <a16:creationId xmlns:a16="http://schemas.microsoft.com/office/drawing/2014/main" id="{54650805-F056-4257-A4BB-FE58371A2A26}"/>
              </a:ext>
            </a:extLst>
          </p:cNvPr>
          <p:cNvSpPr>
            <a:spLocks xmlns:a="http://schemas.openxmlformats.org/drawingml/2006/main" noGrp="1"/>
          </p:cNvSpPr>
          <p:nvPr/>
        </p:nvSpPr>
        <p:spPr>
          <a:xfrm xmlns:a="http://schemas.openxmlformats.org/drawingml/2006/main">
            <a:off x="666750" y="48577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24" name="problem-takeaway">
            <a:extLst xmlns:a="http://schemas.openxmlformats.org/drawingml/2006/main">
              <a:ext uri="{FF2B5EF4-FFF2-40B4-BE49-F238E27FC236}">
                <a16:creationId xmlns:a16="http://schemas.microsoft.com/office/drawing/2014/main" id="{B73B5481-969F-43AF-B21C-C3B4CE600A6A}"/>
              </a:ext>
            </a:extLst>
          </p:cNvPr>
          <p:cNvSpPr>
            <a:spLocks xmlns:a="http://schemas.openxmlformats.org/drawingml/2006/main" noGrp="1"/>
          </p:cNvSpPr>
          <p:nvPr/>
        </p:nvSpPr>
        <p:spPr>
          <a:xfrm xmlns:a="http://schemas.openxmlformats.org/drawingml/2006/main">
            <a:off x="666750" y="5048250"/>
            <a:ext cx="1085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473"/>
          </a:bodyPr>
          <a:lstStyle xmlns:a="http://schemas.openxmlformats.org/drawingml/2006/main">
            <a:defPPr algn="l">
              <a:defRPr sz="1800" b="1">
                <a:solidFill>
                  <a:srgbClr val="EEF0E8"/>
                </a:solidFill>
                <a:latin typeface="DejaVu Sans"/>
                <a:ea typeface="DejaVu Sans"/>
                <a:cs typeface="DejaVu Sans"/>
              </a:defRPr>
            </a:defPPr>
            <a:lvl1pPr algn="l">
              <a:defRPr sz="1800" b="1">
                <a:solidFill>
                  <a:srgbClr val="EEF0E8"/>
                </a:solidFill>
                <a:latin typeface="DejaVu Sans"/>
                <a:ea typeface="DejaVu Sans"/>
                <a:cs typeface="DejaVu Sans"/>
              </a:defRPr>
            </a:lvl1pPr>
            <a:lvl2pPr algn="l">
              <a:defRPr sz="1800" b="1">
                <a:solidFill>
                  <a:srgbClr val="EEF0E8"/>
                </a:solidFill>
                <a:latin typeface="DejaVu Sans"/>
                <a:ea typeface="DejaVu Sans"/>
                <a:cs typeface="DejaVu Sans"/>
              </a:defRPr>
            </a:lvl2pPr>
            <a:lvl3pPr algn="l">
              <a:defRPr sz="1800" b="1">
                <a:solidFill>
                  <a:srgbClr val="EEF0E8"/>
                </a:solidFill>
                <a:latin typeface="DejaVu Sans"/>
                <a:ea typeface="DejaVu Sans"/>
                <a:cs typeface="DejaVu Sans"/>
              </a:defRPr>
            </a:lvl3pPr>
            <a:lvl4pPr algn="l">
              <a:defRPr sz="1800" b="1">
                <a:solidFill>
                  <a:srgbClr val="EEF0E8"/>
                </a:solidFill>
                <a:latin typeface="DejaVu Sans"/>
                <a:ea typeface="DejaVu Sans"/>
                <a:cs typeface="DejaVu Sans"/>
              </a:defRPr>
            </a:lvl4pPr>
            <a:lvl5pPr algn="l">
              <a:defRPr sz="1800" b="1">
                <a:solidFill>
                  <a:srgbClr val="EEF0E8"/>
                </a:solidFill>
                <a:latin typeface="DejaVu Sans"/>
                <a:ea typeface="DejaVu Sans"/>
                <a:cs typeface="DejaVu Sans"/>
              </a:defRPr>
            </a:lvl5pPr>
            <a:lvl6pPr algn="l">
              <a:defRPr sz="1800" b="1">
                <a:solidFill>
                  <a:srgbClr val="EEF0E8"/>
                </a:solidFill>
                <a:latin typeface="DejaVu Sans"/>
                <a:ea typeface="DejaVu Sans"/>
                <a:cs typeface="DejaVu Sans"/>
              </a:defRPr>
            </a:lvl6pPr>
            <a:lvl7pPr algn="l">
              <a:defRPr sz="1800" b="1">
                <a:solidFill>
                  <a:srgbClr val="EEF0E8"/>
                </a:solidFill>
                <a:latin typeface="DejaVu Sans"/>
                <a:ea typeface="DejaVu Sans"/>
                <a:cs typeface="DejaVu Sans"/>
              </a:defRPr>
            </a:lvl7pPr>
            <a:lvl8pPr algn="l">
              <a:defRPr sz="1800" b="1">
                <a:solidFill>
                  <a:srgbClr val="EEF0E8"/>
                </a:solidFill>
                <a:latin typeface="DejaVu Sans"/>
                <a:ea typeface="DejaVu Sans"/>
                <a:cs typeface="DejaVu Sans"/>
              </a:defRPr>
            </a:lvl8pPr>
            <a:lvl9pPr algn="l">
              <a:defRPr sz="1800" b="1">
                <a:solidFill>
                  <a:srgbClr val="EEF0E8"/>
                </a:solidFill>
                <a:latin typeface="DejaVu Sans"/>
                <a:ea typeface="DejaVu Sans"/>
                <a:cs typeface="DejaVu Sans"/>
              </a:defRPr>
            </a:lvl9pPr>
          </a:lstStyle>
          <a:p xmlns:a="http://schemas.openxmlformats.org/drawingml/2006/main">
            <a:pPr algn="l">
              <a:defRPr sz="1800" b="1">
                <a:solidFill>
                  <a:srgbClr val="EEF0E8"/>
                </a:solidFill>
                <a:latin typeface="DejaVu Sans"/>
                <a:ea typeface="DejaVu Sans"/>
                <a:cs typeface="DejaVu Sans"/>
              </a:defRPr>
            </a:pPr>
            <a:r>
              <a:rPr sz="1800" b="1">
                <a:solidFill>
                  <a:srgbClr val="EEF0E8"/>
                </a:solidFill>
                <a:latin typeface="DejaVu Sans"/>
                <a:ea typeface="DejaVu Sans"/>
                <a:cs typeface="DejaVu Sans"/>
              </a:rPr>
              <a:t>RIFT puts lag, source freshness, thresholds, and session-local authors in one operator view.</a:t>
            </a:r>
          </a:p>
        </p:txBody>
      </p:sp>
      <p:sp>
        <p:nvSpPr>
          <p:cNvPr id="25" name="user-hypothesis">
            <a:extLst xmlns:a="http://schemas.openxmlformats.org/drawingml/2006/main">
              <a:ext uri="{FF2B5EF4-FFF2-40B4-BE49-F238E27FC236}">
                <a16:creationId xmlns:a16="http://schemas.microsoft.com/office/drawing/2014/main" id="{41242A53-8A56-4085-BDE7-A23AD9A18EA0}"/>
              </a:ext>
            </a:extLst>
          </p:cNvPr>
          <p:cNvSpPr>
            <a:spLocks xmlns:a="http://schemas.openxmlformats.org/drawingml/2006/main" noGrp="1"/>
          </p:cNvSpPr>
          <p:nvPr/>
        </p:nvSpPr>
        <p:spPr>
          <a:xfrm xmlns:a="http://schemas.openxmlformats.org/drawingml/2006/main">
            <a:off x="666750" y="560070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3A89D"/>
                </a:solidFill>
                <a:latin typeface="DejaVu Sans"/>
                <a:ea typeface="DejaVu Sans"/>
                <a:cs typeface="DejaVu Sans"/>
              </a:defRPr>
            </a:defPPr>
            <a:lvl1pPr algn="l">
              <a:defRPr sz="1350" b="0">
                <a:solidFill>
                  <a:srgbClr val="A3A89D"/>
                </a:solidFill>
                <a:latin typeface="DejaVu Sans"/>
                <a:ea typeface="DejaVu Sans"/>
                <a:cs typeface="DejaVu Sans"/>
              </a:defRPr>
            </a:lvl1pPr>
            <a:lvl2pPr algn="l">
              <a:defRPr sz="1350" b="0">
                <a:solidFill>
                  <a:srgbClr val="A3A89D"/>
                </a:solidFill>
                <a:latin typeface="DejaVu Sans"/>
                <a:ea typeface="DejaVu Sans"/>
                <a:cs typeface="DejaVu Sans"/>
              </a:defRPr>
            </a:lvl2pPr>
            <a:lvl3pPr algn="l">
              <a:defRPr sz="1350" b="0">
                <a:solidFill>
                  <a:srgbClr val="A3A89D"/>
                </a:solidFill>
                <a:latin typeface="DejaVu Sans"/>
                <a:ea typeface="DejaVu Sans"/>
                <a:cs typeface="DejaVu Sans"/>
              </a:defRPr>
            </a:lvl3pPr>
            <a:lvl4pPr algn="l">
              <a:defRPr sz="1350" b="0">
                <a:solidFill>
                  <a:srgbClr val="A3A89D"/>
                </a:solidFill>
                <a:latin typeface="DejaVu Sans"/>
                <a:ea typeface="DejaVu Sans"/>
                <a:cs typeface="DejaVu Sans"/>
              </a:defRPr>
            </a:lvl4pPr>
            <a:lvl5pPr algn="l">
              <a:defRPr sz="1350" b="0">
                <a:solidFill>
                  <a:srgbClr val="A3A89D"/>
                </a:solidFill>
                <a:latin typeface="DejaVu Sans"/>
                <a:ea typeface="DejaVu Sans"/>
                <a:cs typeface="DejaVu Sans"/>
              </a:defRPr>
            </a:lvl5pPr>
            <a:lvl6pPr algn="l">
              <a:defRPr sz="1350" b="0">
                <a:solidFill>
                  <a:srgbClr val="A3A89D"/>
                </a:solidFill>
                <a:latin typeface="DejaVu Sans"/>
                <a:ea typeface="DejaVu Sans"/>
                <a:cs typeface="DejaVu Sans"/>
              </a:defRPr>
            </a:lvl6pPr>
            <a:lvl7pPr algn="l">
              <a:defRPr sz="1350" b="0">
                <a:solidFill>
                  <a:srgbClr val="A3A89D"/>
                </a:solidFill>
                <a:latin typeface="DejaVu Sans"/>
                <a:ea typeface="DejaVu Sans"/>
                <a:cs typeface="DejaVu Sans"/>
              </a:defRPr>
            </a:lvl7pPr>
            <a:lvl8pPr algn="l">
              <a:defRPr sz="1350" b="0">
                <a:solidFill>
                  <a:srgbClr val="A3A89D"/>
                </a:solidFill>
                <a:latin typeface="DejaVu Sans"/>
                <a:ea typeface="DejaVu Sans"/>
                <a:cs typeface="DejaVu Sans"/>
              </a:defRPr>
            </a:lvl8pPr>
            <a:lvl9pPr algn="l">
              <a:defRPr sz="1350" b="0">
                <a:solidFill>
                  <a:srgbClr val="A3A89D"/>
                </a:solidFill>
                <a:latin typeface="DejaVu Sans"/>
                <a:ea typeface="DejaVu Sans"/>
                <a:cs typeface="DejaVu Sans"/>
              </a:defRPr>
            </a:lvl9pPr>
          </a:lstStyle>
          <a:p xmlns:a="http://schemas.openxmlformats.org/drawingml/2006/main">
            <a:pPr algn="l">
              <a:defRPr sz="1350" b="0">
                <a:solidFill>
                  <a:srgbClr val="A3A89D"/>
                </a:solidFill>
                <a:latin typeface="DejaVu Sans"/>
                <a:ea typeface="DejaVu Sans"/>
                <a:cs typeface="DejaVu Sans"/>
              </a:defRPr>
            </a:pPr>
            <a:r>
              <a:rPr sz="1350" b="0">
                <a:solidFill>
                  <a:srgbClr val="A3A89D"/>
                </a:solidFill>
                <a:latin typeface="DejaVu Sans"/>
                <a:ea typeface="DejaVu Sans"/>
                <a:cs typeface="DejaVu Sans"/>
              </a:rPr>
              <a:t>Initial user hypothesis: Portaldot node and validator-program operators.</a:t>
            </a:r>
          </a:p>
        </p:txBody>
      </p:sp>
    </p:spTree>
    <p:extLst>
      <p:ext uri="{BB962C8B-B14F-4D97-AF65-F5344CB8AC3E}">
        <p14:creationId xmlns:p14="http://schemas.microsoft.com/office/powerpoint/2010/main" val="826199046"/>
      </p:ext>
    </p:extLst>
  </p:cSld>
</p:sld>
</file>

<file path=ppt/slides/slide3.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sp>
        <p:nvSpPr>
          <p:cNvPr id="18" name="eyebrow-3">
            <a:extLst xmlns:a="http://schemas.openxmlformats.org/drawingml/2006/main">
              <a:ext uri="{FF2B5EF4-FFF2-40B4-BE49-F238E27FC236}">
                <a16:creationId xmlns:a16="http://schemas.microsoft.com/office/drawing/2014/main" id="{1D5BED3D-243D-4F9B-B869-65F5058DC795}"/>
              </a:ext>
            </a:extLst>
          </p:cNvPr>
          <p:cNvSpPr>
            <a:spLocks xmlns:a="http://schemas.openxmlformats.org/drawingml/2006/main" noGrp="1"/>
          </p:cNvSpPr>
          <p:nvPr/>
        </p:nvSpPr>
        <p:spPr>
          <a:xfrm xmlns:a="http://schemas.openxmlformats.org/drawingml/2006/main">
            <a:off x="6667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RIFT  /  PORTALDOT V3</a:t>
            </a:r>
          </a:p>
        </p:txBody>
      </p:sp>
      <p:sp>
        <p:nvSpPr>
          <p:cNvPr id="2" name="title-3">
            <a:extLst xmlns:a="http://schemas.openxmlformats.org/drawingml/2006/main">
              <a:ext uri="{FF2B5EF4-FFF2-40B4-BE49-F238E27FC236}">
                <a16:creationId xmlns:a16="http://schemas.microsoft.com/office/drawing/2014/main" id="{0D80E1F9-86FD-4100-A344-21AEC3C21149}"/>
              </a:ext>
            </a:extLst>
          </p:cNvPr>
          <p:cNvSpPr>
            <a:spLocks xmlns:a="http://schemas.openxmlformats.org/drawingml/2006/main" noGrp="1"/>
          </p:cNvSpPr>
          <p:nvPr/>
        </p:nvSpPr>
        <p:spPr>
          <a:xfrm xmlns:a="http://schemas.openxmlformats.org/drawingml/2006/main">
            <a:off x="666750" y="6381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Live network signal</a:t>
            </a:r>
          </a:p>
        </p:txBody>
      </p:sp>
      <p:sp>
        <p:nvSpPr>
          <p:cNvPr id="3" name="subtitle-3">
            <a:extLst xmlns:a="http://schemas.openxmlformats.org/drawingml/2006/main">
              <a:ext uri="{FF2B5EF4-FFF2-40B4-BE49-F238E27FC236}">
                <a16:creationId xmlns:a16="http://schemas.microsoft.com/office/drawing/2014/main" id="{9C346367-331D-4B33-BDA1-E77264A525D9}"/>
              </a:ext>
            </a:extLst>
          </p:cNvPr>
          <p:cNvSpPr>
            <a:spLocks xmlns:a="http://schemas.openxmlformats.org/drawingml/2006/main" noGrp="1"/>
          </p:cNvSpPr>
          <p:nvPr/>
        </p:nvSpPr>
        <p:spPr>
          <a:xfrm xmlns:a="http://schemas.openxmlformats.org/drawingml/2006/main">
            <a:off x="666750" y="121920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3A89D"/>
                </a:solidFill>
                <a:latin typeface="DejaVu Sans"/>
                <a:ea typeface="DejaVu Sans"/>
                <a:cs typeface="DejaVu Sans"/>
              </a:defRPr>
            </a:defPPr>
            <a:lvl1pPr algn="l">
              <a:defRPr sz="1650" b="0">
                <a:solidFill>
                  <a:srgbClr val="A3A89D"/>
                </a:solidFill>
                <a:latin typeface="DejaVu Sans"/>
                <a:ea typeface="DejaVu Sans"/>
                <a:cs typeface="DejaVu Sans"/>
              </a:defRPr>
            </a:lvl1pPr>
            <a:lvl2pPr algn="l">
              <a:defRPr sz="1650" b="0">
                <a:solidFill>
                  <a:srgbClr val="A3A89D"/>
                </a:solidFill>
                <a:latin typeface="DejaVu Sans"/>
                <a:ea typeface="DejaVu Sans"/>
                <a:cs typeface="DejaVu Sans"/>
              </a:defRPr>
            </a:lvl2pPr>
            <a:lvl3pPr algn="l">
              <a:defRPr sz="1650" b="0">
                <a:solidFill>
                  <a:srgbClr val="A3A89D"/>
                </a:solidFill>
                <a:latin typeface="DejaVu Sans"/>
                <a:ea typeface="DejaVu Sans"/>
                <a:cs typeface="DejaVu Sans"/>
              </a:defRPr>
            </a:lvl3pPr>
            <a:lvl4pPr algn="l">
              <a:defRPr sz="1650" b="0">
                <a:solidFill>
                  <a:srgbClr val="A3A89D"/>
                </a:solidFill>
                <a:latin typeface="DejaVu Sans"/>
                <a:ea typeface="DejaVu Sans"/>
                <a:cs typeface="DejaVu Sans"/>
              </a:defRPr>
            </a:lvl4pPr>
            <a:lvl5pPr algn="l">
              <a:defRPr sz="1650" b="0">
                <a:solidFill>
                  <a:srgbClr val="A3A89D"/>
                </a:solidFill>
                <a:latin typeface="DejaVu Sans"/>
                <a:ea typeface="DejaVu Sans"/>
                <a:cs typeface="DejaVu Sans"/>
              </a:defRPr>
            </a:lvl5pPr>
            <a:lvl6pPr algn="l">
              <a:defRPr sz="1650" b="0">
                <a:solidFill>
                  <a:srgbClr val="A3A89D"/>
                </a:solidFill>
                <a:latin typeface="DejaVu Sans"/>
                <a:ea typeface="DejaVu Sans"/>
                <a:cs typeface="DejaVu Sans"/>
              </a:defRPr>
            </a:lvl6pPr>
            <a:lvl7pPr algn="l">
              <a:defRPr sz="1650" b="0">
                <a:solidFill>
                  <a:srgbClr val="A3A89D"/>
                </a:solidFill>
                <a:latin typeface="DejaVu Sans"/>
                <a:ea typeface="DejaVu Sans"/>
                <a:cs typeface="DejaVu Sans"/>
              </a:defRPr>
            </a:lvl7pPr>
            <a:lvl8pPr algn="l">
              <a:defRPr sz="1650" b="0">
                <a:solidFill>
                  <a:srgbClr val="A3A89D"/>
                </a:solidFill>
                <a:latin typeface="DejaVu Sans"/>
                <a:ea typeface="DejaVu Sans"/>
                <a:cs typeface="DejaVu Sans"/>
              </a:defRPr>
            </a:lvl8pPr>
            <a:lvl9pPr algn="l">
              <a:defRPr sz="1650" b="0">
                <a:solidFill>
                  <a:srgbClr val="A3A89D"/>
                </a:solidFill>
                <a:latin typeface="DejaVu Sans"/>
                <a:ea typeface="DejaVu Sans"/>
                <a:cs typeface="DejaVu Sans"/>
              </a:defRPr>
            </a:lvl9pPr>
          </a:lstStyle>
          <a:p xmlns:a="http://schemas.openxmlformats.org/drawingml/2006/main">
            <a:pPr algn="l">
              <a:defRPr sz="1650" b="0">
                <a:solidFill>
                  <a:srgbClr val="A3A89D"/>
                </a:solidFill>
                <a:latin typeface="DejaVu Sans"/>
                <a:ea typeface="DejaVu Sans"/>
                <a:cs typeface="DejaVu Sans"/>
              </a:defRPr>
            </a:pPr>
            <a:r>
              <a:rPr sz="1650" b="0">
                <a:solidFill>
                  <a:srgbClr val="A3A89D"/>
                </a:solidFill>
                <a:latin typeface="DejaVu Sans"/>
                <a:ea typeface="DejaVu Sans"/>
                <a:cs typeface="DejaVu Sans"/>
              </a:rPr>
              <a:t>Portaldot V3 Substrate RPC · live capture from 29 October 2026</a:t>
            </a:r>
          </a:p>
        </p:txBody>
      </p:sp>
      <p:sp>
        <p:nvSpPr>
          <p:cNvPr id="4" name="rule-70-177">
            <a:extLst xmlns:a="http://schemas.openxmlformats.org/drawingml/2006/main">
              <a:ext uri="{FF2B5EF4-FFF2-40B4-BE49-F238E27FC236}">
                <a16:creationId xmlns:a16="http://schemas.microsoft.com/office/drawing/2014/main" id="{9EA9E141-E22F-4851-A776-DB3D064AF002}"/>
              </a:ext>
            </a:extLst>
          </p:cNvPr>
          <p:cNvSpPr>
            <a:spLocks xmlns:a="http://schemas.openxmlformats.org/drawingml/2006/main" noGrp="1"/>
          </p:cNvSpPr>
          <p:nvPr/>
        </p:nvSpPr>
        <p:spPr>
          <a:xfrm xmlns:a="http://schemas.openxmlformats.org/drawingml/2006/main">
            <a:off x="666750" y="1685925"/>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5" name="rule-70-674">
            <a:extLst xmlns:a="http://schemas.openxmlformats.org/drawingml/2006/main">
              <a:ext uri="{FF2B5EF4-FFF2-40B4-BE49-F238E27FC236}">
                <a16:creationId xmlns:a16="http://schemas.microsoft.com/office/drawing/2014/main" id="{59CFA70C-4A22-4CB3-88C8-DB575C5FCFD3}"/>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6" name="footer-3">
            <a:extLst xmlns:a="http://schemas.openxmlformats.org/drawingml/2006/main">
              <a:ext uri="{FF2B5EF4-FFF2-40B4-BE49-F238E27FC236}">
                <a16:creationId xmlns:a16="http://schemas.microsoft.com/office/drawing/2014/main" id="{15FCBF8A-0620-464E-A1E4-F52943BE14C0}"/>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7" name="page-3">
            <a:extLst xmlns:a="http://schemas.openxmlformats.org/drawingml/2006/main">
              <a:ext uri="{FF2B5EF4-FFF2-40B4-BE49-F238E27FC236}">
                <a16:creationId xmlns:a16="http://schemas.microsoft.com/office/drawing/2014/main" id="{7EF5BB0D-08FD-4D6F-81B6-925FDC74246E}"/>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03  /  06</a:t>
            </a:r>
          </a:p>
        </p:txBody>
      </p:sp>
      <p:sp>
        <p:nvSpPr>
          <p:cNvPr id="8" name="frame-overview-slide.png">
            <a:extLst xmlns:a="http://schemas.openxmlformats.org/drawingml/2006/main">
              <a:ext uri="{FF2B5EF4-FFF2-40B4-BE49-F238E27FC236}">
                <a16:creationId xmlns:a16="http://schemas.microsoft.com/office/drawing/2014/main" id="{9084C474-A1D4-423E-96D2-39567CD3D739}"/>
              </a:ext>
            </a:extLst>
          </p:cNvPr>
          <p:cNvSpPr>
            <a:spLocks xmlns:a="http://schemas.openxmlformats.org/drawingml/2006/main" noGrp="1"/>
          </p:cNvSpPr>
          <p:nvPr/>
        </p:nvSpPr>
        <p:spPr>
          <a:xfrm xmlns:a="http://schemas.openxmlformats.org/drawingml/2006/main">
            <a:off x="647700" y="1981200"/>
            <a:ext cx="6705600" cy="3495675"/>
          </a:xfrm>
          <a:prstGeom xmlns:a="http://schemas.openxmlformats.org/drawingml/2006/main" prst="roundRect">
            <a:avLst>
              <a:gd name="adj" fmla="val 2725"/>
            </a:avLst>
          </a:prstGeom>
          <a:solidFill xmlns:a="http://schemas.openxmlformats.org/drawingml/2006/main">
            <a:srgbClr val="141715"/>
          </a:solidFill>
          <a:ln xmlns:a="http://schemas.openxmlformats.org/drawingml/2006/main" w="9525">
            <a:solidFill>
              <a:srgbClr val="303630"/>
            </a:solidFill>
            <a:prstDash val="solid"/>
          </a:ln>
        </p:spPr>
      </p:sp>
      <p:pic>
        <p:nvPicPr>
          <p:cNvPr id="9" name="">
            <a:extLst xmlns:a="http://schemas.openxmlformats.org/drawingml/2006/main">
              <a:ext uri="{FF2B5EF4-FFF2-40B4-BE49-F238E27FC236}">
                <a16:creationId xmlns:a16="http://schemas.microsoft.com/office/drawing/2014/main" id="{CECC579E-ABD0-4331-8ECB-3C03582B54B2}"/>
              </a:ext>
            </a:extLst>
          </p:cNvPr>
          <p:cNvPicPr>
            <a:picLocks xmlns:a="http://schemas.openxmlformats.org/drawingml/2006/main" noChangeAspect="1"/>
          </p:cNvPicPr>
          <p:nvPr/>
        </p:nvPicPr>
        <p:blipFill>
          <a:blip xmlns:r="http://schemas.openxmlformats.org/officeDocument/2006/relationships" xmlns:a="http://schemas.openxmlformats.org/drawingml/2006/main" r:embed="R1eb98b9425734c01"/>
          <a:stretch xmlns:a="http://schemas.openxmlformats.org/drawingml/2006/main"/>
        </p:blipFill>
        <p:spPr>
          <a:xfrm xmlns:a="http://schemas.openxmlformats.org/drawingml/2006/main">
            <a:off x="666750" y="2002631"/>
            <a:ext cx="6667500" cy="3452813"/>
          </a:xfrm>
          <a:prstGeom xmlns:a="http://schemas.openxmlformats.org/drawingml/2006/main" prst="roundRect">
            <a:avLst>
              <a:gd name="adj" fmla="val 2204"/>
            </a:avLst>
          </a:prstGeom>
        </p:spPr>
      </p:pic>
      <p:sp>
        <p:nvSpPr>
          <p:cNvPr id="10" name="live-kicker">
            <a:extLst xmlns:a="http://schemas.openxmlformats.org/drawingml/2006/main">
              <a:ext uri="{FF2B5EF4-FFF2-40B4-BE49-F238E27FC236}">
                <a16:creationId xmlns:a16="http://schemas.microsoft.com/office/drawing/2014/main" id="{900073F0-E263-43D6-8B83-973DD913713E}"/>
              </a:ext>
            </a:extLst>
          </p:cNvPr>
          <p:cNvSpPr>
            <a:spLocks xmlns:a="http://schemas.openxmlformats.org/drawingml/2006/main" noGrp="1"/>
          </p:cNvSpPr>
          <p:nvPr/>
        </p:nvSpPr>
        <p:spPr>
          <a:xfrm xmlns:a="http://schemas.openxmlformats.org/drawingml/2006/main">
            <a:off x="7696200" y="1981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OBSERVED HEADS</a:t>
            </a:r>
          </a:p>
        </p:txBody>
      </p:sp>
      <p:sp>
        <p:nvSpPr>
          <p:cNvPr id="11" name="live-best-label">
            <a:extLst xmlns:a="http://schemas.openxmlformats.org/drawingml/2006/main">
              <a:ext uri="{FF2B5EF4-FFF2-40B4-BE49-F238E27FC236}">
                <a16:creationId xmlns:a16="http://schemas.microsoft.com/office/drawing/2014/main" id="{2B42A254-D8BD-424A-88B6-A67636B40334}"/>
              </a:ext>
            </a:extLst>
          </p:cNvPr>
          <p:cNvSpPr>
            <a:spLocks xmlns:a="http://schemas.openxmlformats.org/drawingml/2006/main" noGrp="1"/>
          </p:cNvSpPr>
          <p:nvPr/>
        </p:nvSpPr>
        <p:spPr>
          <a:xfrm xmlns:a="http://schemas.openxmlformats.org/drawingml/2006/main">
            <a:off x="7696200" y="2371725"/>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87E74"/>
                </a:solidFill>
                <a:latin typeface="DejaVu Sans"/>
                <a:ea typeface="DejaVu Sans"/>
                <a:cs typeface="DejaVu Sans"/>
              </a:defRPr>
            </a:defPPr>
            <a:lvl1pPr algn="l">
              <a:defRPr sz="1050" b="1">
                <a:solidFill>
                  <a:srgbClr val="787E74"/>
                </a:solidFill>
                <a:latin typeface="DejaVu Sans"/>
                <a:ea typeface="DejaVu Sans"/>
                <a:cs typeface="DejaVu Sans"/>
              </a:defRPr>
            </a:lvl1pPr>
            <a:lvl2pPr algn="l">
              <a:defRPr sz="1050" b="1">
                <a:solidFill>
                  <a:srgbClr val="787E74"/>
                </a:solidFill>
                <a:latin typeface="DejaVu Sans"/>
                <a:ea typeface="DejaVu Sans"/>
                <a:cs typeface="DejaVu Sans"/>
              </a:defRPr>
            </a:lvl2pPr>
            <a:lvl3pPr algn="l">
              <a:defRPr sz="1050" b="1">
                <a:solidFill>
                  <a:srgbClr val="787E74"/>
                </a:solidFill>
                <a:latin typeface="DejaVu Sans"/>
                <a:ea typeface="DejaVu Sans"/>
                <a:cs typeface="DejaVu Sans"/>
              </a:defRPr>
            </a:lvl3pPr>
            <a:lvl4pPr algn="l">
              <a:defRPr sz="1050" b="1">
                <a:solidFill>
                  <a:srgbClr val="787E74"/>
                </a:solidFill>
                <a:latin typeface="DejaVu Sans"/>
                <a:ea typeface="DejaVu Sans"/>
                <a:cs typeface="DejaVu Sans"/>
              </a:defRPr>
            </a:lvl4pPr>
            <a:lvl5pPr algn="l">
              <a:defRPr sz="1050" b="1">
                <a:solidFill>
                  <a:srgbClr val="787E74"/>
                </a:solidFill>
                <a:latin typeface="DejaVu Sans"/>
                <a:ea typeface="DejaVu Sans"/>
                <a:cs typeface="DejaVu Sans"/>
              </a:defRPr>
            </a:lvl5pPr>
            <a:lvl6pPr algn="l">
              <a:defRPr sz="1050" b="1">
                <a:solidFill>
                  <a:srgbClr val="787E74"/>
                </a:solidFill>
                <a:latin typeface="DejaVu Sans"/>
                <a:ea typeface="DejaVu Sans"/>
                <a:cs typeface="DejaVu Sans"/>
              </a:defRPr>
            </a:lvl6pPr>
            <a:lvl7pPr algn="l">
              <a:defRPr sz="1050" b="1">
                <a:solidFill>
                  <a:srgbClr val="787E74"/>
                </a:solidFill>
                <a:latin typeface="DejaVu Sans"/>
                <a:ea typeface="DejaVu Sans"/>
                <a:cs typeface="DejaVu Sans"/>
              </a:defRPr>
            </a:lvl7pPr>
            <a:lvl8pPr algn="l">
              <a:defRPr sz="1050" b="1">
                <a:solidFill>
                  <a:srgbClr val="787E74"/>
                </a:solidFill>
                <a:latin typeface="DejaVu Sans"/>
                <a:ea typeface="DejaVu Sans"/>
                <a:cs typeface="DejaVu Sans"/>
              </a:defRPr>
            </a:lvl8pPr>
            <a:lvl9pPr algn="l">
              <a:defRPr sz="1050" b="1">
                <a:solidFill>
                  <a:srgbClr val="787E74"/>
                </a:solidFill>
                <a:latin typeface="DejaVu Sans"/>
                <a:ea typeface="DejaVu Sans"/>
                <a:cs typeface="DejaVu Sans"/>
              </a:defRPr>
            </a:lvl9pPr>
          </a:lstStyle>
          <a:p xmlns:a="http://schemas.openxmlformats.org/drawingml/2006/main">
            <a:pPr algn="l">
              <a:defRPr sz="1050" b="1">
                <a:solidFill>
                  <a:srgbClr val="787E74"/>
                </a:solidFill>
                <a:latin typeface="DejaVu Sans"/>
                <a:ea typeface="DejaVu Sans"/>
                <a:cs typeface="DejaVu Sans"/>
              </a:defRPr>
            </a:pPr>
            <a:r>
              <a:rPr sz="1050" b="1">
                <a:solidFill>
                  <a:srgbClr val="787E74"/>
                </a:solidFill>
                <a:latin typeface="DejaVu Sans"/>
                <a:ea typeface="DejaVu Sans"/>
                <a:cs typeface="DejaVu Sans"/>
              </a:rPr>
              <a:t>BEST</a:t>
            </a:r>
          </a:p>
        </p:txBody>
      </p:sp>
      <p:sp>
        <p:nvSpPr>
          <p:cNvPr id="12" name="live-best">
            <a:extLst xmlns:a="http://schemas.openxmlformats.org/drawingml/2006/main">
              <a:ext uri="{FF2B5EF4-FFF2-40B4-BE49-F238E27FC236}">
                <a16:creationId xmlns:a16="http://schemas.microsoft.com/office/drawing/2014/main" id="{6C59267E-3A52-450F-8997-3F3F793ED09E}"/>
              </a:ext>
            </a:extLst>
          </p:cNvPr>
          <p:cNvSpPr>
            <a:spLocks xmlns:a="http://schemas.openxmlformats.org/drawingml/2006/main" noGrp="1"/>
          </p:cNvSpPr>
          <p:nvPr/>
        </p:nvSpPr>
        <p:spPr>
          <a:xfrm xmlns:a="http://schemas.openxmlformats.org/drawingml/2006/main">
            <a:off x="7696200" y="2600325"/>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241,485</a:t>
            </a:r>
          </a:p>
        </p:txBody>
      </p:sp>
      <p:sp>
        <p:nvSpPr>
          <p:cNvPr id="13" name="live-grandpa">
            <a:extLst xmlns:a="http://schemas.openxmlformats.org/drawingml/2006/main">
              <a:ext uri="{FF2B5EF4-FFF2-40B4-BE49-F238E27FC236}">
                <a16:creationId xmlns:a16="http://schemas.microsoft.com/office/drawing/2014/main" id="{76B31C3D-6876-450F-B38F-804A5CFCCC26}"/>
              </a:ext>
            </a:extLst>
          </p:cNvPr>
          <p:cNvSpPr>
            <a:spLocks xmlns:a="http://schemas.openxmlformats.org/drawingml/2006/main" noGrp="1"/>
          </p:cNvSpPr>
          <p:nvPr/>
        </p:nvSpPr>
        <p:spPr>
          <a:xfrm xmlns:a="http://schemas.openxmlformats.org/drawingml/2006/main">
            <a:off x="7696200" y="32766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A995FF"/>
                </a:solidFill>
                <a:latin typeface="DejaVu Sans"/>
                <a:ea typeface="DejaVu Sans"/>
                <a:cs typeface="DejaVu Sans"/>
              </a:defRPr>
            </a:defPPr>
            <a:lvl1pPr algn="l">
              <a:defRPr sz="1575" b="1">
                <a:solidFill>
                  <a:srgbClr val="A995FF"/>
                </a:solidFill>
                <a:latin typeface="DejaVu Sans"/>
                <a:ea typeface="DejaVu Sans"/>
                <a:cs typeface="DejaVu Sans"/>
              </a:defRPr>
            </a:lvl1pPr>
            <a:lvl2pPr algn="l">
              <a:defRPr sz="1575" b="1">
                <a:solidFill>
                  <a:srgbClr val="A995FF"/>
                </a:solidFill>
                <a:latin typeface="DejaVu Sans"/>
                <a:ea typeface="DejaVu Sans"/>
                <a:cs typeface="DejaVu Sans"/>
              </a:defRPr>
            </a:lvl2pPr>
            <a:lvl3pPr algn="l">
              <a:defRPr sz="1575" b="1">
                <a:solidFill>
                  <a:srgbClr val="A995FF"/>
                </a:solidFill>
                <a:latin typeface="DejaVu Sans"/>
                <a:ea typeface="DejaVu Sans"/>
                <a:cs typeface="DejaVu Sans"/>
              </a:defRPr>
            </a:lvl3pPr>
            <a:lvl4pPr algn="l">
              <a:defRPr sz="1575" b="1">
                <a:solidFill>
                  <a:srgbClr val="A995FF"/>
                </a:solidFill>
                <a:latin typeface="DejaVu Sans"/>
                <a:ea typeface="DejaVu Sans"/>
                <a:cs typeface="DejaVu Sans"/>
              </a:defRPr>
            </a:lvl4pPr>
            <a:lvl5pPr algn="l">
              <a:defRPr sz="1575" b="1">
                <a:solidFill>
                  <a:srgbClr val="A995FF"/>
                </a:solidFill>
                <a:latin typeface="DejaVu Sans"/>
                <a:ea typeface="DejaVu Sans"/>
                <a:cs typeface="DejaVu Sans"/>
              </a:defRPr>
            </a:lvl5pPr>
            <a:lvl6pPr algn="l">
              <a:defRPr sz="1575" b="1">
                <a:solidFill>
                  <a:srgbClr val="A995FF"/>
                </a:solidFill>
                <a:latin typeface="DejaVu Sans"/>
                <a:ea typeface="DejaVu Sans"/>
                <a:cs typeface="DejaVu Sans"/>
              </a:defRPr>
            </a:lvl6pPr>
            <a:lvl7pPr algn="l">
              <a:defRPr sz="1575" b="1">
                <a:solidFill>
                  <a:srgbClr val="A995FF"/>
                </a:solidFill>
                <a:latin typeface="DejaVu Sans"/>
                <a:ea typeface="DejaVu Sans"/>
                <a:cs typeface="DejaVu Sans"/>
              </a:defRPr>
            </a:lvl7pPr>
            <a:lvl8pPr algn="l">
              <a:defRPr sz="1575" b="1">
                <a:solidFill>
                  <a:srgbClr val="A995FF"/>
                </a:solidFill>
                <a:latin typeface="DejaVu Sans"/>
                <a:ea typeface="DejaVu Sans"/>
                <a:cs typeface="DejaVu Sans"/>
              </a:defRPr>
            </a:lvl8pPr>
            <a:lvl9pPr algn="l">
              <a:defRPr sz="1575" b="1">
                <a:solidFill>
                  <a:srgbClr val="A995FF"/>
                </a:solidFill>
                <a:latin typeface="DejaVu Sans"/>
                <a:ea typeface="DejaVu Sans"/>
                <a:cs typeface="DejaVu Sans"/>
              </a:defRPr>
            </a:lvl9pPr>
          </a:lstStyle>
          <a:p xmlns:a="http://schemas.openxmlformats.org/drawingml/2006/main">
            <a:pPr algn="l">
              <a:defRPr sz="1575" b="1">
                <a:solidFill>
                  <a:srgbClr val="A995FF"/>
                </a:solidFill>
                <a:latin typeface="DejaVu Sans"/>
                <a:ea typeface="DejaVu Sans"/>
                <a:cs typeface="DejaVu Sans"/>
              </a:defRPr>
            </a:pPr>
            <a:r>
              <a:rPr sz="1575" b="1">
                <a:solidFill>
                  <a:srgbClr val="A995FF"/>
                </a:solidFill>
                <a:latin typeface="DejaVu Sans"/>
                <a:ea typeface="DejaVu Sans"/>
                <a:cs typeface="DejaVu Sans"/>
              </a:rPr>
              <a:t>GRANDPA  241,483  ·  lag 2</a:t>
            </a:r>
          </a:p>
        </p:txBody>
      </p:sp>
      <p:sp>
        <p:nvSpPr>
          <p:cNvPr id="14" name="live-beefy">
            <a:extLst xmlns:a="http://schemas.openxmlformats.org/drawingml/2006/main">
              <a:ext uri="{FF2B5EF4-FFF2-40B4-BE49-F238E27FC236}">
                <a16:creationId xmlns:a16="http://schemas.microsoft.com/office/drawing/2014/main" id="{067C13B0-F89F-4DEF-9023-2166EFB7142E}"/>
              </a:ext>
            </a:extLst>
          </p:cNvPr>
          <p:cNvSpPr>
            <a:spLocks xmlns:a="http://schemas.openxmlformats.org/drawingml/2006/main" noGrp="1"/>
          </p:cNvSpPr>
          <p:nvPr/>
        </p:nvSpPr>
        <p:spPr>
          <a:xfrm xmlns:a="http://schemas.openxmlformats.org/drawingml/2006/main">
            <a:off x="7696200" y="37052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73DCE1"/>
                </a:solidFill>
                <a:latin typeface="DejaVu Sans"/>
                <a:ea typeface="DejaVu Sans"/>
                <a:cs typeface="DejaVu Sans"/>
              </a:defRPr>
            </a:defPPr>
            <a:lvl1pPr algn="l">
              <a:defRPr sz="1575" b="1">
                <a:solidFill>
                  <a:srgbClr val="73DCE1"/>
                </a:solidFill>
                <a:latin typeface="DejaVu Sans"/>
                <a:ea typeface="DejaVu Sans"/>
                <a:cs typeface="DejaVu Sans"/>
              </a:defRPr>
            </a:lvl1pPr>
            <a:lvl2pPr algn="l">
              <a:defRPr sz="1575" b="1">
                <a:solidFill>
                  <a:srgbClr val="73DCE1"/>
                </a:solidFill>
                <a:latin typeface="DejaVu Sans"/>
                <a:ea typeface="DejaVu Sans"/>
                <a:cs typeface="DejaVu Sans"/>
              </a:defRPr>
            </a:lvl2pPr>
            <a:lvl3pPr algn="l">
              <a:defRPr sz="1575" b="1">
                <a:solidFill>
                  <a:srgbClr val="73DCE1"/>
                </a:solidFill>
                <a:latin typeface="DejaVu Sans"/>
                <a:ea typeface="DejaVu Sans"/>
                <a:cs typeface="DejaVu Sans"/>
              </a:defRPr>
            </a:lvl3pPr>
            <a:lvl4pPr algn="l">
              <a:defRPr sz="1575" b="1">
                <a:solidFill>
                  <a:srgbClr val="73DCE1"/>
                </a:solidFill>
                <a:latin typeface="DejaVu Sans"/>
                <a:ea typeface="DejaVu Sans"/>
                <a:cs typeface="DejaVu Sans"/>
              </a:defRPr>
            </a:lvl4pPr>
            <a:lvl5pPr algn="l">
              <a:defRPr sz="1575" b="1">
                <a:solidFill>
                  <a:srgbClr val="73DCE1"/>
                </a:solidFill>
                <a:latin typeface="DejaVu Sans"/>
                <a:ea typeface="DejaVu Sans"/>
                <a:cs typeface="DejaVu Sans"/>
              </a:defRPr>
            </a:lvl5pPr>
            <a:lvl6pPr algn="l">
              <a:defRPr sz="1575" b="1">
                <a:solidFill>
                  <a:srgbClr val="73DCE1"/>
                </a:solidFill>
                <a:latin typeface="DejaVu Sans"/>
                <a:ea typeface="DejaVu Sans"/>
                <a:cs typeface="DejaVu Sans"/>
              </a:defRPr>
            </a:lvl6pPr>
            <a:lvl7pPr algn="l">
              <a:defRPr sz="1575" b="1">
                <a:solidFill>
                  <a:srgbClr val="73DCE1"/>
                </a:solidFill>
                <a:latin typeface="DejaVu Sans"/>
                <a:ea typeface="DejaVu Sans"/>
                <a:cs typeface="DejaVu Sans"/>
              </a:defRPr>
            </a:lvl7pPr>
            <a:lvl8pPr algn="l">
              <a:defRPr sz="1575" b="1">
                <a:solidFill>
                  <a:srgbClr val="73DCE1"/>
                </a:solidFill>
                <a:latin typeface="DejaVu Sans"/>
                <a:ea typeface="DejaVu Sans"/>
                <a:cs typeface="DejaVu Sans"/>
              </a:defRPr>
            </a:lvl8pPr>
            <a:lvl9pPr algn="l">
              <a:defRPr sz="1575" b="1">
                <a:solidFill>
                  <a:srgbClr val="73DCE1"/>
                </a:solidFill>
                <a:latin typeface="DejaVu Sans"/>
                <a:ea typeface="DejaVu Sans"/>
                <a:cs typeface="DejaVu Sans"/>
              </a:defRPr>
            </a:lvl9pPr>
          </a:lstStyle>
          <a:p xmlns:a="http://schemas.openxmlformats.org/drawingml/2006/main">
            <a:pPr algn="l">
              <a:defRPr sz="1575" b="1">
                <a:solidFill>
                  <a:srgbClr val="73DCE1"/>
                </a:solidFill>
                <a:latin typeface="DejaVu Sans"/>
                <a:ea typeface="DejaVu Sans"/>
                <a:cs typeface="DejaVu Sans"/>
              </a:defRPr>
            </a:pPr>
            <a:r>
              <a:rPr sz="1575" b="1">
                <a:solidFill>
                  <a:srgbClr val="73DCE1"/>
                </a:solidFill>
                <a:latin typeface="DejaVu Sans"/>
                <a:ea typeface="DejaVu Sans"/>
                <a:cs typeface="DejaVu Sans"/>
              </a:rPr>
              <a:t>BEEFY  241,475  ·  lag 8</a:t>
            </a:r>
          </a:p>
        </p:txBody>
      </p:sp>
      <p:sp>
        <p:nvSpPr>
          <p:cNvPr id="15" name="rule-808-443">
            <a:extLst xmlns:a="http://schemas.openxmlformats.org/drawingml/2006/main">
              <a:ext uri="{FF2B5EF4-FFF2-40B4-BE49-F238E27FC236}">
                <a16:creationId xmlns:a16="http://schemas.microsoft.com/office/drawing/2014/main" id="{75EEC4DC-F542-4952-AEE0-ED182E3AF0AA}"/>
              </a:ext>
            </a:extLst>
          </p:cNvPr>
          <p:cNvSpPr>
            <a:spLocks xmlns:a="http://schemas.openxmlformats.org/drawingml/2006/main" noGrp="1"/>
          </p:cNvSpPr>
          <p:nvPr/>
        </p:nvSpPr>
        <p:spPr>
          <a:xfrm xmlns:a="http://schemas.openxmlformats.org/drawingml/2006/main">
            <a:off x="7696200" y="4219575"/>
            <a:ext cx="36957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6" name="live-why">
            <a:extLst xmlns:a="http://schemas.openxmlformats.org/drawingml/2006/main">
              <a:ext uri="{FF2B5EF4-FFF2-40B4-BE49-F238E27FC236}">
                <a16:creationId xmlns:a16="http://schemas.microsoft.com/office/drawing/2014/main" id="{D92A10BD-5B0C-4836-B851-46BE843FDE37}"/>
              </a:ext>
            </a:extLst>
          </p:cNvPr>
          <p:cNvSpPr>
            <a:spLocks xmlns:a="http://schemas.openxmlformats.org/drawingml/2006/main" noGrp="1"/>
          </p:cNvSpPr>
          <p:nvPr/>
        </p:nvSpPr>
        <p:spPr>
          <a:xfrm xmlns:a="http://schemas.openxmlformats.org/drawingml/2006/main">
            <a:off x="7696200" y="4410075"/>
            <a:ext cx="369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3A89D"/>
                </a:solidFill>
                <a:latin typeface="DejaVu Sans"/>
                <a:ea typeface="DejaVu Sans"/>
                <a:cs typeface="DejaVu Sans"/>
              </a:defRPr>
            </a:defPPr>
            <a:lvl1pPr algn="l">
              <a:defRPr sz="1500" b="0">
                <a:solidFill>
                  <a:srgbClr val="A3A89D"/>
                </a:solidFill>
                <a:latin typeface="DejaVu Sans"/>
                <a:ea typeface="DejaVu Sans"/>
                <a:cs typeface="DejaVu Sans"/>
              </a:defRPr>
            </a:lvl1pPr>
            <a:lvl2pPr algn="l">
              <a:defRPr sz="1500" b="0">
                <a:solidFill>
                  <a:srgbClr val="A3A89D"/>
                </a:solidFill>
                <a:latin typeface="DejaVu Sans"/>
                <a:ea typeface="DejaVu Sans"/>
                <a:cs typeface="DejaVu Sans"/>
              </a:defRPr>
            </a:lvl2pPr>
            <a:lvl3pPr algn="l">
              <a:defRPr sz="1500" b="0">
                <a:solidFill>
                  <a:srgbClr val="A3A89D"/>
                </a:solidFill>
                <a:latin typeface="DejaVu Sans"/>
                <a:ea typeface="DejaVu Sans"/>
                <a:cs typeface="DejaVu Sans"/>
              </a:defRPr>
            </a:lvl3pPr>
            <a:lvl4pPr algn="l">
              <a:defRPr sz="1500" b="0">
                <a:solidFill>
                  <a:srgbClr val="A3A89D"/>
                </a:solidFill>
                <a:latin typeface="DejaVu Sans"/>
                <a:ea typeface="DejaVu Sans"/>
                <a:cs typeface="DejaVu Sans"/>
              </a:defRPr>
            </a:lvl4pPr>
            <a:lvl5pPr algn="l">
              <a:defRPr sz="1500" b="0">
                <a:solidFill>
                  <a:srgbClr val="A3A89D"/>
                </a:solidFill>
                <a:latin typeface="DejaVu Sans"/>
                <a:ea typeface="DejaVu Sans"/>
                <a:cs typeface="DejaVu Sans"/>
              </a:defRPr>
            </a:lvl5pPr>
            <a:lvl6pPr algn="l">
              <a:defRPr sz="1500" b="0">
                <a:solidFill>
                  <a:srgbClr val="A3A89D"/>
                </a:solidFill>
                <a:latin typeface="DejaVu Sans"/>
                <a:ea typeface="DejaVu Sans"/>
                <a:cs typeface="DejaVu Sans"/>
              </a:defRPr>
            </a:lvl6pPr>
            <a:lvl7pPr algn="l">
              <a:defRPr sz="1500" b="0">
                <a:solidFill>
                  <a:srgbClr val="A3A89D"/>
                </a:solidFill>
                <a:latin typeface="DejaVu Sans"/>
                <a:ea typeface="DejaVu Sans"/>
                <a:cs typeface="DejaVu Sans"/>
              </a:defRPr>
            </a:lvl7pPr>
            <a:lvl8pPr algn="l">
              <a:defRPr sz="1500" b="0">
                <a:solidFill>
                  <a:srgbClr val="A3A89D"/>
                </a:solidFill>
                <a:latin typeface="DejaVu Sans"/>
                <a:ea typeface="DejaVu Sans"/>
                <a:cs typeface="DejaVu Sans"/>
              </a:defRPr>
            </a:lvl8pPr>
            <a:lvl9pPr algn="l">
              <a:defRPr sz="1500" b="0">
                <a:solidFill>
                  <a:srgbClr val="A3A89D"/>
                </a:solidFill>
                <a:latin typeface="DejaVu Sans"/>
                <a:ea typeface="DejaVu Sans"/>
                <a:cs typeface="DejaVu Sans"/>
              </a:defRPr>
            </a:lvl9pPr>
          </a:lstStyle>
          <a:p xmlns:a="http://schemas.openxmlformats.org/drawingml/2006/main">
            <a:pPr algn="l">
              <a:defRPr sz="1500" b="0">
                <a:solidFill>
                  <a:srgbClr val="A3A89D"/>
                </a:solidFill>
                <a:latin typeface="DejaVu Sans"/>
                <a:ea typeface="DejaVu Sans"/>
                <a:cs typeface="DejaVu Sans"/>
              </a:defRPr>
            </a:pPr>
            <a:r>
              <a:rPr sz="1500" b="0">
                <a:solidFill>
                  <a:srgbClr val="A3A89D"/>
                </a:solidFill>
                <a:latin typeface="DejaVu Sans"/>
                <a:ea typeface="DejaVu Sans"/>
                <a:cs typeface="DejaVu Sans"/>
              </a:rPr>
              <a:t>Freshness, thresholds, and the three head positions stay visible together.</a:t>
            </a:r>
          </a:p>
        </p:txBody>
      </p:sp>
      <p:sp>
        <p:nvSpPr>
          <p:cNvPr id="17" name="live-caveat">
            <a:extLst xmlns:a="http://schemas.openxmlformats.org/drawingml/2006/main">
              <a:ext uri="{FF2B5EF4-FFF2-40B4-BE49-F238E27FC236}">
                <a16:creationId xmlns:a16="http://schemas.microsoft.com/office/drawing/2014/main" id="{D3FA2D1A-9119-414C-848F-4B704EFA8DEE}"/>
              </a:ext>
            </a:extLst>
          </p:cNvPr>
          <p:cNvSpPr>
            <a:spLocks xmlns:a="http://schemas.openxmlformats.org/drawingml/2006/main" noGrp="1"/>
          </p:cNvSpPr>
          <p:nvPr/>
        </p:nvSpPr>
        <p:spPr>
          <a:xfrm xmlns:a="http://schemas.openxmlformats.org/drawingml/2006/main">
            <a:off x="7696200" y="5238750"/>
            <a:ext cx="3695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787E74"/>
                </a:solidFill>
                <a:latin typeface="DejaVu Sans"/>
                <a:ea typeface="DejaVu Sans"/>
                <a:cs typeface="DejaVu Sans"/>
              </a:defRPr>
            </a:defPPr>
            <a:lvl1pPr algn="l">
              <a:defRPr sz="1275" b="0">
                <a:solidFill>
                  <a:srgbClr val="787E74"/>
                </a:solidFill>
                <a:latin typeface="DejaVu Sans"/>
                <a:ea typeface="DejaVu Sans"/>
                <a:cs typeface="DejaVu Sans"/>
              </a:defRPr>
            </a:lvl1pPr>
            <a:lvl2pPr algn="l">
              <a:defRPr sz="1275" b="0">
                <a:solidFill>
                  <a:srgbClr val="787E74"/>
                </a:solidFill>
                <a:latin typeface="DejaVu Sans"/>
                <a:ea typeface="DejaVu Sans"/>
                <a:cs typeface="DejaVu Sans"/>
              </a:defRPr>
            </a:lvl2pPr>
            <a:lvl3pPr algn="l">
              <a:defRPr sz="1275" b="0">
                <a:solidFill>
                  <a:srgbClr val="787E74"/>
                </a:solidFill>
                <a:latin typeface="DejaVu Sans"/>
                <a:ea typeface="DejaVu Sans"/>
                <a:cs typeface="DejaVu Sans"/>
              </a:defRPr>
            </a:lvl3pPr>
            <a:lvl4pPr algn="l">
              <a:defRPr sz="1275" b="0">
                <a:solidFill>
                  <a:srgbClr val="787E74"/>
                </a:solidFill>
                <a:latin typeface="DejaVu Sans"/>
                <a:ea typeface="DejaVu Sans"/>
                <a:cs typeface="DejaVu Sans"/>
              </a:defRPr>
            </a:lvl4pPr>
            <a:lvl5pPr algn="l">
              <a:defRPr sz="1275" b="0">
                <a:solidFill>
                  <a:srgbClr val="787E74"/>
                </a:solidFill>
                <a:latin typeface="DejaVu Sans"/>
                <a:ea typeface="DejaVu Sans"/>
                <a:cs typeface="DejaVu Sans"/>
              </a:defRPr>
            </a:lvl5pPr>
            <a:lvl6pPr algn="l">
              <a:defRPr sz="1275" b="0">
                <a:solidFill>
                  <a:srgbClr val="787E74"/>
                </a:solidFill>
                <a:latin typeface="DejaVu Sans"/>
                <a:ea typeface="DejaVu Sans"/>
                <a:cs typeface="DejaVu Sans"/>
              </a:defRPr>
            </a:lvl6pPr>
            <a:lvl7pPr algn="l">
              <a:defRPr sz="1275" b="0">
                <a:solidFill>
                  <a:srgbClr val="787E74"/>
                </a:solidFill>
                <a:latin typeface="DejaVu Sans"/>
                <a:ea typeface="DejaVu Sans"/>
                <a:cs typeface="DejaVu Sans"/>
              </a:defRPr>
            </a:lvl7pPr>
            <a:lvl8pPr algn="l">
              <a:defRPr sz="1275" b="0">
                <a:solidFill>
                  <a:srgbClr val="787E74"/>
                </a:solidFill>
                <a:latin typeface="DejaVu Sans"/>
                <a:ea typeface="DejaVu Sans"/>
                <a:cs typeface="DejaVu Sans"/>
              </a:defRPr>
            </a:lvl8pPr>
            <a:lvl9pPr algn="l">
              <a:defRPr sz="1275" b="0">
                <a:solidFill>
                  <a:srgbClr val="787E74"/>
                </a:solidFill>
                <a:latin typeface="DejaVu Sans"/>
                <a:ea typeface="DejaVu Sans"/>
                <a:cs typeface="DejaVu Sans"/>
              </a:defRPr>
            </a:lvl9pPr>
          </a:lstStyle>
          <a:p xmlns:a="http://schemas.openxmlformats.org/drawingml/2006/main">
            <a:pPr algn="l">
              <a:defRPr sz="1275" b="0">
                <a:solidFill>
                  <a:srgbClr val="787E74"/>
                </a:solidFill>
                <a:latin typeface="DejaVu Sans"/>
                <a:ea typeface="DejaVu Sans"/>
                <a:cs typeface="DejaVu Sans"/>
              </a:defRPr>
            </a:pPr>
            <a:r>
              <a:rPr sz="1275" b="0">
                <a:solidFill>
                  <a:srgbClr val="787E74"/>
                </a:solidFill>
                <a:latin typeface="DejaVu Sans"/>
                <a:ea typeface="DejaVu Sans"/>
                <a:cs typeface="DejaVu Sans"/>
              </a:rPr>
              <a:t>The chart and author sample begin when this monitor session connects.</a:t>
            </a:r>
          </a:p>
        </p:txBody>
      </p:sp>
    </p:spTree>
    <p:extLst>
      <p:ext uri="{BB962C8B-B14F-4D97-AF65-F5344CB8AC3E}">
        <p14:creationId xmlns:p14="http://schemas.microsoft.com/office/powerpoint/2010/main" val="629148492"/>
      </p:ext>
    </p:extLst>
  </p:cSld>
</p:sld>
</file>

<file path=ppt/slides/slide4.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sp>
        <p:nvSpPr>
          <p:cNvPr id="18" name="eyebrow-4">
            <a:extLst xmlns:a="http://schemas.openxmlformats.org/drawingml/2006/main">
              <a:ext uri="{FF2B5EF4-FFF2-40B4-BE49-F238E27FC236}">
                <a16:creationId xmlns:a16="http://schemas.microsoft.com/office/drawing/2014/main" id="{6373B439-86A4-408D-AACC-AFFB34EFC2C3}"/>
              </a:ext>
            </a:extLst>
          </p:cNvPr>
          <p:cNvSpPr>
            <a:spLocks xmlns:a="http://schemas.openxmlformats.org/drawingml/2006/main" noGrp="1"/>
          </p:cNvSpPr>
          <p:nvPr/>
        </p:nvSpPr>
        <p:spPr>
          <a:xfrm xmlns:a="http://schemas.openxmlformats.org/drawingml/2006/main">
            <a:off x="6667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RIFT  /  PORTALDOT V3</a:t>
            </a:r>
          </a:p>
        </p:txBody>
      </p:sp>
      <p:sp>
        <p:nvSpPr>
          <p:cNvPr id="2" name="title-4">
            <a:extLst xmlns:a="http://schemas.openxmlformats.org/drawingml/2006/main">
              <a:ext uri="{FF2B5EF4-FFF2-40B4-BE49-F238E27FC236}">
                <a16:creationId xmlns:a16="http://schemas.microsoft.com/office/drawing/2014/main" id="{D26CE25B-912E-4F96-AD14-45D9A7BFD213}"/>
              </a:ext>
            </a:extLst>
          </p:cNvPr>
          <p:cNvSpPr>
            <a:spLocks xmlns:a="http://schemas.openxmlformats.org/drawingml/2006/main" noGrp="1"/>
          </p:cNvSpPr>
          <p:nvPr/>
        </p:nvSpPr>
        <p:spPr>
          <a:xfrm xmlns:a="http://schemas.openxmlformats.org/drawingml/2006/main">
            <a:off x="666750" y="6381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Investigate a report by hash</a:t>
            </a:r>
          </a:p>
        </p:txBody>
      </p:sp>
      <p:sp>
        <p:nvSpPr>
          <p:cNvPr id="3" name="subtitle-4">
            <a:extLst xmlns:a="http://schemas.openxmlformats.org/drawingml/2006/main">
              <a:ext uri="{FF2B5EF4-FFF2-40B4-BE49-F238E27FC236}">
                <a16:creationId xmlns:a16="http://schemas.microsoft.com/office/drawing/2014/main" id="{9251E8B7-FD46-4379-9D2D-2E8AF88D9166}"/>
              </a:ext>
            </a:extLst>
          </p:cNvPr>
          <p:cNvSpPr>
            <a:spLocks xmlns:a="http://schemas.openxmlformats.org/drawingml/2006/main" noGrp="1"/>
          </p:cNvSpPr>
          <p:nvPr/>
        </p:nvSpPr>
        <p:spPr>
          <a:xfrm xmlns:a="http://schemas.openxmlformats.org/drawingml/2006/main">
            <a:off x="666750" y="121920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3A89D"/>
                </a:solidFill>
                <a:latin typeface="DejaVu Sans"/>
                <a:ea typeface="DejaVu Sans"/>
                <a:cs typeface="DejaVu Sans"/>
              </a:defRPr>
            </a:defPPr>
            <a:lvl1pPr algn="l">
              <a:defRPr sz="1650" b="0">
                <a:solidFill>
                  <a:srgbClr val="A3A89D"/>
                </a:solidFill>
                <a:latin typeface="DejaVu Sans"/>
                <a:ea typeface="DejaVu Sans"/>
                <a:cs typeface="DejaVu Sans"/>
              </a:defRPr>
            </a:lvl1pPr>
            <a:lvl2pPr algn="l">
              <a:defRPr sz="1650" b="0">
                <a:solidFill>
                  <a:srgbClr val="A3A89D"/>
                </a:solidFill>
                <a:latin typeface="DejaVu Sans"/>
                <a:ea typeface="DejaVu Sans"/>
                <a:cs typeface="DejaVu Sans"/>
              </a:defRPr>
            </a:lvl2pPr>
            <a:lvl3pPr algn="l">
              <a:defRPr sz="1650" b="0">
                <a:solidFill>
                  <a:srgbClr val="A3A89D"/>
                </a:solidFill>
                <a:latin typeface="DejaVu Sans"/>
                <a:ea typeface="DejaVu Sans"/>
                <a:cs typeface="DejaVu Sans"/>
              </a:defRPr>
            </a:lvl3pPr>
            <a:lvl4pPr algn="l">
              <a:defRPr sz="1650" b="0">
                <a:solidFill>
                  <a:srgbClr val="A3A89D"/>
                </a:solidFill>
                <a:latin typeface="DejaVu Sans"/>
                <a:ea typeface="DejaVu Sans"/>
                <a:cs typeface="DejaVu Sans"/>
              </a:defRPr>
            </a:lvl4pPr>
            <a:lvl5pPr algn="l">
              <a:defRPr sz="1650" b="0">
                <a:solidFill>
                  <a:srgbClr val="A3A89D"/>
                </a:solidFill>
                <a:latin typeface="DejaVu Sans"/>
                <a:ea typeface="DejaVu Sans"/>
                <a:cs typeface="DejaVu Sans"/>
              </a:defRPr>
            </a:lvl5pPr>
            <a:lvl6pPr algn="l">
              <a:defRPr sz="1650" b="0">
                <a:solidFill>
                  <a:srgbClr val="A3A89D"/>
                </a:solidFill>
                <a:latin typeface="DejaVu Sans"/>
                <a:ea typeface="DejaVu Sans"/>
                <a:cs typeface="DejaVu Sans"/>
              </a:defRPr>
            </a:lvl6pPr>
            <a:lvl7pPr algn="l">
              <a:defRPr sz="1650" b="0">
                <a:solidFill>
                  <a:srgbClr val="A3A89D"/>
                </a:solidFill>
                <a:latin typeface="DejaVu Sans"/>
                <a:ea typeface="DejaVu Sans"/>
                <a:cs typeface="DejaVu Sans"/>
              </a:defRPr>
            </a:lvl7pPr>
            <a:lvl8pPr algn="l">
              <a:defRPr sz="1650" b="0">
                <a:solidFill>
                  <a:srgbClr val="A3A89D"/>
                </a:solidFill>
                <a:latin typeface="DejaVu Sans"/>
                <a:ea typeface="DejaVu Sans"/>
                <a:cs typeface="DejaVu Sans"/>
              </a:defRPr>
            </a:lvl8pPr>
            <a:lvl9pPr algn="l">
              <a:defRPr sz="1650" b="0">
                <a:solidFill>
                  <a:srgbClr val="A3A89D"/>
                </a:solidFill>
                <a:latin typeface="DejaVu Sans"/>
                <a:ea typeface="DejaVu Sans"/>
                <a:cs typeface="DejaVu Sans"/>
              </a:defRPr>
            </a:lvl9pPr>
          </a:lstStyle>
          <a:p xmlns:a="http://schemas.openxmlformats.org/drawingml/2006/main">
            <a:pPr algn="l">
              <a:defRPr sz="1650" b="0">
                <a:solidFill>
                  <a:srgbClr val="A3A89D"/>
                </a:solidFill>
                <a:latin typeface="DejaVu Sans"/>
                <a:ea typeface="DejaVu Sans"/>
                <a:cs typeface="DejaVu Sans"/>
              </a:defRPr>
            </a:pPr>
            <a:r>
              <a:rPr sz="1650" b="0">
                <a:solidFill>
                  <a:srgbClr val="A3A89D"/>
                </a:solidFill>
                <a:latin typeface="DejaVu Sans"/>
                <a:ea typeface="DejaVu Sans"/>
                <a:cs typeface="DejaVu Sans"/>
              </a:rPr>
              <a:t>Paste a payload hash or publication transaction hash to find the on-chain record.</a:t>
            </a:r>
          </a:p>
        </p:txBody>
      </p:sp>
      <p:sp>
        <p:nvSpPr>
          <p:cNvPr id="4" name="rule-70-177">
            <a:extLst xmlns:a="http://schemas.openxmlformats.org/drawingml/2006/main">
              <a:ext uri="{FF2B5EF4-FFF2-40B4-BE49-F238E27FC236}">
                <a16:creationId xmlns:a16="http://schemas.microsoft.com/office/drawing/2014/main" id="{400393CD-1E6F-4CCF-959A-DCA99C207F41}"/>
              </a:ext>
            </a:extLst>
          </p:cNvPr>
          <p:cNvSpPr>
            <a:spLocks xmlns:a="http://schemas.openxmlformats.org/drawingml/2006/main" noGrp="1"/>
          </p:cNvSpPr>
          <p:nvPr/>
        </p:nvSpPr>
        <p:spPr>
          <a:xfrm xmlns:a="http://schemas.openxmlformats.org/drawingml/2006/main">
            <a:off x="666750" y="1685925"/>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5" name="rule-70-674">
            <a:extLst xmlns:a="http://schemas.openxmlformats.org/drawingml/2006/main">
              <a:ext uri="{FF2B5EF4-FFF2-40B4-BE49-F238E27FC236}">
                <a16:creationId xmlns:a16="http://schemas.microsoft.com/office/drawing/2014/main" id="{C25EFB4E-38A2-4054-B789-05AD39D88A89}"/>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6" name="footer-4">
            <a:extLst xmlns:a="http://schemas.openxmlformats.org/drawingml/2006/main">
              <a:ext uri="{FF2B5EF4-FFF2-40B4-BE49-F238E27FC236}">
                <a16:creationId xmlns:a16="http://schemas.microsoft.com/office/drawing/2014/main" id="{C55E61CD-6676-4048-A208-5F19C4A24D9C}"/>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7" name="page-4">
            <a:extLst xmlns:a="http://schemas.openxmlformats.org/drawingml/2006/main">
              <a:ext uri="{FF2B5EF4-FFF2-40B4-BE49-F238E27FC236}">
                <a16:creationId xmlns:a16="http://schemas.microsoft.com/office/drawing/2014/main" id="{DA041187-C013-4C82-818F-2783293F76A6}"/>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04  /  06</a:t>
            </a:r>
          </a:p>
        </p:txBody>
      </p:sp>
      <p:sp>
        <p:nvSpPr>
          <p:cNvPr id="8" name="frame-reports-slide.png">
            <a:extLst xmlns:a="http://schemas.openxmlformats.org/drawingml/2006/main">
              <a:ext uri="{FF2B5EF4-FFF2-40B4-BE49-F238E27FC236}">
                <a16:creationId xmlns:a16="http://schemas.microsoft.com/office/drawing/2014/main" id="{37144001-2A3E-4B28-A4C1-B285FABC2BD4}"/>
              </a:ext>
            </a:extLst>
          </p:cNvPr>
          <p:cNvSpPr>
            <a:spLocks xmlns:a="http://schemas.openxmlformats.org/drawingml/2006/main" noGrp="1"/>
          </p:cNvSpPr>
          <p:nvPr/>
        </p:nvSpPr>
        <p:spPr>
          <a:xfrm xmlns:a="http://schemas.openxmlformats.org/drawingml/2006/main">
            <a:off x="647700" y="1981200"/>
            <a:ext cx="6705600" cy="3495675"/>
          </a:xfrm>
          <a:prstGeom xmlns:a="http://schemas.openxmlformats.org/drawingml/2006/main" prst="roundRect">
            <a:avLst>
              <a:gd name="adj" fmla="val 2725"/>
            </a:avLst>
          </a:prstGeom>
          <a:solidFill xmlns:a="http://schemas.openxmlformats.org/drawingml/2006/main">
            <a:srgbClr val="141715"/>
          </a:solidFill>
          <a:ln xmlns:a="http://schemas.openxmlformats.org/drawingml/2006/main" w="9525">
            <a:solidFill>
              <a:srgbClr val="303630"/>
            </a:solidFill>
            <a:prstDash val="solid"/>
          </a:ln>
        </p:spPr>
      </p:sp>
      <p:pic>
        <p:nvPicPr>
          <p:cNvPr id="9" name="">
            <a:extLst xmlns:a="http://schemas.openxmlformats.org/drawingml/2006/main">
              <a:ext uri="{FF2B5EF4-FFF2-40B4-BE49-F238E27FC236}">
                <a16:creationId xmlns:a16="http://schemas.microsoft.com/office/drawing/2014/main" id="{0AC87F9E-AA5D-46F1-8FFC-67AFBFE0E7B8}"/>
              </a:ext>
            </a:extLst>
          </p:cNvPr>
          <p:cNvPicPr>
            <a:picLocks xmlns:a="http://schemas.openxmlformats.org/drawingml/2006/main" noChangeAspect="1"/>
          </p:cNvPicPr>
          <p:nvPr/>
        </p:nvPicPr>
        <p:blipFill>
          <a:blip xmlns:r="http://schemas.openxmlformats.org/officeDocument/2006/relationships" xmlns:a="http://schemas.openxmlformats.org/drawingml/2006/main" r:embed="Rbcc9634a681640af"/>
          <a:stretch xmlns:a="http://schemas.openxmlformats.org/drawingml/2006/main"/>
        </p:blipFill>
        <p:spPr>
          <a:xfrm xmlns:a="http://schemas.openxmlformats.org/drawingml/2006/main">
            <a:off x="666750" y="2002631"/>
            <a:ext cx="6667500" cy="3452813"/>
          </a:xfrm>
          <a:prstGeom xmlns:a="http://schemas.openxmlformats.org/drawingml/2006/main" prst="roundRect">
            <a:avLst>
              <a:gd name="adj" fmla="val 2204"/>
            </a:avLst>
          </a:prstGeom>
        </p:spPr>
      </p:pic>
      <p:sp>
        <p:nvSpPr>
          <p:cNvPr id="10" name="investigate-kicker">
            <a:extLst xmlns:a="http://schemas.openxmlformats.org/drawingml/2006/main">
              <a:ext uri="{FF2B5EF4-FFF2-40B4-BE49-F238E27FC236}">
                <a16:creationId xmlns:a16="http://schemas.microsoft.com/office/drawing/2014/main" id="{5A3D320A-B56D-4195-AB00-8C4E1EC2FA94}"/>
              </a:ext>
            </a:extLst>
          </p:cNvPr>
          <p:cNvSpPr>
            <a:spLocks xmlns:a="http://schemas.openxmlformats.org/drawingml/2006/main" noGrp="1"/>
          </p:cNvSpPr>
          <p:nvPr/>
        </p:nvSpPr>
        <p:spPr>
          <a:xfrm xmlns:a="http://schemas.openxmlformats.org/drawingml/2006/main">
            <a:off x="7696200" y="19907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8FF45"/>
                </a:solidFill>
                <a:latin typeface="DejaVu Sans"/>
                <a:ea typeface="DejaVu Sans"/>
                <a:cs typeface="DejaVu Sans"/>
              </a:defRPr>
            </a:defPPr>
            <a:lvl1pPr algn="l">
              <a:defRPr sz="1125" b="1">
                <a:solidFill>
                  <a:srgbClr val="C8FF45"/>
                </a:solidFill>
                <a:latin typeface="DejaVu Sans"/>
                <a:ea typeface="DejaVu Sans"/>
                <a:cs typeface="DejaVu Sans"/>
              </a:defRPr>
            </a:lvl1pPr>
            <a:lvl2pPr algn="l">
              <a:defRPr sz="1125" b="1">
                <a:solidFill>
                  <a:srgbClr val="C8FF45"/>
                </a:solidFill>
                <a:latin typeface="DejaVu Sans"/>
                <a:ea typeface="DejaVu Sans"/>
                <a:cs typeface="DejaVu Sans"/>
              </a:defRPr>
            </a:lvl2pPr>
            <a:lvl3pPr algn="l">
              <a:defRPr sz="1125" b="1">
                <a:solidFill>
                  <a:srgbClr val="C8FF45"/>
                </a:solidFill>
                <a:latin typeface="DejaVu Sans"/>
                <a:ea typeface="DejaVu Sans"/>
                <a:cs typeface="DejaVu Sans"/>
              </a:defRPr>
            </a:lvl3pPr>
            <a:lvl4pPr algn="l">
              <a:defRPr sz="1125" b="1">
                <a:solidFill>
                  <a:srgbClr val="C8FF45"/>
                </a:solidFill>
                <a:latin typeface="DejaVu Sans"/>
                <a:ea typeface="DejaVu Sans"/>
                <a:cs typeface="DejaVu Sans"/>
              </a:defRPr>
            </a:lvl4pPr>
            <a:lvl5pPr algn="l">
              <a:defRPr sz="1125" b="1">
                <a:solidFill>
                  <a:srgbClr val="C8FF45"/>
                </a:solidFill>
                <a:latin typeface="DejaVu Sans"/>
                <a:ea typeface="DejaVu Sans"/>
                <a:cs typeface="DejaVu Sans"/>
              </a:defRPr>
            </a:lvl5pPr>
            <a:lvl6pPr algn="l">
              <a:defRPr sz="1125" b="1">
                <a:solidFill>
                  <a:srgbClr val="C8FF45"/>
                </a:solidFill>
                <a:latin typeface="DejaVu Sans"/>
                <a:ea typeface="DejaVu Sans"/>
                <a:cs typeface="DejaVu Sans"/>
              </a:defRPr>
            </a:lvl6pPr>
            <a:lvl7pPr algn="l">
              <a:defRPr sz="1125" b="1">
                <a:solidFill>
                  <a:srgbClr val="C8FF45"/>
                </a:solidFill>
                <a:latin typeface="DejaVu Sans"/>
                <a:ea typeface="DejaVu Sans"/>
                <a:cs typeface="DejaVu Sans"/>
              </a:defRPr>
            </a:lvl7pPr>
            <a:lvl8pPr algn="l">
              <a:defRPr sz="1125" b="1">
                <a:solidFill>
                  <a:srgbClr val="C8FF45"/>
                </a:solidFill>
                <a:latin typeface="DejaVu Sans"/>
                <a:ea typeface="DejaVu Sans"/>
                <a:cs typeface="DejaVu Sans"/>
              </a:defRPr>
            </a:lvl8pPr>
            <a:lvl9pPr algn="l">
              <a:defRPr sz="1125" b="1">
                <a:solidFill>
                  <a:srgbClr val="C8FF45"/>
                </a:solidFill>
                <a:latin typeface="DejaVu Sans"/>
                <a:ea typeface="DejaVu Sans"/>
                <a:cs typeface="DejaVu Sans"/>
              </a:defRPr>
            </a:lvl9pPr>
          </a:lstStyle>
          <a:p xmlns:a="http://schemas.openxmlformats.org/drawingml/2006/main">
            <a:pPr algn="l">
              <a:defRPr sz="1125" b="1">
                <a:solidFill>
                  <a:srgbClr val="C8FF45"/>
                </a:solidFill>
                <a:latin typeface="DejaVu Sans"/>
                <a:ea typeface="DejaVu Sans"/>
                <a:cs typeface="DejaVu Sans"/>
              </a:defRPr>
            </a:pPr>
            <a:r>
              <a:rPr sz="1125" b="1">
                <a:solidFill>
                  <a:srgbClr val="C8FF45"/>
                </a:solidFill>
                <a:latin typeface="DejaVu Sans"/>
                <a:ea typeface="DejaVu Sans"/>
                <a:cs typeface="DejaVu Sans"/>
              </a:rPr>
              <a:t>REPORT #2  ·  27 OCT 2026</a:t>
            </a:r>
          </a:p>
        </p:txBody>
      </p:sp>
      <p:sp>
        <p:nvSpPr>
          <p:cNvPr id="11" name="investigate-step-1">
            <a:extLst xmlns:a="http://schemas.openxmlformats.org/drawingml/2006/main">
              <a:ext uri="{FF2B5EF4-FFF2-40B4-BE49-F238E27FC236}">
                <a16:creationId xmlns:a16="http://schemas.microsoft.com/office/drawing/2014/main" id="{EA42519D-80BC-4703-A350-C8A7AECE9F43}"/>
              </a:ext>
            </a:extLst>
          </p:cNvPr>
          <p:cNvSpPr>
            <a:spLocks xmlns:a="http://schemas.openxmlformats.org/drawingml/2006/main" noGrp="1"/>
          </p:cNvSpPr>
          <p:nvPr/>
        </p:nvSpPr>
        <p:spPr>
          <a:xfrm xmlns:a="http://schemas.openxmlformats.org/drawingml/2006/main">
            <a:off x="7696200" y="24860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EF0E8"/>
                </a:solidFill>
                <a:latin typeface="DejaVu Sans"/>
                <a:ea typeface="DejaVu Sans"/>
                <a:cs typeface="DejaVu Sans"/>
              </a:defRPr>
            </a:defPPr>
            <a:lvl1pPr algn="l">
              <a:defRPr sz="1800" b="1">
                <a:solidFill>
                  <a:srgbClr val="EEF0E8"/>
                </a:solidFill>
                <a:latin typeface="DejaVu Sans"/>
                <a:ea typeface="DejaVu Sans"/>
                <a:cs typeface="DejaVu Sans"/>
              </a:defRPr>
            </a:lvl1pPr>
            <a:lvl2pPr algn="l">
              <a:defRPr sz="1800" b="1">
                <a:solidFill>
                  <a:srgbClr val="EEF0E8"/>
                </a:solidFill>
                <a:latin typeface="DejaVu Sans"/>
                <a:ea typeface="DejaVu Sans"/>
                <a:cs typeface="DejaVu Sans"/>
              </a:defRPr>
            </a:lvl2pPr>
            <a:lvl3pPr algn="l">
              <a:defRPr sz="1800" b="1">
                <a:solidFill>
                  <a:srgbClr val="EEF0E8"/>
                </a:solidFill>
                <a:latin typeface="DejaVu Sans"/>
                <a:ea typeface="DejaVu Sans"/>
                <a:cs typeface="DejaVu Sans"/>
              </a:defRPr>
            </a:lvl3pPr>
            <a:lvl4pPr algn="l">
              <a:defRPr sz="1800" b="1">
                <a:solidFill>
                  <a:srgbClr val="EEF0E8"/>
                </a:solidFill>
                <a:latin typeface="DejaVu Sans"/>
                <a:ea typeface="DejaVu Sans"/>
                <a:cs typeface="DejaVu Sans"/>
              </a:defRPr>
            </a:lvl4pPr>
            <a:lvl5pPr algn="l">
              <a:defRPr sz="1800" b="1">
                <a:solidFill>
                  <a:srgbClr val="EEF0E8"/>
                </a:solidFill>
                <a:latin typeface="DejaVu Sans"/>
                <a:ea typeface="DejaVu Sans"/>
                <a:cs typeface="DejaVu Sans"/>
              </a:defRPr>
            </a:lvl5pPr>
            <a:lvl6pPr algn="l">
              <a:defRPr sz="1800" b="1">
                <a:solidFill>
                  <a:srgbClr val="EEF0E8"/>
                </a:solidFill>
                <a:latin typeface="DejaVu Sans"/>
                <a:ea typeface="DejaVu Sans"/>
                <a:cs typeface="DejaVu Sans"/>
              </a:defRPr>
            </a:lvl6pPr>
            <a:lvl7pPr algn="l">
              <a:defRPr sz="1800" b="1">
                <a:solidFill>
                  <a:srgbClr val="EEF0E8"/>
                </a:solidFill>
                <a:latin typeface="DejaVu Sans"/>
                <a:ea typeface="DejaVu Sans"/>
                <a:cs typeface="DejaVu Sans"/>
              </a:defRPr>
            </a:lvl7pPr>
            <a:lvl8pPr algn="l">
              <a:defRPr sz="1800" b="1">
                <a:solidFill>
                  <a:srgbClr val="EEF0E8"/>
                </a:solidFill>
                <a:latin typeface="DejaVu Sans"/>
                <a:ea typeface="DejaVu Sans"/>
                <a:cs typeface="DejaVu Sans"/>
              </a:defRPr>
            </a:lvl8pPr>
            <a:lvl9pPr algn="l">
              <a:defRPr sz="1800" b="1">
                <a:solidFill>
                  <a:srgbClr val="EEF0E8"/>
                </a:solidFill>
                <a:latin typeface="DejaVu Sans"/>
                <a:ea typeface="DejaVu Sans"/>
                <a:cs typeface="DejaVu Sans"/>
              </a:defRPr>
            </a:lvl9pPr>
          </a:lstStyle>
          <a:p xmlns:a="http://schemas.openxmlformats.org/drawingml/2006/main">
            <a:pPr algn="l">
              <a:defRPr sz="1800" b="1">
                <a:solidFill>
                  <a:srgbClr val="EEF0E8"/>
                </a:solidFill>
                <a:latin typeface="DejaVu Sans"/>
                <a:ea typeface="DejaVu Sans"/>
                <a:cs typeface="DejaVu Sans"/>
              </a:defRPr>
            </a:pPr>
            <a:r>
              <a:rPr sz="1800" b="1">
                <a:solidFill>
                  <a:srgbClr val="EEF0E8"/>
                </a:solidFill>
                <a:latin typeface="DejaVu Sans"/>
                <a:ea typeface="DejaVu Sans"/>
                <a:cs typeface="DejaVu Sans"/>
              </a:rPr>
              <a:t>01   Find the report</a:t>
            </a:r>
          </a:p>
        </p:txBody>
      </p:sp>
      <p:sp>
        <p:nvSpPr>
          <p:cNvPr id="12" name="investigate-copy-1">
            <a:extLst xmlns:a="http://schemas.openxmlformats.org/drawingml/2006/main">
              <a:ext uri="{FF2B5EF4-FFF2-40B4-BE49-F238E27FC236}">
                <a16:creationId xmlns:a16="http://schemas.microsoft.com/office/drawing/2014/main" id="{FDB68232-8D30-4F91-ADC7-25CE5B3EF6BD}"/>
              </a:ext>
            </a:extLst>
          </p:cNvPr>
          <p:cNvSpPr>
            <a:spLocks xmlns:a="http://schemas.openxmlformats.org/drawingml/2006/main" noGrp="1"/>
          </p:cNvSpPr>
          <p:nvPr/>
        </p:nvSpPr>
        <p:spPr>
          <a:xfrm xmlns:a="http://schemas.openxmlformats.org/drawingml/2006/main">
            <a:off x="7696200" y="2867025"/>
            <a:ext cx="3667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3A89D"/>
                </a:solidFill>
                <a:latin typeface="DejaVu Sans"/>
                <a:ea typeface="DejaVu Sans"/>
                <a:cs typeface="DejaVu Sans"/>
              </a:defRPr>
            </a:defPPr>
            <a:lvl1pPr algn="l">
              <a:defRPr sz="1350" b="0">
                <a:solidFill>
                  <a:srgbClr val="A3A89D"/>
                </a:solidFill>
                <a:latin typeface="DejaVu Sans"/>
                <a:ea typeface="DejaVu Sans"/>
                <a:cs typeface="DejaVu Sans"/>
              </a:defRPr>
            </a:lvl1pPr>
            <a:lvl2pPr algn="l">
              <a:defRPr sz="1350" b="0">
                <a:solidFill>
                  <a:srgbClr val="A3A89D"/>
                </a:solidFill>
                <a:latin typeface="DejaVu Sans"/>
                <a:ea typeface="DejaVu Sans"/>
                <a:cs typeface="DejaVu Sans"/>
              </a:defRPr>
            </a:lvl2pPr>
            <a:lvl3pPr algn="l">
              <a:defRPr sz="1350" b="0">
                <a:solidFill>
                  <a:srgbClr val="A3A89D"/>
                </a:solidFill>
                <a:latin typeface="DejaVu Sans"/>
                <a:ea typeface="DejaVu Sans"/>
                <a:cs typeface="DejaVu Sans"/>
              </a:defRPr>
            </a:lvl3pPr>
            <a:lvl4pPr algn="l">
              <a:defRPr sz="1350" b="0">
                <a:solidFill>
                  <a:srgbClr val="A3A89D"/>
                </a:solidFill>
                <a:latin typeface="DejaVu Sans"/>
                <a:ea typeface="DejaVu Sans"/>
                <a:cs typeface="DejaVu Sans"/>
              </a:defRPr>
            </a:lvl4pPr>
            <a:lvl5pPr algn="l">
              <a:defRPr sz="1350" b="0">
                <a:solidFill>
                  <a:srgbClr val="A3A89D"/>
                </a:solidFill>
                <a:latin typeface="DejaVu Sans"/>
                <a:ea typeface="DejaVu Sans"/>
                <a:cs typeface="DejaVu Sans"/>
              </a:defRPr>
            </a:lvl5pPr>
            <a:lvl6pPr algn="l">
              <a:defRPr sz="1350" b="0">
                <a:solidFill>
                  <a:srgbClr val="A3A89D"/>
                </a:solidFill>
                <a:latin typeface="DejaVu Sans"/>
                <a:ea typeface="DejaVu Sans"/>
                <a:cs typeface="DejaVu Sans"/>
              </a:defRPr>
            </a:lvl6pPr>
            <a:lvl7pPr algn="l">
              <a:defRPr sz="1350" b="0">
                <a:solidFill>
                  <a:srgbClr val="A3A89D"/>
                </a:solidFill>
                <a:latin typeface="DejaVu Sans"/>
                <a:ea typeface="DejaVu Sans"/>
                <a:cs typeface="DejaVu Sans"/>
              </a:defRPr>
            </a:lvl7pPr>
            <a:lvl8pPr algn="l">
              <a:defRPr sz="1350" b="0">
                <a:solidFill>
                  <a:srgbClr val="A3A89D"/>
                </a:solidFill>
                <a:latin typeface="DejaVu Sans"/>
                <a:ea typeface="DejaVu Sans"/>
                <a:cs typeface="DejaVu Sans"/>
              </a:defRPr>
            </a:lvl8pPr>
            <a:lvl9pPr algn="l">
              <a:defRPr sz="1350" b="0">
                <a:solidFill>
                  <a:srgbClr val="A3A89D"/>
                </a:solidFill>
                <a:latin typeface="DejaVu Sans"/>
                <a:ea typeface="DejaVu Sans"/>
                <a:cs typeface="DejaVu Sans"/>
              </a:defRPr>
            </a:lvl9pPr>
          </a:lstStyle>
          <a:p xmlns:a="http://schemas.openxmlformats.org/drawingml/2006/main">
            <a:pPr algn="l">
              <a:defRPr sz="1350" b="0">
                <a:solidFill>
                  <a:srgbClr val="A3A89D"/>
                </a:solidFill>
                <a:latin typeface="DejaVu Sans"/>
                <a:ea typeface="DejaVu Sans"/>
                <a:cs typeface="DejaVu Sans"/>
              </a:defRPr>
            </a:pPr>
            <a:r>
              <a:rPr sz="1350" b="0">
                <a:solidFill>
                  <a:srgbClr val="A3A89D"/>
                </a:solidFill>
                <a:latin typeface="DejaVu Sans"/>
                <a:ea typeface="DejaVu Sans"/>
                <a:cs typeface="DejaVu Sans"/>
              </a:rPr>
              <a:t>Search by its payload hash or publishing transaction hash.</a:t>
            </a:r>
          </a:p>
        </p:txBody>
      </p:sp>
      <p:sp>
        <p:nvSpPr>
          <p:cNvPr id="13" name="investigate-step-2">
            <a:extLst xmlns:a="http://schemas.openxmlformats.org/drawingml/2006/main">
              <a:ext uri="{FF2B5EF4-FFF2-40B4-BE49-F238E27FC236}">
                <a16:creationId xmlns:a16="http://schemas.microsoft.com/office/drawing/2014/main" id="{A3D4616D-B9AB-468B-88AA-3AF126355715}"/>
              </a:ext>
            </a:extLst>
          </p:cNvPr>
          <p:cNvSpPr>
            <a:spLocks xmlns:a="http://schemas.openxmlformats.org/drawingml/2006/main" noGrp="1"/>
          </p:cNvSpPr>
          <p:nvPr/>
        </p:nvSpPr>
        <p:spPr>
          <a:xfrm xmlns:a="http://schemas.openxmlformats.org/drawingml/2006/main">
            <a:off x="7696200" y="35623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EF0E8"/>
                </a:solidFill>
                <a:latin typeface="DejaVu Sans"/>
                <a:ea typeface="DejaVu Sans"/>
                <a:cs typeface="DejaVu Sans"/>
              </a:defRPr>
            </a:defPPr>
            <a:lvl1pPr algn="l">
              <a:defRPr sz="1800" b="1">
                <a:solidFill>
                  <a:srgbClr val="EEF0E8"/>
                </a:solidFill>
                <a:latin typeface="DejaVu Sans"/>
                <a:ea typeface="DejaVu Sans"/>
                <a:cs typeface="DejaVu Sans"/>
              </a:defRPr>
            </a:lvl1pPr>
            <a:lvl2pPr algn="l">
              <a:defRPr sz="1800" b="1">
                <a:solidFill>
                  <a:srgbClr val="EEF0E8"/>
                </a:solidFill>
                <a:latin typeface="DejaVu Sans"/>
                <a:ea typeface="DejaVu Sans"/>
                <a:cs typeface="DejaVu Sans"/>
              </a:defRPr>
            </a:lvl2pPr>
            <a:lvl3pPr algn="l">
              <a:defRPr sz="1800" b="1">
                <a:solidFill>
                  <a:srgbClr val="EEF0E8"/>
                </a:solidFill>
                <a:latin typeface="DejaVu Sans"/>
                <a:ea typeface="DejaVu Sans"/>
                <a:cs typeface="DejaVu Sans"/>
              </a:defRPr>
            </a:lvl3pPr>
            <a:lvl4pPr algn="l">
              <a:defRPr sz="1800" b="1">
                <a:solidFill>
                  <a:srgbClr val="EEF0E8"/>
                </a:solidFill>
                <a:latin typeface="DejaVu Sans"/>
                <a:ea typeface="DejaVu Sans"/>
                <a:cs typeface="DejaVu Sans"/>
              </a:defRPr>
            </a:lvl4pPr>
            <a:lvl5pPr algn="l">
              <a:defRPr sz="1800" b="1">
                <a:solidFill>
                  <a:srgbClr val="EEF0E8"/>
                </a:solidFill>
                <a:latin typeface="DejaVu Sans"/>
                <a:ea typeface="DejaVu Sans"/>
                <a:cs typeface="DejaVu Sans"/>
              </a:defRPr>
            </a:lvl5pPr>
            <a:lvl6pPr algn="l">
              <a:defRPr sz="1800" b="1">
                <a:solidFill>
                  <a:srgbClr val="EEF0E8"/>
                </a:solidFill>
                <a:latin typeface="DejaVu Sans"/>
                <a:ea typeface="DejaVu Sans"/>
                <a:cs typeface="DejaVu Sans"/>
              </a:defRPr>
            </a:lvl6pPr>
            <a:lvl7pPr algn="l">
              <a:defRPr sz="1800" b="1">
                <a:solidFill>
                  <a:srgbClr val="EEF0E8"/>
                </a:solidFill>
                <a:latin typeface="DejaVu Sans"/>
                <a:ea typeface="DejaVu Sans"/>
                <a:cs typeface="DejaVu Sans"/>
              </a:defRPr>
            </a:lvl7pPr>
            <a:lvl8pPr algn="l">
              <a:defRPr sz="1800" b="1">
                <a:solidFill>
                  <a:srgbClr val="EEF0E8"/>
                </a:solidFill>
                <a:latin typeface="DejaVu Sans"/>
                <a:ea typeface="DejaVu Sans"/>
                <a:cs typeface="DejaVu Sans"/>
              </a:defRPr>
            </a:lvl8pPr>
            <a:lvl9pPr algn="l">
              <a:defRPr sz="1800" b="1">
                <a:solidFill>
                  <a:srgbClr val="EEF0E8"/>
                </a:solidFill>
                <a:latin typeface="DejaVu Sans"/>
                <a:ea typeface="DejaVu Sans"/>
                <a:cs typeface="DejaVu Sans"/>
              </a:defRPr>
            </a:lvl9pPr>
          </a:lstStyle>
          <a:p xmlns:a="http://schemas.openxmlformats.org/drawingml/2006/main">
            <a:pPr algn="l">
              <a:defRPr sz="1800" b="1">
                <a:solidFill>
                  <a:srgbClr val="EEF0E8"/>
                </a:solidFill>
                <a:latin typeface="DejaVu Sans"/>
                <a:ea typeface="DejaVu Sans"/>
                <a:cs typeface="DejaVu Sans"/>
              </a:defRPr>
            </a:pPr>
            <a:r>
              <a:rPr sz="1800" b="1">
                <a:solidFill>
                  <a:srgbClr val="EEF0E8"/>
                </a:solidFill>
                <a:latin typeface="DejaVu Sans"/>
                <a:ea typeface="DejaVu Sans"/>
                <a:cs typeface="DejaVu Sans"/>
              </a:rPr>
              <a:t>02   Check the archive</a:t>
            </a:r>
          </a:p>
        </p:txBody>
      </p:sp>
      <p:sp>
        <p:nvSpPr>
          <p:cNvPr id="14" name="investigate-copy-2">
            <a:extLst xmlns:a="http://schemas.openxmlformats.org/drawingml/2006/main">
              <a:ext uri="{FF2B5EF4-FFF2-40B4-BE49-F238E27FC236}">
                <a16:creationId xmlns:a16="http://schemas.microsoft.com/office/drawing/2014/main" id="{493292F7-2C0D-4698-AB7B-B57F8DFEE5DE}"/>
              </a:ext>
            </a:extLst>
          </p:cNvPr>
          <p:cNvSpPr>
            <a:spLocks xmlns:a="http://schemas.openxmlformats.org/drawingml/2006/main" noGrp="1"/>
          </p:cNvSpPr>
          <p:nvPr/>
        </p:nvSpPr>
        <p:spPr>
          <a:xfrm xmlns:a="http://schemas.openxmlformats.org/drawingml/2006/main">
            <a:off x="7696200" y="3943350"/>
            <a:ext cx="3667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A3A89D"/>
                </a:solidFill>
                <a:latin typeface="DejaVu Sans"/>
                <a:ea typeface="DejaVu Sans"/>
                <a:cs typeface="DejaVu Sans"/>
              </a:defRPr>
            </a:defPPr>
            <a:lvl1pPr algn="l">
              <a:defRPr sz="1350" b="0">
                <a:solidFill>
                  <a:srgbClr val="A3A89D"/>
                </a:solidFill>
                <a:latin typeface="DejaVu Sans"/>
                <a:ea typeface="DejaVu Sans"/>
                <a:cs typeface="DejaVu Sans"/>
              </a:defRPr>
            </a:lvl1pPr>
            <a:lvl2pPr algn="l">
              <a:defRPr sz="1350" b="0">
                <a:solidFill>
                  <a:srgbClr val="A3A89D"/>
                </a:solidFill>
                <a:latin typeface="DejaVu Sans"/>
                <a:ea typeface="DejaVu Sans"/>
                <a:cs typeface="DejaVu Sans"/>
              </a:defRPr>
            </a:lvl2pPr>
            <a:lvl3pPr algn="l">
              <a:defRPr sz="1350" b="0">
                <a:solidFill>
                  <a:srgbClr val="A3A89D"/>
                </a:solidFill>
                <a:latin typeface="DejaVu Sans"/>
                <a:ea typeface="DejaVu Sans"/>
                <a:cs typeface="DejaVu Sans"/>
              </a:defRPr>
            </a:lvl3pPr>
            <a:lvl4pPr algn="l">
              <a:defRPr sz="1350" b="0">
                <a:solidFill>
                  <a:srgbClr val="A3A89D"/>
                </a:solidFill>
                <a:latin typeface="DejaVu Sans"/>
                <a:ea typeface="DejaVu Sans"/>
                <a:cs typeface="DejaVu Sans"/>
              </a:defRPr>
            </a:lvl4pPr>
            <a:lvl5pPr algn="l">
              <a:defRPr sz="1350" b="0">
                <a:solidFill>
                  <a:srgbClr val="A3A89D"/>
                </a:solidFill>
                <a:latin typeface="DejaVu Sans"/>
                <a:ea typeface="DejaVu Sans"/>
                <a:cs typeface="DejaVu Sans"/>
              </a:defRPr>
            </a:lvl5pPr>
            <a:lvl6pPr algn="l">
              <a:defRPr sz="1350" b="0">
                <a:solidFill>
                  <a:srgbClr val="A3A89D"/>
                </a:solidFill>
                <a:latin typeface="DejaVu Sans"/>
                <a:ea typeface="DejaVu Sans"/>
                <a:cs typeface="DejaVu Sans"/>
              </a:defRPr>
            </a:lvl6pPr>
            <a:lvl7pPr algn="l">
              <a:defRPr sz="1350" b="0">
                <a:solidFill>
                  <a:srgbClr val="A3A89D"/>
                </a:solidFill>
                <a:latin typeface="DejaVu Sans"/>
                <a:ea typeface="DejaVu Sans"/>
                <a:cs typeface="DejaVu Sans"/>
              </a:defRPr>
            </a:lvl7pPr>
            <a:lvl8pPr algn="l">
              <a:defRPr sz="1350" b="0">
                <a:solidFill>
                  <a:srgbClr val="A3A89D"/>
                </a:solidFill>
                <a:latin typeface="DejaVu Sans"/>
                <a:ea typeface="DejaVu Sans"/>
                <a:cs typeface="DejaVu Sans"/>
              </a:defRPr>
            </a:lvl8pPr>
            <a:lvl9pPr algn="l">
              <a:defRPr sz="1350" b="0">
                <a:solidFill>
                  <a:srgbClr val="A3A89D"/>
                </a:solidFill>
                <a:latin typeface="DejaVu Sans"/>
                <a:ea typeface="DejaVu Sans"/>
                <a:cs typeface="DejaVu Sans"/>
              </a:defRPr>
            </a:lvl9pPr>
          </a:lstStyle>
          <a:p xmlns:a="http://schemas.openxmlformats.org/drawingml/2006/main">
            <a:pPr algn="l">
              <a:defRPr sz="1350" b="0">
                <a:solidFill>
                  <a:srgbClr val="A3A89D"/>
                </a:solidFill>
                <a:latin typeface="DejaVu Sans"/>
                <a:ea typeface="DejaVu Sans"/>
                <a:cs typeface="DejaVu Sans"/>
              </a:defRPr>
            </a:pPr>
            <a:r>
              <a:rPr sz="1350" b="0">
                <a:solidFill>
                  <a:srgbClr val="A3A89D"/>
                </a:solidFill>
                <a:latin typeface="DejaVu Sans"/>
                <a:ea typeface="DejaVu Sans"/>
                <a:cs typeface="DejaVu Sans"/>
              </a:rPr>
              <a:t>RIFT rehashes the exact archived bytes and compares six stored fields.</a:t>
            </a:r>
          </a:p>
        </p:txBody>
      </p:sp>
      <p:sp>
        <p:nvSpPr>
          <p:cNvPr id="15" name="match-mark">
            <a:extLst xmlns:a="http://schemas.openxmlformats.org/drawingml/2006/main">
              <a:ext uri="{FF2B5EF4-FFF2-40B4-BE49-F238E27FC236}">
                <a16:creationId xmlns:a16="http://schemas.microsoft.com/office/drawing/2014/main" id="{1CE3A68D-946E-49BD-A6ED-3DD39508F744}"/>
              </a:ext>
            </a:extLst>
          </p:cNvPr>
          <p:cNvSpPr>
            <a:spLocks xmlns:a="http://schemas.openxmlformats.org/drawingml/2006/main" noGrp="1"/>
          </p:cNvSpPr>
          <p:nvPr/>
        </p:nvSpPr>
        <p:spPr>
          <a:xfrm xmlns:a="http://schemas.openxmlformats.org/drawingml/2006/main">
            <a:off x="7696200" y="4857750"/>
            <a:ext cx="114300" cy="533400"/>
          </a:xfrm>
          <a:prstGeom xmlns:a="http://schemas.openxmlformats.org/drawingml/2006/main" prst="roundRect">
            <a:avLst>
              <a:gd name="adj" fmla="val 50000"/>
            </a:avLst>
          </a:prstGeom>
          <a:solidFill xmlns:a="http://schemas.openxmlformats.org/drawingml/2006/main">
            <a:srgbClr val="C8FF45"/>
          </a:solidFill>
          <a:ln xmlns:a="http://schemas.openxmlformats.org/drawingml/2006/main" w="0">
            <a:noFill/>
            <a:prstDash val="solid"/>
          </a:ln>
        </p:spPr>
      </p:sp>
      <p:sp>
        <p:nvSpPr>
          <p:cNvPr id="16" name="investigate-match">
            <a:extLst xmlns:a="http://schemas.openxmlformats.org/drawingml/2006/main">
              <a:ext uri="{FF2B5EF4-FFF2-40B4-BE49-F238E27FC236}">
                <a16:creationId xmlns:a16="http://schemas.microsoft.com/office/drawing/2014/main" id="{7033D32E-23AB-4756-BEE1-A232A545EC92}"/>
              </a:ext>
            </a:extLst>
          </p:cNvPr>
          <p:cNvSpPr>
            <a:spLocks xmlns:a="http://schemas.openxmlformats.org/drawingml/2006/main" noGrp="1"/>
          </p:cNvSpPr>
          <p:nvPr/>
        </p:nvSpPr>
        <p:spPr>
          <a:xfrm xmlns:a="http://schemas.openxmlformats.org/drawingml/2006/main">
            <a:off x="7934325" y="48672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8FF45"/>
                </a:solidFill>
                <a:latin typeface="DejaVu Sans"/>
                <a:ea typeface="DejaVu Sans"/>
                <a:cs typeface="DejaVu Sans"/>
              </a:defRPr>
            </a:defPPr>
            <a:lvl1pPr algn="l">
              <a:defRPr sz="1200" b="1">
                <a:solidFill>
                  <a:srgbClr val="C8FF45"/>
                </a:solidFill>
                <a:latin typeface="DejaVu Sans"/>
                <a:ea typeface="DejaVu Sans"/>
                <a:cs typeface="DejaVu Sans"/>
              </a:defRPr>
            </a:lvl1pPr>
            <a:lvl2pPr algn="l">
              <a:defRPr sz="1200" b="1">
                <a:solidFill>
                  <a:srgbClr val="C8FF45"/>
                </a:solidFill>
                <a:latin typeface="DejaVu Sans"/>
                <a:ea typeface="DejaVu Sans"/>
                <a:cs typeface="DejaVu Sans"/>
              </a:defRPr>
            </a:lvl2pPr>
            <a:lvl3pPr algn="l">
              <a:defRPr sz="1200" b="1">
                <a:solidFill>
                  <a:srgbClr val="C8FF45"/>
                </a:solidFill>
                <a:latin typeface="DejaVu Sans"/>
                <a:ea typeface="DejaVu Sans"/>
                <a:cs typeface="DejaVu Sans"/>
              </a:defRPr>
            </a:lvl3pPr>
            <a:lvl4pPr algn="l">
              <a:defRPr sz="1200" b="1">
                <a:solidFill>
                  <a:srgbClr val="C8FF45"/>
                </a:solidFill>
                <a:latin typeface="DejaVu Sans"/>
                <a:ea typeface="DejaVu Sans"/>
                <a:cs typeface="DejaVu Sans"/>
              </a:defRPr>
            </a:lvl4pPr>
            <a:lvl5pPr algn="l">
              <a:defRPr sz="1200" b="1">
                <a:solidFill>
                  <a:srgbClr val="C8FF45"/>
                </a:solidFill>
                <a:latin typeface="DejaVu Sans"/>
                <a:ea typeface="DejaVu Sans"/>
                <a:cs typeface="DejaVu Sans"/>
              </a:defRPr>
            </a:lvl5pPr>
            <a:lvl6pPr algn="l">
              <a:defRPr sz="1200" b="1">
                <a:solidFill>
                  <a:srgbClr val="C8FF45"/>
                </a:solidFill>
                <a:latin typeface="DejaVu Sans"/>
                <a:ea typeface="DejaVu Sans"/>
                <a:cs typeface="DejaVu Sans"/>
              </a:defRPr>
            </a:lvl6pPr>
            <a:lvl7pPr algn="l">
              <a:defRPr sz="1200" b="1">
                <a:solidFill>
                  <a:srgbClr val="C8FF45"/>
                </a:solidFill>
                <a:latin typeface="DejaVu Sans"/>
                <a:ea typeface="DejaVu Sans"/>
                <a:cs typeface="DejaVu Sans"/>
              </a:defRPr>
            </a:lvl7pPr>
            <a:lvl8pPr algn="l">
              <a:defRPr sz="1200" b="1">
                <a:solidFill>
                  <a:srgbClr val="C8FF45"/>
                </a:solidFill>
                <a:latin typeface="DejaVu Sans"/>
                <a:ea typeface="DejaVu Sans"/>
                <a:cs typeface="DejaVu Sans"/>
              </a:defRPr>
            </a:lvl8pPr>
            <a:lvl9pPr algn="l">
              <a:defRPr sz="1200" b="1">
                <a:solidFill>
                  <a:srgbClr val="C8FF45"/>
                </a:solidFill>
                <a:latin typeface="DejaVu Sans"/>
                <a:ea typeface="DejaVu Sans"/>
                <a:cs typeface="DejaVu Sans"/>
              </a:defRPr>
            </a:lvl9pPr>
          </a:lstStyle>
          <a:p xmlns:a="http://schemas.openxmlformats.org/drawingml/2006/main">
            <a:pPr algn="l">
              <a:defRPr sz="1200" b="1">
                <a:solidFill>
                  <a:srgbClr val="C8FF45"/>
                </a:solidFill>
                <a:latin typeface="DejaVu Sans"/>
                <a:ea typeface="DejaVu Sans"/>
                <a:cs typeface="DejaVu Sans"/>
              </a:defRPr>
            </a:pPr>
            <a:r>
              <a:rPr sz="1200" b="1">
                <a:solidFill>
                  <a:srgbClr val="C8FF45"/>
                </a:solidFill>
                <a:latin typeface="DejaVu Sans"/>
                <a:ea typeface="DejaVu Sans"/>
                <a:cs typeface="DejaVu Sans"/>
              </a:rPr>
              <a:t>HASH MATCH  ·  REPORT FIELDS MATCH</a:t>
            </a:r>
          </a:p>
        </p:txBody>
      </p:sp>
      <p:sp>
        <p:nvSpPr>
          <p:cNvPr id="17" name="investigate-block">
            <a:extLst xmlns:a="http://schemas.openxmlformats.org/drawingml/2006/main">
              <a:ext uri="{FF2B5EF4-FFF2-40B4-BE49-F238E27FC236}">
                <a16:creationId xmlns:a16="http://schemas.microsoft.com/office/drawing/2014/main" id="{D34239CF-5ED1-42CF-801E-547C28195BF2}"/>
              </a:ext>
            </a:extLst>
          </p:cNvPr>
          <p:cNvSpPr>
            <a:spLocks xmlns:a="http://schemas.openxmlformats.org/drawingml/2006/main" noGrp="1"/>
          </p:cNvSpPr>
          <p:nvPr/>
        </p:nvSpPr>
        <p:spPr>
          <a:xfrm xmlns:a="http://schemas.openxmlformats.org/drawingml/2006/main">
            <a:off x="7934325" y="5172075"/>
            <a:ext cx="3429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A3A89D"/>
                </a:solidFill>
                <a:latin typeface="DejaVu Sans"/>
                <a:ea typeface="DejaVu Sans"/>
                <a:cs typeface="DejaVu Sans"/>
              </a:defRPr>
            </a:defPPr>
            <a:lvl1pPr algn="l">
              <a:defRPr sz="1275" b="0">
                <a:solidFill>
                  <a:srgbClr val="A3A89D"/>
                </a:solidFill>
                <a:latin typeface="DejaVu Sans"/>
                <a:ea typeface="DejaVu Sans"/>
                <a:cs typeface="DejaVu Sans"/>
              </a:defRPr>
            </a:lvl1pPr>
            <a:lvl2pPr algn="l">
              <a:defRPr sz="1275" b="0">
                <a:solidFill>
                  <a:srgbClr val="A3A89D"/>
                </a:solidFill>
                <a:latin typeface="DejaVu Sans"/>
                <a:ea typeface="DejaVu Sans"/>
                <a:cs typeface="DejaVu Sans"/>
              </a:defRPr>
            </a:lvl2pPr>
            <a:lvl3pPr algn="l">
              <a:defRPr sz="1275" b="0">
                <a:solidFill>
                  <a:srgbClr val="A3A89D"/>
                </a:solidFill>
                <a:latin typeface="DejaVu Sans"/>
                <a:ea typeface="DejaVu Sans"/>
                <a:cs typeface="DejaVu Sans"/>
              </a:defRPr>
            </a:lvl3pPr>
            <a:lvl4pPr algn="l">
              <a:defRPr sz="1275" b="0">
                <a:solidFill>
                  <a:srgbClr val="A3A89D"/>
                </a:solidFill>
                <a:latin typeface="DejaVu Sans"/>
                <a:ea typeface="DejaVu Sans"/>
                <a:cs typeface="DejaVu Sans"/>
              </a:defRPr>
            </a:lvl4pPr>
            <a:lvl5pPr algn="l">
              <a:defRPr sz="1275" b="0">
                <a:solidFill>
                  <a:srgbClr val="A3A89D"/>
                </a:solidFill>
                <a:latin typeface="DejaVu Sans"/>
                <a:ea typeface="DejaVu Sans"/>
                <a:cs typeface="DejaVu Sans"/>
              </a:defRPr>
            </a:lvl5pPr>
            <a:lvl6pPr algn="l">
              <a:defRPr sz="1275" b="0">
                <a:solidFill>
                  <a:srgbClr val="A3A89D"/>
                </a:solidFill>
                <a:latin typeface="DejaVu Sans"/>
                <a:ea typeface="DejaVu Sans"/>
                <a:cs typeface="DejaVu Sans"/>
              </a:defRPr>
            </a:lvl6pPr>
            <a:lvl7pPr algn="l">
              <a:defRPr sz="1275" b="0">
                <a:solidFill>
                  <a:srgbClr val="A3A89D"/>
                </a:solidFill>
                <a:latin typeface="DejaVu Sans"/>
                <a:ea typeface="DejaVu Sans"/>
                <a:cs typeface="DejaVu Sans"/>
              </a:defRPr>
            </a:lvl7pPr>
            <a:lvl8pPr algn="l">
              <a:defRPr sz="1275" b="0">
                <a:solidFill>
                  <a:srgbClr val="A3A89D"/>
                </a:solidFill>
                <a:latin typeface="DejaVu Sans"/>
                <a:ea typeface="DejaVu Sans"/>
                <a:cs typeface="DejaVu Sans"/>
              </a:defRPr>
            </a:lvl8pPr>
            <a:lvl9pPr algn="l">
              <a:defRPr sz="1275" b="0">
                <a:solidFill>
                  <a:srgbClr val="A3A89D"/>
                </a:solidFill>
                <a:latin typeface="DejaVu Sans"/>
                <a:ea typeface="DejaVu Sans"/>
                <a:cs typeface="DejaVu Sans"/>
              </a:defRPr>
            </a:lvl9pPr>
          </a:lstStyle>
          <a:p xmlns:a="http://schemas.openxmlformats.org/drawingml/2006/main">
            <a:pPr algn="l">
              <a:defRPr sz="1275" b="0">
                <a:solidFill>
                  <a:srgbClr val="A3A89D"/>
                </a:solidFill>
                <a:latin typeface="DejaVu Sans"/>
                <a:ea typeface="DejaVu Sans"/>
                <a:cs typeface="DejaVu Sans"/>
              </a:defRPr>
            </a:pPr>
            <a:r>
              <a:rPr sz="1275" b="0">
                <a:solidFill>
                  <a:srgbClr val="A3A89D"/>
                </a:solidFill>
                <a:latin typeface="DejaVu Sans"/>
                <a:ea typeface="DejaVu Sans"/>
                <a:cs typeface="DejaVu Sans"/>
              </a:rPr>
              <a:t>Publication included in block 221,091.</a:t>
            </a:r>
          </a:p>
        </p:txBody>
      </p:sp>
    </p:spTree>
    <p:extLst>
      <p:ext uri="{BB962C8B-B14F-4D97-AF65-F5344CB8AC3E}">
        <p14:creationId xmlns:p14="http://schemas.microsoft.com/office/powerpoint/2010/main" val="1408734093"/>
      </p:ext>
    </p:extLst>
  </p:cSld>
</p:sld>
</file>

<file path=ppt/slides/slide5.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sp>
        <p:nvSpPr>
          <p:cNvPr id="17" name="eyebrow-5">
            <a:extLst xmlns:a="http://schemas.openxmlformats.org/drawingml/2006/main">
              <a:ext uri="{FF2B5EF4-FFF2-40B4-BE49-F238E27FC236}">
                <a16:creationId xmlns:a16="http://schemas.microsoft.com/office/drawing/2014/main" id="{530D2AEC-8616-439D-963F-554DDA0E0311}"/>
              </a:ext>
            </a:extLst>
          </p:cNvPr>
          <p:cNvSpPr>
            <a:spLocks xmlns:a="http://schemas.openxmlformats.org/drawingml/2006/main" noGrp="1"/>
          </p:cNvSpPr>
          <p:nvPr/>
        </p:nvSpPr>
        <p:spPr>
          <a:xfrm xmlns:a="http://schemas.openxmlformats.org/drawingml/2006/main">
            <a:off x="6667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RIFT  /  PORTALDOT V3</a:t>
            </a:r>
          </a:p>
        </p:txBody>
      </p:sp>
      <p:sp>
        <p:nvSpPr>
          <p:cNvPr id="2" name="title-5">
            <a:extLst xmlns:a="http://schemas.openxmlformats.org/drawingml/2006/main">
              <a:ext uri="{FF2B5EF4-FFF2-40B4-BE49-F238E27FC236}">
                <a16:creationId xmlns:a16="http://schemas.microsoft.com/office/drawing/2014/main" id="{384041DE-5B5F-4DD8-93F8-2AB1A0D64B91}"/>
              </a:ext>
            </a:extLst>
          </p:cNvPr>
          <p:cNvSpPr>
            <a:spLocks xmlns:a="http://schemas.openxmlformats.org/drawingml/2006/main" noGrp="1"/>
          </p:cNvSpPr>
          <p:nvPr/>
        </p:nvSpPr>
        <p:spPr>
          <a:xfrm xmlns:a="http://schemas.openxmlformats.org/drawingml/2006/main">
            <a:off x="666750" y="6381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Evidence integrity is not consensus proof</a:t>
            </a:r>
          </a:p>
        </p:txBody>
      </p:sp>
      <p:sp>
        <p:nvSpPr>
          <p:cNvPr id="3" name="subtitle-5">
            <a:extLst xmlns:a="http://schemas.openxmlformats.org/drawingml/2006/main">
              <a:ext uri="{FF2B5EF4-FFF2-40B4-BE49-F238E27FC236}">
                <a16:creationId xmlns:a16="http://schemas.microsoft.com/office/drawing/2014/main" id="{666357F7-F451-484F-9D8E-56BBA82CC86B}"/>
              </a:ext>
            </a:extLst>
          </p:cNvPr>
          <p:cNvSpPr>
            <a:spLocks xmlns:a="http://schemas.openxmlformats.org/drawingml/2006/main" noGrp="1"/>
          </p:cNvSpPr>
          <p:nvPr/>
        </p:nvSpPr>
        <p:spPr>
          <a:xfrm xmlns:a="http://schemas.openxmlformats.org/drawingml/2006/main">
            <a:off x="666750" y="121920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3A89D"/>
                </a:solidFill>
                <a:latin typeface="DejaVu Sans"/>
                <a:ea typeface="DejaVu Sans"/>
                <a:cs typeface="DejaVu Sans"/>
              </a:defRPr>
            </a:defPPr>
            <a:lvl1pPr algn="l">
              <a:defRPr sz="1650" b="0">
                <a:solidFill>
                  <a:srgbClr val="A3A89D"/>
                </a:solidFill>
                <a:latin typeface="DejaVu Sans"/>
                <a:ea typeface="DejaVu Sans"/>
                <a:cs typeface="DejaVu Sans"/>
              </a:defRPr>
            </a:lvl1pPr>
            <a:lvl2pPr algn="l">
              <a:defRPr sz="1650" b="0">
                <a:solidFill>
                  <a:srgbClr val="A3A89D"/>
                </a:solidFill>
                <a:latin typeface="DejaVu Sans"/>
                <a:ea typeface="DejaVu Sans"/>
                <a:cs typeface="DejaVu Sans"/>
              </a:defRPr>
            </a:lvl2pPr>
            <a:lvl3pPr algn="l">
              <a:defRPr sz="1650" b="0">
                <a:solidFill>
                  <a:srgbClr val="A3A89D"/>
                </a:solidFill>
                <a:latin typeface="DejaVu Sans"/>
                <a:ea typeface="DejaVu Sans"/>
                <a:cs typeface="DejaVu Sans"/>
              </a:defRPr>
            </a:lvl3pPr>
            <a:lvl4pPr algn="l">
              <a:defRPr sz="1650" b="0">
                <a:solidFill>
                  <a:srgbClr val="A3A89D"/>
                </a:solidFill>
                <a:latin typeface="DejaVu Sans"/>
                <a:ea typeface="DejaVu Sans"/>
                <a:cs typeface="DejaVu Sans"/>
              </a:defRPr>
            </a:lvl4pPr>
            <a:lvl5pPr algn="l">
              <a:defRPr sz="1650" b="0">
                <a:solidFill>
                  <a:srgbClr val="A3A89D"/>
                </a:solidFill>
                <a:latin typeface="DejaVu Sans"/>
                <a:ea typeface="DejaVu Sans"/>
                <a:cs typeface="DejaVu Sans"/>
              </a:defRPr>
            </a:lvl5pPr>
            <a:lvl6pPr algn="l">
              <a:defRPr sz="1650" b="0">
                <a:solidFill>
                  <a:srgbClr val="A3A89D"/>
                </a:solidFill>
                <a:latin typeface="DejaVu Sans"/>
                <a:ea typeface="DejaVu Sans"/>
                <a:cs typeface="DejaVu Sans"/>
              </a:defRPr>
            </a:lvl6pPr>
            <a:lvl7pPr algn="l">
              <a:defRPr sz="1650" b="0">
                <a:solidFill>
                  <a:srgbClr val="A3A89D"/>
                </a:solidFill>
                <a:latin typeface="DejaVu Sans"/>
                <a:ea typeface="DejaVu Sans"/>
                <a:cs typeface="DejaVu Sans"/>
              </a:defRPr>
            </a:lvl7pPr>
            <a:lvl8pPr algn="l">
              <a:defRPr sz="1650" b="0">
                <a:solidFill>
                  <a:srgbClr val="A3A89D"/>
                </a:solidFill>
                <a:latin typeface="DejaVu Sans"/>
                <a:ea typeface="DejaVu Sans"/>
                <a:cs typeface="DejaVu Sans"/>
              </a:defRPr>
            </a:lvl8pPr>
            <a:lvl9pPr algn="l">
              <a:defRPr sz="1650" b="0">
                <a:solidFill>
                  <a:srgbClr val="A3A89D"/>
                </a:solidFill>
                <a:latin typeface="DejaVu Sans"/>
                <a:ea typeface="DejaVu Sans"/>
                <a:cs typeface="DejaVu Sans"/>
              </a:defRPr>
            </a:lvl9pPr>
          </a:lstStyle>
          <a:p xmlns:a="http://schemas.openxmlformats.org/drawingml/2006/main">
            <a:pPr algn="l">
              <a:defRPr sz="1650" b="0">
                <a:solidFill>
                  <a:srgbClr val="A3A89D"/>
                </a:solidFill>
                <a:latin typeface="DejaVu Sans"/>
                <a:ea typeface="DejaVu Sans"/>
                <a:cs typeface="DejaVu Sans"/>
              </a:defRPr>
            </a:pPr>
            <a:r>
              <a:rPr sz="1650" b="0">
                <a:solidFill>
                  <a:srgbClr val="A3A89D"/>
                </a:solidFill>
                <a:latin typeface="DejaVu Sans"/>
                <a:ea typeface="DejaVu Sans"/>
                <a:cs typeface="DejaVu Sans"/>
              </a:rPr>
              <a:t>The report can be checked against its archive without overstating what that proves.</a:t>
            </a:r>
          </a:p>
        </p:txBody>
      </p:sp>
      <p:sp>
        <p:nvSpPr>
          <p:cNvPr id="4" name="rule-70-177">
            <a:extLst xmlns:a="http://schemas.openxmlformats.org/drawingml/2006/main">
              <a:ext uri="{FF2B5EF4-FFF2-40B4-BE49-F238E27FC236}">
                <a16:creationId xmlns:a16="http://schemas.microsoft.com/office/drawing/2014/main" id="{64367A7E-1AB0-4398-9CF0-5D4DE43F2CFF}"/>
              </a:ext>
            </a:extLst>
          </p:cNvPr>
          <p:cNvSpPr>
            <a:spLocks xmlns:a="http://schemas.openxmlformats.org/drawingml/2006/main" noGrp="1"/>
          </p:cNvSpPr>
          <p:nvPr/>
        </p:nvSpPr>
        <p:spPr>
          <a:xfrm xmlns:a="http://schemas.openxmlformats.org/drawingml/2006/main">
            <a:off x="666750" y="1685925"/>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5" name="rule-70-674">
            <a:extLst xmlns:a="http://schemas.openxmlformats.org/drawingml/2006/main">
              <a:ext uri="{FF2B5EF4-FFF2-40B4-BE49-F238E27FC236}">
                <a16:creationId xmlns:a16="http://schemas.microsoft.com/office/drawing/2014/main" id="{1D9DBFE9-EFF8-4583-9248-CCE18DE3BE7F}"/>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6" name="footer-5">
            <a:extLst xmlns:a="http://schemas.openxmlformats.org/drawingml/2006/main">
              <a:ext uri="{FF2B5EF4-FFF2-40B4-BE49-F238E27FC236}">
                <a16:creationId xmlns:a16="http://schemas.microsoft.com/office/drawing/2014/main" id="{7E5A5EE5-1CAE-4E9E-9D75-6C60008BB410}"/>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7" name="page-5">
            <a:extLst xmlns:a="http://schemas.openxmlformats.org/drawingml/2006/main">
              <a:ext uri="{FF2B5EF4-FFF2-40B4-BE49-F238E27FC236}">
                <a16:creationId xmlns:a16="http://schemas.microsoft.com/office/drawing/2014/main" id="{B547BD32-47C9-42A1-95B0-262656D610F9}"/>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05  /  06</a:t>
            </a:r>
          </a:p>
        </p:txBody>
      </p:sp>
      <p:sp>
        <p:nvSpPr>
          <p:cNvPr id="8" name="frame-verify-slide.png">
            <a:extLst xmlns:a="http://schemas.openxmlformats.org/drawingml/2006/main">
              <a:ext uri="{FF2B5EF4-FFF2-40B4-BE49-F238E27FC236}">
                <a16:creationId xmlns:a16="http://schemas.microsoft.com/office/drawing/2014/main" id="{155B9B0F-0CDB-4883-8B27-ED01C0B770FB}"/>
              </a:ext>
            </a:extLst>
          </p:cNvPr>
          <p:cNvSpPr>
            <a:spLocks xmlns:a="http://schemas.openxmlformats.org/drawingml/2006/main" noGrp="1"/>
          </p:cNvSpPr>
          <p:nvPr/>
        </p:nvSpPr>
        <p:spPr>
          <a:xfrm xmlns:a="http://schemas.openxmlformats.org/drawingml/2006/main">
            <a:off x="647700" y="1981200"/>
            <a:ext cx="6705600" cy="3495675"/>
          </a:xfrm>
          <a:prstGeom xmlns:a="http://schemas.openxmlformats.org/drawingml/2006/main" prst="roundRect">
            <a:avLst>
              <a:gd name="adj" fmla="val 2725"/>
            </a:avLst>
          </a:prstGeom>
          <a:solidFill xmlns:a="http://schemas.openxmlformats.org/drawingml/2006/main">
            <a:srgbClr val="141715"/>
          </a:solidFill>
          <a:ln xmlns:a="http://schemas.openxmlformats.org/drawingml/2006/main" w="9525">
            <a:solidFill>
              <a:srgbClr val="303630"/>
            </a:solidFill>
            <a:prstDash val="solid"/>
          </a:ln>
        </p:spPr>
      </p:sp>
      <p:pic>
        <p:nvPicPr>
          <p:cNvPr id="9" name="">
            <a:extLst xmlns:a="http://schemas.openxmlformats.org/drawingml/2006/main">
              <a:ext uri="{FF2B5EF4-FFF2-40B4-BE49-F238E27FC236}">
                <a16:creationId xmlns:a16="http://schemas.microsoft.com/office/drawing/2014/main" id="{B8F7281D-7DBB-4AD0-B047-DFA1975EC5A5}"/>
              </a:ext>
            </a:extLst>
          </p:cNvPr>
          <p:cNvPicPr>
            <a:picLocks xmlns:a="http://schemas.openxmlformats.org/drawingml/2006/main" noChangeAspect="1"/>
          </p:cNvPicPr>
          <p:nvPr/>
        </p:nvPicPr>
        <p:blipFill>
          <a:blip xmlns:r="http://schemas.openxmlformats.org/officeDocument/2006/relationships" xmlns:a="http://schemas.openxmlformats.org/drawingml/2006/main" r:embed="Red54a3dcf65b43b0"/>
          <a:stretch xmlns:a="http://schemas.openxmlformats.org/drawingml/2006/main"/>
        </p:blipFill>
        <p:spPr>
          <a:xfrm xmlns:a="http://schemas.openxmlformats.org/drawingml/2006/main">
            <a:off x="666750" y="2002631"/>
            <a:ext cx="6667500" cy="3452813"/>
          </a:xfrm>
          <a:prstGeom xmlns:a="http://schemas.openxmlformats.org/drawingml/2006/main" prst="roundRect">
            <a:avLst>
              <a:gd name="adj" fmla="val 2204"/>
            </a:avLst>
          </a:prstGeom>
        </p:spPr>
      </p:pic>
      <p:sp>
        <p:nvSpPr>
          <p:cNvPr id="10" name="evidence-kicker">
            <a:extLst xmlns:a="http://schemas.openxmlformats.org/drawingml/2006/main">
              <a:ext uri="{FF2B5EF4-FFF2-40B4-BE49-F238E27FC236}">
                <a16:creationId xmlns:a16="http://schemas.microsoft.com/office/drawing/2014/main" id="{369A7077-0AB9-407D-B4EE-C321EDE28AD7}"/>
              </a:ext>
            </a:extLst>
          </p:cNvPr>
          <p:cNvSpPr>
            <a:spLocks xmlns:a="http://schemas.openxmlformats.org/drawingml/2006/main" noGrp="1"/>
          </p:cNvSpPr>
          <p:nvPr/>
        </p:nvSpPr>
        <p:spPr>
          <a:xfrm xmlns:a="http://schemas.openxmlformats.org/drawingml/2006/main">
            <a:off x="7696200" y="19907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WHAT THE CHECK ESTABLISHES</a:t>
            </a:r>
          </a:p>
        </p:txBody>
      </p:sp>
      <p:sp>
        <p:nvSpPr>
          <p:cNvPr id="11" name="evidence-hash">
            <a:extLst xmlns:a="http://schemas.openxmlformats.org/drawingml/2006/main">
              <a:ext uri="{FF2B5EF4-FFF2-40B4-BE49-F238E27FC236}">
                <a16:creationId xmlns:a16="http://schemas.microsoft.com/office/drawing/2014/main" id="{A2B98EE7-2CB1-4FD9-91E4-5947E8E12F44}"/>
              </a:ext>
            </a:extLst>
          </p:cNvPr>
          <p:cNvSpPr>
            <a:spLocks xmlns:a="http://schemas.openxmlformats.org/drawingml/2006/main" noGrp="1"/>
          </p:cNvSpPr>
          <p:nvPr/>
        </p:nvSpPr>
        <p:spPr>
          <a:xfrm xmlns:a="http://schemas.openxmlformats.org/drawingml/2006/main">
            <a:off x="7696200" y="2428875"/>
            <a:ext cx="3695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EEF0E8"/>
                </a:solidFill>
                <a:latin typeface="DejaVu Sans"/>
                <a:ea typeface="DejaVu Sans"/>
                <a:cs typeface="DejaVu Sans"/>
              </a:defRPr>
            </a:defPPr>
            <a:lvl1pPr algn="l">
              <a:defRPr sz="1575" b="1">
                <a:solidFill>
                  <a:srgbClr val="EEF0E8"/>
                </a:solidFill>
                <a:latin typeface="DejaVu Sans"/>
                <a:ea typeface="DejaVu Sans"/>
                <a:cs typeface="DejaVu Sans"/>
              </a:defRPr>
            </a:lvl1pPr>
            <a:lvl2pPr algn="l">
              <a:defRPr sz="1575" b="1">
                <a:solidFill>
                  <a:srgbClr val="EEF0E8"/>
                </a:solidFill>
                <a:latin typeface="DejaVu Sans"/>
                <a:ea typeface="DejaVu Sans"/>
                <a:cs typeface="DejaVu Sans"/>
              </a:defRPr>
            </a:lvl2pPr>
            <a:lvl3pPr algn="l">
              <a:defRPr sz="1575" b="1">
                <a:solidFill>
                  <a:srgbClr val="EEF0E8"/>
                </a:solidFill>
                <a:latin typeface="DejaVu Sans"/>
                <a:ea typeface="DejaVu Sans"/>
                <a:cs typeface="DejaVu Sans"/>
              </a:defRPr>
            </a:lvl3pPr>
            <a:lvl4pPr algn="l">
              <a:defRPr sz="1575" b="1">
                <a:solidFill>
                  <a:srgbClr val="EEF0E8"/>
                </a:solidFill>
                <a:latin typeface="DejaVu Sans"/>
                <a:ea typeface="DejaVu Sans"/>
                <a:cs typeface="DejaVu Sans"/>
              </a:defRPr>
            </a:lvl4pPr>
            <a:lvl5pPr algn="l">
              <a:defRPr sz="1575" b="1">
                <a:solidFill>
                  <a:srgbClr val="EEF0E8"/>
                </a:solidFill>
                <a:latin typeface="DejaVu Sans"/>
                <a:ea typeface="DejaVu Sans"/>
                <a:cs typeface="DejaVu Sans"/>
              </a:defRPr>
            </a:lvl5pPr>
            <a:lvl6pPr algn="l">
              <a:defRPr sz="1575" b="1">
                <a:solidFill>
                  <a:srgbClr val="EEF0E8"/>
                </a:solidFill>
                <a:latin typeface="DejaVu Sans"/>
                <a:ea typeface="DejaVu Sans"/>
                <a:cs typeface="DejaVu Sans"/>
              </a:defRPr>
            </a:lvl6pPr>
            <a:lvl7pPr algn="l">
              <a:defRPr sz="1575" b="1">
                <a:solidFill>
                  <a:srgbClr val="EEF0E8"/>
                </a:solidFill>
                <a:latin typeface="DejaVu Sans"/>
                <a:ea typeface="DejaVu Sans"/>
                <a:cs typeface="DejaVu Sans"/>
              </a:defRPr>
            </a:lvl7pPr>
            <a:lvl8pPr algn="l">
              <a:defRPr sz="1575" b="1">
                <a:solidFill>
                  <a:srgbClr val="EEF0E8"/>
                </a:solidFill>
                <a:latin typeface="DejaVu Sans"/>
                <a:ea typeface="DejaVu Sans"/>
                <a:cs typeface="DejaVu Sans"/>
              </a:defRPr>
            </a:lvl8pPr>
            <a:lvl9pPr algn="l">
              <a:defRPr sz="1575" b="1">
                <a:solidFill>
                  <a:srgbClr val="EEF0E8"/>
                </a:solidFill>
                <a:latin typeface="DejaVu Sans"/>
                <a:ea typeface="DejaVu Sans"/>
                <a:cs typeface="DejaVu Sans"/>
              </a:defRPr>
            </a:lvl9pPr>
          </a:lstStyle>
          <a:p xmlns:a="http://schemas.openxmlformats.org/drawingml/2006/main">
            <a:pPr algn="l">
              <a:defRPr sz="1575" b="1">
                <a:solidFill>
                  <a:srgbClr val="EEF0E8"/>
                </a:solidFill>
                <a:latin typeface="DejaVu Sans"/>
                <a:ea typeface="DejaVu Sans"/>
                <a:cs typeface="DejaVu Sans"/>
              </a:defRPr>
            </a:pPr>
            <a:r>
              <a:rPr sz="1575" b="1">
                <a:solidFill>
                  <a:srgbClr val="EEF0E8"/>
                </a:solidFill>
                <a:latin typeface="DejaVu Sans"/>
                <a:ea typeface="DejaVu Sans"/>
                <a:cs typeface="DejaVu Sans"/>
              </a:rPr>
              <a:t>Keccak of the exact archived JSON matches the payload hash.</a:t>
            </a:r>
          </a:p>
        </p:txBody>
      </p:sp>
      <p:sp>
        <p:nvSpPr>
          <p:cNvPr id="12" name="evidence-fields">
            <a:extLst xmlns:a="http://schemas.openxmlformats.org/drawingml/2006/main">
              <a:ext uri="{FF2B5EF4-FFF2-40B4-BE49-F238E27FC236}">
                <a16:creationId xmlns:a16="http://schemas.microsoft.com/office/drawing/2014/main" id="{30A887C4-E556-414E-850D-19CCB7520E4D}"/>
              </a:ext>
            </a:extLst>
          </p:cNvPr>
          <p:cNvSpPr>
            <a:spLocks xmlns:a="http://schemas.openxmlformats.org/drawingml/2006/main" noGrp="1"/>
          </p:cNvSpPr>
          <p:nvPr/>
        </p:nvSpPr>
        <p:spPr>
          <a:xfrm xmlns:a="http://schemas.openxmlformats.org/drawingml/2006/main">
            <a:off x="7696200" y="3190875"/>
            <a:ext cx="3695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3A89D"/>
                </a:solidFill>
                <a:latin typeface="DejaVu Sans"/>
                <a:ea typeface="DejaVu Sans"/>
                <a:cs typeface="DejaVu Sans"/>
              </a:defRPr>
            </a:defPPr>
            <a:lvl1pPr algn="l">
              <a:defRPr sz="1425" b="0">
                <a:solidFill>
                  <a:srgbClr val="A3A89D"/>
                </a:solidFill>
                <a:latin typeface="DejaVu Sans"/>
                <a:ea typeface="DejaVu Sans"/>
                <a:cs typeface="DejaVu Sans"/>
              </a:defRPr>
            </a:lvl1pPr>
            <a:lvl2pPr algn="l">
              <a:defRPr sz="1425" b="0">
                <a:solidFill>
                  <a:srgbClr val="A3A89D"/>
                </a:solidFill>
                <a:latin typeface="DejaVu Sans"/>
                <a:ea typeface="DejaVu Sans"/>
                <a:cs typeface="DejaVu Sans"/>
              </a:defRPr>
            </a:lvl2pPr>
            <a:lvl3pPr algn="l">
              <a:defRPr sz="1425" b="0">
                <a:solidFill>
                  <a:srgbClr val="A3A89D"/>
                </a:solidFill>
                <a:latin typeface="DejaVu Sans"/>
                <a:ea typeface="DejaVu Sans"/>
                <a:cs typeface="DejaVu Sans"/>
              </a:defRPr>
            </a:lvl3pPr>
            <a:lvl4pPr algn="l">
              <a:defRPr sz="1425" b="0">
                <a:solidFill>
                  <a:srgbClr val="A3A89D"/>
                </a:solidFill>
                <a:latin typeface="DejaVu Sans"/>
                <a:ea typeface="DejaVu Sans"/>
                <a:cs typeface="DejaVu Sans"/>
              </a:defRPr>
            </a:lvl4pPr>
            <a:lvl5pPr algn="l">
              <a:defRPr sz="1425" b="0">
                <a:solidFill>
                  <a:srgbClr val="A3A89D"/>
                </a:solidFill>
                <a:latin typeface="DejaVu Sans"/>
                <a:ea typeface="DejaVu Sans"/>
                <a:cs typeface="DejaVu Sans"/>
              </a:defRPr>
            </a:lvl5pPr>
            <a:lvl6pPr algn="l">
              <a:defRPr sz="1425" b="0">
                <a:solidFill>
                  <a:srgbClr val="A3A89D"/>
                </a:solidFill>
                <a:latin typeface="DejaVu Sans"/>
                <a:ea typeface="DejaVu Sans"/>
                <a:cs typeface="DejaVu Sans"/>
              </a:defRPr>
            </a:lvl6pPr>
            <a:lvl7pPr algn="l">
              <a:defRPr sz="1425" b="0">
                <a:solidFill>
                  <a:srgbClr val="A3A89D"/>
                </a:solidFill>
                <a:latin typeface="DejaVu Sans"/>
                <a:ea typeface="DejaVu Sans"/>
                <a:cs typeface="DejaVu Sans"/>
              </a:defRPr>
            </a:lvl7pPr>
            <a:lvl8pPr algn="l">
              <a:defRPr sz="1425" b="0">
                <a:solidFill>
                  <a:srgbClr val="A3A89D"/>
                </a:solidFill>
                <a:latin typeface="DejaVu Sans"/>
                <a:ea typeface="DejaVu Sans"/>
                <a:cs typeface="DejaVu Sans"/>
              </a:defRPr>
            </a:lvl8pPr>
            <a:lvl9pPr algn="l">
              <a:defRPr sz="1425" b="0">
                <a:solidFill>
                  <a:srgbClr val="A3A89D"/>
                </a:solidFill>
                <a:latin typeface="DejaVu Sans"/>
                <a:ea typeface="DejaVu Sans"/>
                <a:cs typeface="DejaVu Sans"/>
              </a:defRPr>
            </a:lvl9pPr>
          </a:lstStyle>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Six archived fields match the registry record: head heights, BEEFY set, authority count, and observed slot gaps.</a:t>
            </a:r>
          </a:p>
        </p:txBody>
      </p:sp>
      <p:sp>
        <p:nvSpPr>
          <p:cNvPr id="13" name="rule-808-452">
            <a:extLst xmlns:a="http://schemas.openxmlformats.org/drawingml/2006/main">
              <a:ext uri="{FF2B5EF4-FFF2-40B4-BE49-F238E27FC236}">
                <a16:creationId xmlns:a16="http://schemas.microsoft.com/office/drawing/2014/main" id="{B29D1395-39A1-435F-AA05-434A96713DEA}"/>
              </a:ext>
            </a:extLst>
          </p:cNvPr>
          <p:cNvSpPr>
            <a:spLocks xmlns:a="http://schemas.openxmlformats.org/drawingml/2006/main" noGrp="1"/>
          </p:cNvSpPr>
          <p:nvPr/>
        </p:nvSpPr>
        <p:spPr>
          <a:xfrm xmlns:a="http://schemas.openxmlformats.org/drawingml/2006/main">
            <a:off x="7696200" y="4305300"/>
            <a:ext cx="36957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4" name="boundary-label">
            <a:extLst xmlns:a="http://schemas.openxmlformats.org/drawingml/2006/main">
              <a:ext uri="{FF2B5EF4-FFF2-40B4-BE49-F238E27FC236}">
                <a16:creationId xmlns:a16="http://schemas.microsoft.com/office/drawing/2014/main" id="{40AAFC38-C8F9-4514-889C-3F09A291F68E}"/>
              </a:ext>
            </a:extLst>
          </p:cNvPr>
          <p:cNvSpPr>
            <a:spLocks xmlns:a="http://schemas.openxmlformats.org/drawingml/2006/main" noGrp="1"/>
          </p:cNvSpPr>
          <p:nvPr/>
        </p:nvSpPr>
        <p:spPr>
          <a:xfrm xmlns:a="http://schemas.openxmlformats.org/drawingml/2006/main">
            <a:off x="7696200" y="44767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FC366"/>
                </a:solidFill>
                <a:latin typeface="DejaVu Sans"/>
                <a:ea typeface="DejaVu Sans"/>
                <a:cs typeface="DejaVu Sans"/>
              </a:defRPr>
            </a:defPPr>
            <a:lvl1pPr algn="l">
              <a:defRPr sz="1050" b="1">
                <a:solidFill>
                  <a:srgbClr val="FFC366"/>
                </a:solidFill>
                <a:latin typeface="DejaVu Sans"/>
                <a:ea typeface="DejaVu Sans"/>
                <a:cs typeface="DejaVu Sans"/>
              </a:defRPr>
            </a:lvl1pPr>
            <a:lvl2pPr algn="l">
              <a:defRPr sz="1050" b="1">
                <a:solidFill>
                  <a:srgbClr val="FFC366"/>
                </a:solidFill>
                <a:latin typeface="DejaVu Sans"/>
                <a:ea typeface="DejaVu Sans"/>
                <a:cs typeface="DejaVu Sans"/>
              </a:defRPr>
            </a:lvl2pPr>
            <a:lvl3pPr algn="l">
              <a:defRPr sz="1050" b="1">
                <a:solidFill>
                  <a:srgbClr val="FFC366"/>
                </a:solidFill>
                <a:latin typeface="DejaVu Sans"/>
                <a:ea typeface="DejaVu Sans"/>
                <a:cs typeface="DejaVu Sans"/>
              </a:defRPr>
            </a:lvl3pPr>
            <a:lvl4pPr algn="l">
              <a:defRPr sz="1050" b="1">
                <a:solidFill>
                  <a:srgbClr val="FFC366"/>
                </a:solidFill>
                <a:latin typeface="DejaVu Sans"/>
                <a:ea typeface="DejaVu Sans"/>
                <a:cs typeface="DejaVu Sans"/>
              </a:defRPr>
            </a:lvl4pPr>
            <a:lvl5pPr algn="l">
              <a:defRPr sz="1050" b="1">
                <a:solidFill>
                  <a:srgbClr val="FFC366"/>
                </a:solidFill>
                <a:latin typeface="DejaVu Sans"/>
                <a:ea typeface="DejaVu Sans"/>
                <a:cs typeface="DejaVu Sans"/>
              </a:defRPr>
            </a:lvl5pPr>
            <a:lvl6pPr algn="l">
              <a:defRPr sz="1050" b="1">
                <a:solidFill>
                  <a:srgbClr val="FFC366"/>
                </a:solidFill>
                <a:latin typeface="DejaVu Sans"/>
                <a:ea typeface="DejaVu Sans"/>
                <a:cs typeface="DejaVu Sans"/>
              </a:defRPr>
            </a:lvl6pPr>
            <a:lvl7pPr algn="l">
              <a:defRPr sz="1050" b="1">
                <a:solidFill>
                  <a:srgbClr val="FFC366"/>
                </a:solidFill>
                <a:latin typeface="DejaVu Sans"/>
                <a:ea typeface="DejaVu Sans"/>
                <a:cs typeface="DejaVu Sans"/>
              </a:defRPr>
            </a:lvl7pPr>
            <a:lvl8pPr algn="l">
              <a:defRPr sz="1050" b="1">
                <a:solidFill>
                  <a:srgbClr val="FFC366"/>
                </a:solidFill>
                <a:latin typeface="DejaVu Sans"/>
                <a:ea typeface="DejaVu Sans"/>
                <a:cs typeface="DejaVu Sans"/>
              </a:defRPr>
            </a:lvl8pPr>
            <a:lvl9pPr algn="l">
              <a:defRPr sz="1050" b="1">
                <a:solidFill>
                  <a:srgbClr val="FFC366"/>
                </a:solidFill>
                <a:latin typeface="DejaVu Sans"/>
                <a:ea typeface="DejaVu Sans"/>
                <a:cs typeface="DejaVu Sans"/>
              </a:defRPr>
            </a:lvl9pPr>
          </a:lstStyle>
          <a:p xmlns:a="http://schemas.openxmlformats.org/drawingml/2006/main">
            <a:pPr algn="l">
              <a:defRPr sz="1050" b="1">
                <a:solidFill>
                  <a:srgbClr val="FFC366"/>
                </a:solidFill>
                <a:latin typeface="DejaVu Sans"/>
                <a:ea typeface="DejaVu Sans"/>
                <a:cs typeface="DejaVu Sans"/>
              </a:defRPr>
            </a:pPr>
            <a:r>
              <a:rPr sz="1050" b="1">
                <a:solidFill>
                  <a:srgbClr val="FFC366"/>
                </a:solidFill>
                <a:latin typeface="DejaVu Sans"/>
                <a:ea typeface="DejaVu Sans"/>
                <a:cs typeface="DejaVu Sans"/>
              </a:rPr>
              <a:t>TRUST BOUNDARY</a:t>
            </a:r>
          </a:p>
        </p:txBody>
      </p:sp>
      <p:sp>
        <p:nvSpPr>
          <p:cNvPr id="15" name="boundary-copy">
            <a:extLst xmlns:a="http://schemas.openxmlformats.org/drawingml/2006/main">
              <a:ext uri="{FF2B5EF4-FFF2-40B4-BE49-F238E27FC236}">
                <a16:creationId xmlns:a16="http://schemas.microsoft.com/office/drawing/2014/main" id="{E74C0F98-A7E7-4FFF-92DB-BCBB526DDB96}"/>
              </a:ext>
            </a:extLst>
          </p:cNvPr>
          <p:cNvSpPr>
            <a:spLocks xmlns:a="http://schemas.openxmlformats.org/drawingml/2006/main" noGrp="1"/>
          </p:cNvSpPr>
          <p:nvPr/>
        </p:nvSpPr>
        <p:spPr>
          <a:xfrm xmlns:a="http://schemas.openxmlformats.org/drawingml/2006/main">
            <a:off x="7696200" y="4791075"/>
            <a:ext cx="36957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EEF0E8"/>
                </a:solidFill>
                <a:latin typeface="DejaVu Sans"/>
                <a:ea typeface="DejaVu Sans"/>
                <a:cs typeface="DejaVu Sans"/>
              </a:defRPr>
            </a:defPPr>
            <a:lvl1pPr algn="l">
              <a:defRPr sz="1425" b="0">
                <a:solidFill>
                  <a:srgbClr val="EEF0E8"/>
                </a:solidFill>
                <a:latin typeface="DejaVu Sans"/>
                <a:ea typeface="DejaVu Sans"/>
                <a:cs typeface="DejaVu Sans"/>
              </a:defRPr>
            </a:lvl1pPr>
            <a:lvl2pPr algn="l">
              <a:defRPr sz="1425" b="0">
                <a:solidFill>
                  <a:srgbClr val="EEF0E8"/>
                </a:solidFill>
                <a:latin typeface="DejaVu Sans"/>
                <a:ea typeface="DejaVu Sans"/>
                <a:cs typeface="DejaVu Sans"/>
              </a:defRPr>
            </a:lvl2pPr>
            <a:lvl3pPr algn="l">
              <a:defRPr sz="1425" b="0">
                <a:solidFill>
                  <a:srgbClr val="EEF0E8"/>
                </a:solidFill>
                <a:latin typeface="DejaVu Sans"/>
                <a:ea typeface="DejaVu Sans"/>
                <a:cs typeface="DejaVu Sans"/>
              </a:defRPr>
            </a:lvl3pPr>
            <a:lvl4pPr algn="l">
              <a:defRPr sz="1425" b="0">
                <a:solidFill>
                  <a:srgbClr val="EEF0E8"/>
                </a:solidFill>
                <a:latin typeface="DejaVu Sans"/>
                <a:ea typeface="DejaVu Sans"/>
                <a:cs typeface="DejaVu Sans"/>
              </a:defRPr>
            </a:lvl4pPr>
            <a:lvl5pPr algn="l">
              <a:defRPr sz="1425" b="0">
                <a:solidFill>
                  <a:srgbClr val="EEF0E8"/>
                </a:solidFill>
                <a:latin typeface="DejaVu Sans"/>
                <a:ea typeface="DejaVu Sans"/>
                <a:cs typeface="DejaVu Sans"/>
              </a:defRPr>
            </a:lvl5pPr>
            <a:lvl6pPr algn="l">
              <a:defRPr sz="1425" b="0">
                <a:solidFill>
                  <a:srgbClr val="EEF0E8"/>
                </a:solidFill>
                <a:latin typeface="DejaVu Sans"/>
                <a:ea typeface="DejaVu Sans"/>
                <a:cs typeface="DejaVu Sans"/>
              </a:defRPr>
            </a:lvl6pPr>
            <a:lvl7pPr algn="l">
              <a:defRPr sz="1425" b="0">
                <a:solidFill>
                  <a:srgbClr val="EEF0E8"/>
                </a:solidFill>
                <a:latin typeface="DejaVu Sans"/>
                <a:ea typeface="DejaVu Sans"/>
                <a:cs typeface="DejaVu Sans"/>
              </a:defRPr>
            </a:lvl7pPr>
            <a:lvl8pPr algn="l">
              <a:defRPr sz="1425" b="0">
                <a:solidFill>
                  <a:srgbClr val="EEF0E8"/>
                </a:solidFill>
                <a:latin typeface="DejaVu Sans"/>
                <a:ea typeface="DejaVu Sans"/>
                <a:cs typeface="DejaVu Sans"/>
              </a:defRPr>
            </a:lvl8pPr>
            <a:lvl9pPr algn="l">
              <a:defRPr sz="1425" b="0">
                <a:solidFill>
                  <a:srgbClr val="EEF0E8"/>
                </a:solidFill>
                <a:latin typeface="DejaVu Sans"/>
                <a:ea typeface="DejaVu Sans"/>
                <a:cs typeface="DejaVu Sans"/>
              </a:defRPr>
            </a:lvl9pPr>
          </a:lstStyle>
          <a:p xmlns:a="http://schemas.openxmlformats.org/drawingml/2006/main">
            <a:pPr algn="l">
              <a:defRPr sz="1425" b="0">
                <a:solidFill>
                  <a:srgbClr val="EEF0E8"/>
                </a:solidFill>
                <a:latin typeface="DejaVu Sans"/>
                <a:ea typeface="DejaVu Sans"/>
                <a:cs typeface="DejaVu Sans"/>
              </a:defRPr>
            </a:pPr>
            <a:r>
              <a:rPr sz="1425" b="0">
                <a:solidFill>
                  <a:srgbClr val="EEF0E8"/>
                </a:solidFill>
                <a:latin typeface="DejaVu Sans"/>
                <a:ea typeface="DejaVu Sans"/>
                <a:cs typeface="DejaVu Sans"/>
              </a:rPr>
              <a:t>The registry stores reporter-submitted values. It does not validate BABE, GRANDPA, or BEEFY proofs.</a:t>
            </a:r>
          </a:p>
        </p:txBody>
      </p:sp>
      <p:sp>
        <p:nvSpPr>
          <p:cNvPr id="16" name="evidence-id">
            <a:extLst xmlns:a="http://schemas.openxmlformats.org/drawingml/2006/main">
              <a:ext uri="{FF2B5EF4-FFF2-40B4-BE49-F238E27FC236}">
                <a16:creationId xmlns:a16="http://schemas.microsoft.com/office/drawing/2014/main" id="{CA9D275A-A263-4719-8DF9-F4CA1765CA54}"/>
              </a:ext>
            </a:extLst>
          </p:cNvPr>
          <p:cNvSpPr>
            <a:spLocks xmlns:a="http://schemas.openxmlformats.org/drawingml/2006/main" noGrp="1"/>
          </p:cNvSpPr>
          <p:nvPr/>
        </p:nvSpPr>
        <p:spPr>
          <a:xfrm xmlns:a="http://schemas.openxmlformats.org/drawingml/2006/main">
            <a:off x="7696200" y="58769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32"/>
          </a:bodyPr>
          <a:lstStyle xmlns:a="http://schemas.openxmlformats.org/drawingml/2006/main">
            <a:defPPr algn="l">
              <a:defRPr sz="1050" b="1">
                <a:solidFill>
                  <a:srgbClr val="787E74"/>
                </a:solidFill>
                <a:latin typeface="DejaVu Sans"/>
                <a:ea typeface="DejaVu Sans"/>
                <a:cs typeface="DejaVu Sans"/>
              </a:defRPr>
            </a:defPPr>
            <a:lvl1pPr algn="l">
              <a:defRPr sz="1050" b="1">
                <a:solidFill>
                  <a:srgbClr val="787E74"/>
                </a:solidFill>
                <a:latin typeface="DejaVu Sans"/>
                <a:ea typeface="DejaVu Sans"/>
                <a:cs typeface="DejaVu Sans"/>
              </a:defRPr>
            </a:lvl1pPr>
            <a:lvl2pPr algn="l">
              <a:defRPr sz="1050" b="1">
                <a:solidFill>
                  <a:srgbClr val="787E74"/>
                </a:solidFill>
                <a:latin typeface="DejaVu Sans"/>
                <a:ea typeface="DejaVu Sans"/>
                <a:cs typeface="DejaVu Sans"/>
              </a:defRPr>
            </a:lvl2pPr>
            <a:lvl3pPr algn="l">
              <a:defRPr sz="1050" b="1">
                <a:solidFill>
                  <a:srgbClr val="787E74"/>
                </a:solidFill>
                <a:latin typeface="DejaVu Sans"/>
                <a:ea typeface="DejaVu Sans"/>
                <a:cs typeface="DejaVu Sans"/>
              </a:defRPr>
            </a:lvl3pPr>
            <a:lvl4pPr algn="l">
              <a:defRPr sz="1050" b="1">
                <a:solidFill>
                  <a:srgbClr val="787E74"/>
                </a:solidFill>
                <a:latin typeface="DejaVu Sans"/>
                <a:ea typeface="DejaVu Sans"/>
                <a:cs typeface="DejaVu Sans"/>
              </a:defRPr>
            </a:lvl4pPr>
            <a:lvl5pPr algn="l">
              <a:defRPr sz="1050" b="1">
                <a:solidFill>
                  <a:srgbClr val="787E74"/>
                </a:solidFill>
                <a:latin typeface="DejaVu Sans"/>
                <a:ea typeface="DejaVu Sans"/>
                <a:cs typeface="DejaVu Sans"/>
              </a:defRPr>
            </a:lvl5pPr>
            <a:lvl6pPr algn="l">
              <a:defRPr sz="1050" b="1">
                <a:solidFill>
                  <a:srgbClr val="787E74"/>
                </a:solidFill>
                <a:latin typeface="DejaVu Sans"/>
                <a:ea typeface="DejaVu Sans"/>
                <a:cs typeface="DejaVu Sans"/>
              </a:defRPr>
            </a:lvl6pPr>
            <a:lvl7pPr algn="l">
              <a:defRPr sz="1050" b="1">
                <a:solidFill>
                  <a:srgbClr val="787E74"/>
                </a:solidFill>
                <a:latin typeface="DejaVu Sans"/>
                <a:ea typeface="DejaVu Sans"/>
                <a:cs typeface="DejaVu Sans"/>
              </a:defRPr>
            </a:lvl7pPr>
            <a:lvl8pPr algn="l">
              <a:defRPr sz="1050" b="1">
                <a:solidFill>
                  <a:srgbClr val="787E74"/>
                </a:solidFill>
                <a:latin typeface="DejaVu Sans"/>
                <a:ea typeface="DejaVu Sans"/>
                <a:cs typeface="DejaVu Sans"/>
              </a:defRPr>
            </a:lvl8pPr>
            <a:lvl9pPr algn="l">
              <a:defRPr sz="1050" b="1">
                <a:solidFill>
                  <a:srgbClr val="787E74"/>
                </a:solidFill>
                <a:latin typeface="DejaVu Sans"/>
                <a:ea typeface="DejaVu Sans"/>
                <a:cs typeface="DejaVu Sans"/>
              </a:defRPr>
            </a:lvl9pPr>
          </a:lstStyle>
          <a:p xmlns:a="http://schemas.openxmlformats.org/drawingml/2006/main">
            <a:pPr algn="l">
              <a:defRPr sz="1050" b="1">
                <a:solidFill>
                  <a:srgbClr val="787E74"/>
                </a:solidFill>
                <a:latin typeface="DejaVu Sans"/>
                <a:ea typeface="DejaVu Sans"/>
                <a:cs typeface="DejaVu Sans"/>
              </a:defRPr>
            </a:pPr>
            <a:r>
              <a:rPr sz="1050" b="1">
                <a:solidFill>
                  <a:srgbClr val="787E74"/>
                </a:solidFill>
                <a:latin typeface="DejaVu Sans"/>
                <a:ea typeface="DejaVu Sans"/>
                <a:cs typeface="DejaVu Sans"/>
              </a:rPr>
              <a:t>PORTALDOT V3  ·  CHAIN 420420777  ·  REPORT #2</a:t>
            </a:r>
          </a:p>
        </p:txBody>
      </p:sp>
    </p:spTree>
    <p:extLst>
      <p:ext uri="{BB962C8B-B14F-4D97-AF65-F5344CB8AC3E}">
        <p14:creationId xmlns:p14="http://schemas.microsoft.com/office/powerpoint/2010/main" val="2140759058"/>
      </p:ext>
    </p:extLst>
  </p:cSld>
</p:sld>
</file>

<file path=ppt/slides/slide6.xml><?xml version="1.0" encoding="utf-8"?>
<p:sld xmlns:p="http://schemas.openxmlformats.org/presentationml/2006/main">
  <p:cSld>
    <p:bg>
      <p:bgPr>
        <a:solidFill xmlns:a="http://schemas.openxmlformats.org/drawingml/2006/main">
          <a:srgbClr val="0C0D0F"/>
        </a:solidFill>
      </p:bgPr>
    </p:bg>
    <p:spTree>
      <p:nvGrpSpPr>
        <p:cNvPr id="1" name=""/>
        <p:cNvGrpSpPr/>
        <p:nvPr/>
      </p:nvGrpSpPr>
      <p:grpSpPr>
        <a:xfrm xmlns:a="http://schemas.openxmlformats.org/drawingml/2006/main"/>
      </p:grpSpPr>
      <p:sp>
        <p:nvSpPr>
          <p:cNvPr id="22" name="eyebrow-6">
            <a:extLst xmlns:a="http://schemas.openxmlformats.org/drawingml/2006/main">
              <a:ext uri="{FF2B5EF4-FFF2-40B4-BE49-F238E27FC236}">
                <a16:creationId xmlns:a16="http://schemas.microsoft.com/office/drawing/2014/main" id="{99544BD1-9817-4558-B3C2-50EDCDB1A89A}"/>
              </a:ext>
            </a:extLst>
          </p:cNvPr>
          <p:cNvSpPr>
            <a:spLocks xmlns:a="http://schemas.openxmlformats.org/drawingml/2006/main" noGrp="1"/>
          </p:cNvSpPr>
          <p:nvPr/>
        </p:nvSpPr>
        <p:spPr>
          <a:xfrm xmlns:a="http://schemas.openxmlformats.org/drawingml/2006/main">
            <a:off x="6667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RIFT  /  PORTALDOT V3</a:t>
            </a:r>
          </a:p>
        </p:txBody>
      </p:sp>
      <p:sp>
        <p:nvSpPr>
          <p:cNvPr id="2" name="title-6">
            <a:extLst xmlns:a="http://schemas.openxmlformats.org/drawingml/2006/main">
              <a:ext uri="{FF2B5EF4-FFF2-40B4-BE49-F238E27FC236}">
                <a16:creationId xmlns:a16="http://schemas.microsoft.com/office/drawing/2014/main" id="{97A89442-86AE-461E-ADF5-6CD65A40991D}"/>
              </a:ext>
            </a:extLst>
          </p:cNvPr>
          <p:cNvSpPr>
            <a:spLocks xmlns:a="http://schemas.openxmlformats.org/drawingml/2006/main" noGrp="1"/>
          </p:cNvSpPr>
          <p:nvPr/>
        </p:nvSpPr>
        <p:spPr>
          <a:xfrm xmlns:a="http://schemas.openxmlformats.org/drawingml/2006/main">
            <a:off x="666750" y="638175"/>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EEF0E8"/>
                </a:solidFill>
                <a:latin typeface="DejaVu Sans"/>
                <a:ea typeface="DejaVu Sans"/>
                <a:cs typeface="DejaVu Sans"/>
              </a:defRPr>
            </a:defPPr>
            <a:lvl1pPr algn="l">
              <a:defRPr sz="3450" b="1">
                <a:solidFill>
                  <a:srgbClr val="EEF0E8"/>
                </a:solidFill>
                <a:latin typeface="DejaVu Sans"/>
                <a:ea typeface="DejaVu Sans"/>
                <a:cs typeface="DejaVu Sans"/>
              </a:defRPr>
            </a:lvl1pPr>
            <a:lvl2pPr algn="l">
              <a:defRPr sz="3450" b="1">
                <a:solidFill>
                  <a:srgbClr val="EEF0E8"/>
                </a:solidFill>
                <a:latin typeface="DejaVu Sans"/>
                <a:ea typeface="DejaVu Sans"/>
                <a:cs typeface="DejaVu Sans"/>
              </a:defRPr>
            </a:lvl2pPr>
            <a:lvl3pPr algn="l">
              <a:defRPr sz="3450" b="1">
                <a:solidFill>
                  <a:srgbClr val="EEF0E8"/>
                </a:solidFill>
                <a:latin typeface="DejaVu Sans"/>
                <a:ea typeface="DejaVu Sans"/>
                <a:cs typeface="DejaVu Sans"/>
              </a:defRPr>
            </a:lvl3pPr>
            <a:lvl4pPr algn="l">
              <a:defRPr sz="3450" b="1">
                <a:solidFill>
                  <a:srgbClr val="EEF0E8"/>
                </a:solidFill>
                <a:latin typeface="DejaVu Sans"/>
                <a:ea typeface="DejaVu Sans"/>
                <a:cs typeface="DejaVu Sans"/>
              </a:defRPr>
            </a:lvl4pPr>
            <a:lvl5pPr algn="l">
              <a:defRPr sz="3450" b="1">
                <a:solidFill>
                  <a:srgbClr val="EEF0E8"/>
                </a:solidFill>
                <a:latin typeface="DejaVu Sans"/>
                <a:ea typeface="DejaVu Sans"/>
                <a:cs typeface="DejaVu Sans"/>
              </a:defRPr>
            </a:lvl5pPr>
            <a:lvl6pPr algn="l">
              <a:defRPr sz="3450" b="1">
                <a:solidFill>
                  <a:srgbClr val="EEF0E8"/>
                </a:solidFill>
                <a:latin typeface="DejaVu Sans"/>
                <a:ea typeface="DejaVu Sans"/>
                <a:cs typeface="DejaVu Sans"/>
              </a:defRPr>
            </a:lvl6pPr>
            <a:lvl7pPr algn="l">
              <a:defRPr sz="3450" b="1">
                <a:solidFill>
                  <a:srgbClr val="EEF0E8"/>
                </a:solidFill>
                <a:latin typeface="DejaVu Sans"/>
                <a:ea typeface="DejaVu Sans"/>
                <a:cs typeface="DejaVu Sans"/>
              </a:defRPr>
            </a:lvl7pPr>
            <a:lvl8pPr algn="l">
              <a:defRPr sz="3450" b="1">
                <a:solidFill>
                  <a:srgbClr val="EEF0E8"/>
                </a:solidFill>
                <a:latin typeface="DejaVu Sans"/>
                <a:ea typeface="DejaVu Sans"/>
                <a:cs typeface="DejaVu Sans"/>
              </a:defRPr>
            </a:lvl8pPr>
            <a:lvl9pPr algn="l">
              <a:defRPr sz="3450" b="1">
                <a:solidFill>
                  <a:srgbClr val="EEF0E8"/>
                </a:solidFill>
                <a:latin typeface="DejaVu Sans"/>
                <a:ea typeface="DejaVu Sans"/>
                <a:cs typeface="DejaVu Sans"/>
              </a:defRPr>
            </a:lvl9pPr>
          </a:lstStyle>
          <a:p xmlns:a="http://schemas.openxmlformats.org/drawingml/2006/main">
            <a:pPr algn="l">
              <a:defRPr sz="3450" b="1">
                <a:solidFill>
                  <a:srgbClr val="EEF0E8"/>
                </a:solidFill>
                <a:latin typeface="DejaVu Sans"/>
                <a:ea typeface="DejaVu Sans"/>
                <a:cs typeface="DejaVu Sans"/>
              </a:defRPr>
            </a:pPr>
            <a:r>
              <a:rPr sz="3450" b="1">
                <a:solidFill>
                  <a:srgbClr val="EEF0E8"/>
                </a:solidFill>
                <a:latin typeface="DejaVu Sans"/>
                <a:ea typeface="DejaVu Sans"/>
                <a:cs typeface="DejaVu Sans"/>
              </a:rPr>
              <a:t>From demo to operator product</a:t>
            </a:r>
          </a:p>
        </p:txBody>
      </p:sp>
      <p:sp>
        <p:nvSpPr>
          <p:cNvPr id="3" name="subtitle-6">
            <a:extLst xmlns:a="http://schemas.openxmlformats.org/drawingml/2006/main">
              <a:ext uri="{FF2B5EF4-FFF2-40B4-BE49-F238E27FC236}">
                <a16:creationId xmlns:a16="http://schemas.microsoft.com/office/drawing/2014/main" id="{3578B2E0-CB4D-4883-944C-9B768BE492B0}"/>
              </a:ext>
            </a:extLst>
          </p:cNvPr>
          <p:cNvSpPr>
            <a:spLocks xmlns:a="http://schemas.openxmlformats.org/drawingml/2006/main" noGrp="1"/>
          </p:cNvSpPr>
          <p:nvPr/>
        </p:nvSpPr>
        <p:spPr>
          <a:xfrm xmlns:a="http://schemas.openxmlformats.org/drawingml/2006/main">
            <a:off x="666750" y="121920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3A89D"/>
                </a:solidFill>
                <a:latin typeface="DejaVu Sans"/>
                <a:ea typeface="DejaVu Sans"/>
                <a:cs typeface="DejaVu Sans"/>
              </a:defRPr>
            </a:defPPr>
            <a:lvl1pPr algn="l">
              <a:defRPr sz="1650" b="0">
                <a:solidFill>
                  <a:srgbClr val="A3A89D"/>
                </a:solidFill>
                <a:latin typeface="DejaVu Sans"/>
                <a:ea typeface="DejaVu Sans"/>
                <a:cs typeface="DejaVu Sans"/>
              </a:defRPr>
            </a:lvl1pPr>
            <a:lvl2pPr algn="l">
              <a:defRPr sz="1650" b="0">
                <a:solidFill>
                  <a:srgbClr val="A3A89D"/>
                </a:solidFill>
                <a:latin typeface="DejaVu Sans"/>
                <a:ea typeface="DejaVu Sans"/>
                <a:cs typeface="DejaVu Sans"/>
              </a:defRPr>
            </a:lvl2pPr>
            <a:lvl3pPr algn="l">
              <a:defRPr sz="1650" b="0">
                <a:solidFill>
                  <a:srgbClr val="A3A89D"/>
                </a:solidFill>
                <a:latin typeface="DejaVu Sans"/>
                <a:ea typeface="DejaVu Sans"/>
                <a:cs typeface="DejaVu Sans"/>
              </a:defRPr>
            </a:lvl3pPr>
            <a:lvl4pPr algn="l">
              <a:defRPr sz="1650" b="0">
                <a:solidFill>
                  <a:srgbClr val="A3A89D"/>
                </a:solidFill>
                <a:latin typeface="DejaVu Sans"/>
                <a:ea typeface="DejaVu Sans"/>
                <a:cs typeface="DejaVu Sans"/>
              </a:defRPr>
            </a:lvl4pPr>
            <a:lvl5pPr algn="l">
              <a:defRPr sz="1650" b="0">
                <a:solidFill>
                  <a:srgbClr val="A3A89D"/>
                </a:solidFill>
                <a:latin typeface="DejaVu Sans"/>
                <a:ea typeface="DejaVu Sans"/>
                <a:cs typeface="DejaVu Sans"/>
              </a:defRPr>
            </a:lvl5pPr>
            <a:lvl6pPr algn="l">
              <a:defRPr sz="1650" b="0">
                <a:solidFill>
                  <a:srgbClr val="A3A89D"/>
                </a:solidFill>
                <a:latin typeface="DejaVu Sans"/>
                <a:ea typeface="DejaVu Sans"/>
                <a:cs typeface="DejaVu Sans"/>
              </a:defRPr>
            </a:lvl6pPr>
            <a:lvl7pPr algn="l">
              <a:defRPr sz="1650" b="0">
                <a:solidFill>
                  <a:srgbClr val="A3A89D"/>
                </a:solidFill>
                <a:latin typeface="DejaVu Sans"/>
                <a:ea typeface="DejaVu Sans"/>
                <a:cs typeface="DejaVu Sans"/>
              </a:defRPr>
            </a:lvl7pPr>
            <a:lvl8pPr algn="l">
              <a:defRPr sz="1650" b="0">
                <a:solidFill>
                  <a:srgbClr val="A3A89D"/>
                </a:solidFill>
                <a:latin typeface="DejaVu Sans"/>
                <a:ea typeface="DejaVu Sans"/>
                <a:cs typeface="DejaVu Sans"/>
              </a:defRPr>
            </a:lvl8pPr>
            <a:lvl9pPr algn="l">
              <a:defRPr sz="1650" b="0">
                <a:solidFill>
                  <a:srgbClr val="A3A89D"/>
                </a:solidFill>
                <a:latin typeface="DejaVu Sans"/>
                <a:ea typeface="DejaVu Sans"/>
                <a:cs typeface="DejaVu Sans"/>
              </a:defRPr>
            </a:lvl9pPr>
          </a:lstStyle>
          <a:p xmlns:a="http://schemas.openxmlformats.org/drawingml/2006/main">
            <a:pPr algn="l">
              <a:defRPr sz="1650" b="0">
                <a:solidFill>
                  <a:srgbClr val="A3A89D"/>
                </a:solidFill>
                <a:latin typeface="DejaVu Sans"/>
                <a:ea typeface="DejaVu Sans"/>
                <a:cs typeface="DejaVu Sans"/>
              </a:defRPr>
            </a:pPr>
            <a:r>
              <a:rPr sz="1650" b="0">
                <a:solidFill>
                  <a:srgbClr val="A3A89D"/>
                </a:solidFill>
                <a:latin typeface="DejaVu Sans"/>
                <a:ea typeface="DejaVu Sans"/>
                <a:cs typeface="DejaVu Sans"/>
              </a:rPr>
              <a:t>A self-hosted monitor is the first useful release. A managed service is a hypothesis to validate.</a:t>
            </a:r>
          </a:p>
        </p:txBody>
      </p:sp>
      <p:sp>
        <p:nvSpPr>
          <p:cNvPr id="4" name="rule-70-177">
            <a:extLst xmlns:a="http://schemas.openxmlformats.org/drawingml/2006/main">
              <a:ext uri="{FF2B5EF4-FFF2-40B4-BE49-F238E27FC236}">
                <a16:creationId xmlns:a16="http://schemas.microsoft.com/office/drawing/2014/main" id="{BC28B3DC-EE6E-4C1F-A784-F7F517C48646}"/>
              </a:ext>
            </a:extLst>
          </p:cNvPr>
          <p:cNvSpPr>
            <a:spLocks xmlns:a="http://schemas.openxmlformats.org/drawingml/2006/main" noGrp="1"/>
          </p:cNvSpPr>
          <p:nvPr/>
        </p:nvSpPr>
        <p:spPr>
          <a:xfrm xmlns:a="http://schemas.openxmlformats.org/drawingml/2006/main">
            <a:off x="666750" y="1685925"/>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5" name="rule-70-674">
            <a:extLst xmlns:a="http://schemas.openxmlformats.org/drawingml/2006/main">
              <a:ext uri="{FF2B5EF4-FFF2-40B4-BE49-F238E27FC236}">
                <a16:creationId xmlns:a16="http://schemas.microsoft.com/office/drawing/2014/main" id="{CAE683D7-22A6-421E-B35B-CEDE48AA62C2}"/>
              </a:ext>
            </a:extLst>
          </p:cNvPr>
          <p:cNvSpPr>
            <a:spLocks xmlns:a="http://schemas.openxmlformats.org/drawingml/2006/main" noGrp="1"/>
          </p:cNvSpPr>
          <p:nvPr/>
        </p:nvSpPr>
        <p:spPr>
          <a:xfrm xmlns:a="http://schemas.openxmlformats.org/drawingml/2006/main">
            <a:off x="666750" y="64198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6" name="footer-6">
            <a:extLst xmlns:a="http://schemas.openxmlformats.org/drawingml/2006/main">
              <a:ext uri="{FF2B5EF4-FFF2-40B4-BE49-F238E27FC236}">
                <a16:creationId xmlns:a16="http://schemas.microsoft.com/office/drawing/2014/main" id="{6723F236-F71E-4E5C-90A7-A7022613CB72}"/>
              </a:ext>
            </a:extLst>
          </p:cNvPr>
          <p:cNvSpPr>
            <a:spLocks xmlns:a="http://schemas.openxmlformats.org/drawingml/2006/main" noGrp="1"/>
          </p:cNvSpPr>
          <p:nvPr/>
        </p:nvSpPr>
        <p:spPr>
          <a:xfrm xmlns:a="http://schemas.openxmlformats.org/drawingml/2006/main">
            <a:off x="666750" y="6486525"/>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787E74"/>
                </a:solidFill>
                <a:latin typeface="DejaVu Sans"/>
                <a:ea typeface="DejaVu Sans"/>
                <a:cs typeface="DejaVu Sans"/>
              </a:defRPr>
            </a:defPPr>
            <a:lvl1pPr algn="l">
              <a:defRPr sz="975" b="1">
                <a:solidFill>
                  <a:srgbClr val="787E74"/>
                </a:solidFill>
                <a:latin typeface="DejaVu Sans"/>
                <a:ea typeface="DejaVu Sans"/>
                <a:cs typeface="DejaVu Sans"/>
              </a:defRPr>
            </a:lvl1pPr>
            <a:lvl2pPr algn="l">
              <a:defRPr sz="975" b="1">
                <a:solidFill>
                  <a:srgbClr val="787E74"/>
                </a:solidFill>
                <a:latin typeface="DejaVu Sans"/>
                <a:ea typeface="DejaVu Sans"/>
                <a:cs typeface="DejaVu Sans"/>
              </a:defRPr>
            </a:lvl2pPr>
            <a:lvl3pPr algn="l">
              <a:defRPr sz="975" b="1">
                <a:solidFill>
                  <a:srgbClr val="787E74"/>
                </a:solidFill>
                <a:latin typeface="DejaVu Sans"/>
                <a:ea typeface="DejaVu Sans"/>
                <a:cs typeface="DejaVu Sans"/>
              </a:defRPr>
            </a:lvl3pPr>
            <a:lvl4pPr algn="l">
              <a:defRPr sz="975" b="1">
                <a:solidFill>
                  <a:srgbClr val="787E74"/>
                </a:solidFill>
                <a:latin typeface="DejaVu Sans"/>
                <a:ea typeface="DejaVu Sans"/>
                <a:cs typeface="DejaVu Sans"/>
              </a:defRPr>
            </a:lvl4pPr>
            <a:lvl5pPr algn="l">
              <a:defRPr sz="975" b="1">
                <a:solidFill>
                  <a:srgbClr val="787E74"/>
                </a:solidFill>
                <a:latin typeface="DejaVu Sans"/>
                <a:ea typeface="DejaVu Sans"/>
                <a:cs typeface="DejaVu Sans"/>
              </a:defRPr>
            </a:lvl5pPr>
            <a:lvl6pPr algn="l">
              <a:defRPr sz="975" b="1">
                <a:solidFill>
                  <a:srgbClr val="787E74"/>
                </a:solidFill>
                <a:latin typeface="DejaVu Sans"/>
                <a:ea typeface="DejaVu Sans"/>
                <a:cs typeface="DejaVu Sans"/>
              </a:defRPr>
            </a:lvl6pPr>
            <a:lvl7pPr algn="l">
              <a:defRPr sz="975" b="1">
                <a:solidFill>
                  <a:srgbClr val="787E74"/>
                </a:solidFill>
                <a:latin typeface="DejaVu Sans"/>
                <a:ea typeface="DejaVu Sans"/>
                <a:cs typeface="DejaVu Sans"/>
              </a:defRPr>
            </a:lvl7pPr>
            <a:lvl8pPr algn="l">
              <a:defRPr sz="975" b="1">
                <a:solidFill>
                  <a:srgbClr val="787E74"/>
                </a:solidFill>
                <a:latin typeface="DejaVu Sans"/>
                <a:ea typeface="DejaVu Sans"/>
                <a:cs typeface="DejaVu Sans"/>
              </a:defRPr>
            </a:lvl8pPr>
            <a:lvl9pPr algn="l">
              <a:defRPr sz="975" b="1">
                <a:solidFill>
                  <a:srgbClr val="787E74"/>
                </a:solidFill>
                <a:latin typeface="DejaVu Sans"/>
                <a:ea typeface="DejaVu Sans"/>
                <a:cs typeface="DejaVu Sans"/>
              </a:defRPr>
            </a:lvl9pPr>
          </a:lstStyle>
          <a:p xmlns:a="http://schemas.openxmlformats.org/drawingml/2006/main">
            <a:pPr algn="l">
              <a:defRPr sz="975" b="1">
                <a:solidFill>
                  <a:srgbClr val="787E74"/>
                </a:solidFill>
                <a:latin typeface="DejaVu Sans"/>
                <a:ea typeface="DejaVu Sans"/>
                <a:cs typeface="DejaVu Sans"/>
              </a:defRPr>
            </a:pPr>
            <a:r>
              <a:rPr sz="975" b="1">
                <a:solidFill>
                  <a:srgbClr val="787E74"/>
                </a:solidFill>
                <a:latin typeface="DejaVu Sans"/>
                <a:ea typeface="DejaVu Sans"/>
                <a:cs typeface="DejaVu Sans"/>
              </a:rPr>
              <a:t>RIFT  ·  PORTALDOT V3</a:t>
            </a:r>
          </a:p>
        </p:txBody>
      </p:sp>
      <p:sp>
        <p:nvSpPr>
          <p:cNvPr id="7" name="page-6">
            <a:extLst xmlns:a="http://schemas.openxmlformats.org/drawingml/2006/main">
              <a:ext uri="{FF2B5EF4-FFF2-40B4-BE49-F238E27FC236}">
                <a16:creationId xmlns:a16="http://schemas.microsoft.com/office/drawing/2014/main" id="{3E1C714D-679E-47F8-B97A-651081A9F150}"/>
              </a:ext>
            </a:extLst>
          </p:cNvPr>
          <p:cNvSpPr>
            <a:spLocks xmlns:a="http://schemas.openxmlformats.org/drawingml/2006/main" noGrp="1"/>
          </p:cNvSpPr>
          <p:nvPr/>
        </p:nvSpPr>
        <p:spPr>
          <a:xfrm xmlns:a="http://schemas.openxmlformats.org/drawingml/2006/main">
            <a:off x="10591800" y="64865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C8FF45"/>
                </a:solidFill>
                <a:latin typeface="DejaVu Sans"/>
                <a:ea typeface="DejaVu Sans"/>
                <a:cs typeface="DejaVu Sans"/>
              </a:defRPr>
            </a:defPPr>
            <a:lvl1pPr algn="r">
              <a:defRPr sz="975" b="1">
                <a:solidFill>
                  <a:srgbClr val="C8FF45"/>
                </a:solidFill>
                <a:latin typeface="DejaVu Sans"/>
                <a:ea typeface="DejaVu Sans"/>
                <a:cs typeface="DejaVu Sans"/>
              </a:defRPr>
            </a:lvl1pPr>
            <a:lvl2pPr algn="r">
              <a:defRPr sz="975" b="1">
                <a:solidFill>
                  <a:srgbClr val="C8FF45"/>
                </a:solidFill>
                <a:latin typeface="DejaVu Sans"/>
                <a:ea typeface="DejaVu Sans"/>
                <a:cs typeface="DejaVu Sans"/>
              </a:defRPr>
            </a:lvl2pPr>
            <a:lvl3pPr algn="r">
              <a:defRPr sz="975" b="1">
                <a:solidFill>
                  <a:srgbClr val="C8FF45"/>
                </a:solidFill>
                <a:latin typeface="DejaVu Sans"/>
                <a:ea typeface="DejaVu Sans"/>
                <a:cs typeface="DejaVu Sans"/>
              </a:defRPr>
            </a:lvl3pPr>
            <a:lvl4pPr algn="r">
              <a:defRPr sz="975" b="1">
                <a:solidFill>
                  <a:srgbClr val="C8FF45"/>
                </a:solidFill>
                <a:latin typeface="DejaVu Sans"/>
                <a:ea typeface="DejaVu Sans"/>
                <a:cs typeface="DejaVu Sans"/>
              </a:defRPr>
            </a:lvl4pPr>
            <a:lvl5pPr algn="r">
              <a:defRPr sz="975" b="1">
                <a:solidFill>
                  <a:srgbClr val="C8FF45"/>
                </a:solidFill>
                <a:latin typeface="DejaVu Sans"/>
                <a:ea typeface="DejaVu Sans"/>
                <a:cs typeface="DejaVu Sans"/>
              </a:defRPr>
            </a:lvl5pPr>
            <a:lvl6pPr algn="r">
              <a:defRPr sz="975" b="1">
                <a:solidFill>
                  <a:srgbClr val="C8FF45"/>
                </a:solidFill>
                <a:latin typeface="DejaVu Sans"/>
                <a:ea typeface="DejaVu Sans"/>
                <a:cs typeface="DejaVu Sans"/>
              </a:defRPr>
            </a:lvl6pPr>
            <a:lvl7pPr algn="r">
              <a:defRPr sz="975" b="1">
                <a:solidFill>
                  <a:srgbClr val="C8FF45"/>
                </a:solidFill>
                <a:latin typeface="DejaVu Sans"/>
                <a:ea typeface="DejaVu Sans"/>
                <a:cs typeface="DejaVu Sans"/>
              </a:defRPr>
            </a:lvl7pPr>
            <a:lvl8pPr algn="r">
              <a:defRPr sz="975" b="1">
                <a:solidFill>
                  <a:srgbClr val="C8FF45"/>
                </a:solidFill>
                <a:latin typeface="DejaVu Sans"/>
                <a:ea typeface="DejaVu Sans"/>
                <a:cs typeface="DejaVu Sans"/>
              </a:defRPr>
            </a:lvl8pPr>
            <a:lvl9pPr algn="r">
              <a:defRPr sz="975" b="1">
                <a:solidFill>
                  <a:srgbClr val="C8FF45"/>
                </a:solidFill>
                <a:latin typeface="DejaVu Sans"/>
                <a:ea typeface="DejaVu Sans"/>
                <a:cs typeface="DejaVu Sans"/>
              </a:defRPr>
            </a:lvl9pPr>
          </a:lstStyle>
          <a:p xmlns:a="http://schemas.openxmlformats.org/drawingml/2006/main">
            <a:pPr algn="r">
              <a:defRPr sz="975" b="1">
                <a:solidFill>
                  <a:srgbClr val="C8FF45"/>
                </a:solidFill>
                <a:latin typeface="DejaVu Sans"/>
                <a:ea typeface="DejaVu Sans"/>
                <a:cs typeface="DejaVu Sans"/>
              </a:defRPr>
            </a:pPr>
            <a:r>
              <a:rPr sz="975" b="1">
                <a:solidFill>
                  <a:srgbClr val="C8FF45"/>
                </a:solidFill>
                <a:latin typeface="DejaVu Sans"/>
                <a:ea typeface="DejaVu Sans"/>
                <a:cs typeface="DejaVu Sans"/>
              </a:rPr>
              <a:t>06  /  06</a:t>
            </a:r>
          </a:p>
        </p:txBody>
      </p:sp>
      <p:sp>
        <p:nvSpPr>
          <p:cNvPr id="8" name="product-num-0">
            <a:extLst xmlns:a="http://schemas.openxmlformats.org/drawingml/2006/main">
              <a:ext uri="{FF2B5EF4-FFF2-40B4-BE49-F238E27FC236}">
                <a16:creationId xmlns:a16="http://schemas.microsoft.com/office/drawing/2014/main" id="{37BD0BE0-64D2-4127-9EFE-55AC18ABE5A2}"/>
              </a:ext>
            </a:extLst>
          </p:cNvPr>
          <p:cNvSpPr>
            <a:spLocks xmlns:a="http://schemas.openxmlformats.org/drawingml/2006/main" noGrp="1"/>
          </p:cNvSpPr>
          <p:nvPr/>
        </p:nvSpPr>
        <p:spPr>
          <a:xfrm xmlns:a="http://schemas.openxmlformats.org/drawingml/2006/main">
            <a:off x="666750" y="205740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01  ·  TEAM USE</a:t>
            </a:r>
          </a:p>
        </p:txBody>
      </p:sp>
      <p:sp>
        <p:nvSpPr>
          <p:cNvPr id="9" name="product-title-0">
            <a:extLst xmlns:a="http://schemas.openxmlformats.org/drawingml/2006/main">
              <a:ext uri="{FF2B5EF4-FFF2-40B4-BE49-F238E27FC236}">
                <a16:creationId xmlns:a16="http://schemas.microsoft.com/office/drawing/2014/main" id="{D088B521-1772-437D-A402-ECE97C3189CD}"/>
              </a:ext>
            </a:extLst>
          </p:cNvPr>
          <p:cNvSpPr>
            <a:spLocks xmlns:a="http://schemas.openxmlformats.org/drawingml/2006/main" noGrp="1"/>
          </p:cNvSpPr>
          <p:nvPr/>
        </p:nvSpPr>
        <p:spPr>
          <a:xfrm xmlns:a="http://schemas.openxmlformats.org/drawingml/2006/main">
            <a:off x="666750" y="24098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EEF0E8"/>
                </a:solidFill>
                <a:latin typeface="DejaVu Sans"/>
                <a:ea typeface="DejaVu Sans"/>
                <a:cs typeface="DejaVu Sans"/>
              </a:defRPr>
            </a:defPPr>
            <a:lvl1pPr algn="l">
              <a:defRPr sz="2175" b="1">
                <a:solidFill>
                  <a:srgbClr val="EEF0E8"/>
                </a:solidFill>
                <a:latin typeface="DejaVu Sans"/>
                <a:ea typeface="DejaVu Sans"/>
                <a:cs typeface="DejaVu Sans"/>
              </a:defRPr>
            </a:lvl1pPr>
            <a:lvl2pPr algn="l">
              <a:defRPr sz="2175" b="1">
                <a:solidFill>
                  <a:srgbClr val="EEF0E8"/>
                </a:solidFill>
                <a:latin typeface="DejaVu Sans"/>
                <a:ea typeface="DejaVu Sans"/>
                <a:cs typeface="DejaVu Sans"/>
              </a:defRPr>
            </a:lvl2pPr>
            <a:lvl3pPr algn="l">
              <a:defRPr sz="2175" b="1">
                <a:solidFill>
                  <a:srgbClr val="EEF0E8"/>
                </a:solidFill>
                <a:latin typeface="DejaVu Sans"/>
                <a:ea typeface="DejaVu Sans"/>
                <a:cs typeface="DejaVu Sans"/>
              </a:defRPr>
            </a:lvl3pPr>
            <a:lvl4pPr algn="l">
              <a:defRPr sz="2175" b="1">
                <a:solidFill>
                  <a:srgbClr val="EEF0E8"/>
                </a:solidFill>
                <a:latin typeface="DejaVu Sans"/>
                <a:ea typeface="DejaVu Sans"/>
                <a:cs typeface="DejaVu Sans"/>
              </a:defRPr>
            </a:lvl4pPr>
            <a:lvl5pPr algn="l">
              <a:defRPr sz="2175" b="1">
                <a:solidFill>
                  <a:srgbClr val="EEF0E8"/>
                </a:solidFill>
                <a:latin typeface="DejaVu Sans"/>
                <a:ea typeface="DejaVu Sans"/>
                <a:cs typeface="DejaVu Sans"/>
              </a:defRPr>
            </a:lvl5pPr>
            <a:lvl6pPr algn="l">
              <a:defRPr sz="2175" b="1">
                <a:solidFill>
                  <a:srgbClr val="EEF0E8"/>
                </a:solidFill>
                <a:latin typeface="DejaVu Sans"/>
                <a:ea typeface="DejaVu Sans"/>
                <a:cs typeface="DejaVu Sans"/>
              </a:defRPr>
            </a:lvl6pPr>
            <a:lvl7pPr algn="l">
              <a:defRPr sz="2175" b="1">
                <a:solidFill>
                  <a:srgbClr val="EEF0E8"/>
                </a:solidFill>
                <a:latin typeface="DejaVu Sans"/>
                <a:ea typeface="DejaVu Sans"/>
                <a:cs typeface="DejaVu Sans"/>
              </a:defRPr>
            </a:lvl7pPr>
            <a:lvl8pPr algn="l">
              <a:defRPr sz="2175" b="1">
                <a:solidFill>
                  <a:srgbClr val="EEF0E8"/>
                </a:solidFill>
                <a:latin typeface="DejaVu Sans"/>
                <a:ea typeface="DejaVu Sans"/>
                <a:cs typeface="DejaVu Sans"/>
              </a:defRPr>
            </a:lvl8pPr>
            <a:lvl9pPr algn="l">
              <a:defRPr sz="2175" b="1">
                <a:solidFill>
                  <a:srgbClr val="EEF0E8"/>
                </a:solidFill>
                <a:latin typeface="DejaVu Sans"/>
                <a:ea typeface="DejaVu Sans"/>
                <a:cs typeface="DejaVu Sans"/>
              </a:defRPr>
            </a:lvl9pPr>
          </a:lstStyle>
          <a:p xmlns:a="http://schemas.openxmlformats.org/drawingml/2006/main">
            <a:pPr algn="l">
              <a:defRPr sz="2175" b="1">
                <a:solidFill>
                  <a:srgbClr val="EEF0E8"/>
                </a:solidFill>
                <a:latin typeface="DejaVu Sans"/>
                <a:ea typeface="DejaVu Sans"/>
                <a:cs typeface="DejaVu Sans"/>
              </a:defRPr>
            </a:pPr>
            <a:r>
              <a:rPr sz="2175" b="1">
                <a:solidFill>
                  <a:srgbClr val="EEF0E8"/>
                </a:solidFill>
                <a:latin typeface="DejaVu Sans"/>
                <a:ea typeface="DejaVu Sans"/>
                <a:cs typeface="DejaVu Sans"/>
              </a:rPr>
              <a:t>Keep it running</a:t>
            </a:r>
          </a:p>
        </p:txBody>
      </p:sp>
      <p:sp>
        <p:nvSpPr>
          <p:cNvPr id="10" name="product-body-0">
            <a:extLst xmlns:a="http://schemas.openxmlformats.org/drawingml/2006/main">
              <a:ext uri="{FF2B5EF4-FFF2-40B4-BE49-F238E27FC236}">
                <a16:creationId xmlns:a16="http://schemas.microsoft.com/office/drawing/2014/main" id="{2801FF32-F656-46FB-9A56-4D4A14B12435}"/>
              </a:ext>
            </a:extLst>
          </p:cNvPr>
          <p:cNvSpPr>
            <a:spLocks xmlns:a="http://schemas.openxmlformats.org/drawingml/2006/main" noGrp="1"/>
          </p:cNvSpPr>
          <p:nvPr/>
        </p:nvSpPr>
        <p:spPr>
          <a:xfrm xmlns:a="http://schemas.openxmlformats.org/drawingml/2006/main">
            <a:off x="666750" y="2943225"/>
            <a:ext cx="33337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3A89D"/>
                </a:solidFill>
                <a:latin typeface="DejaVu Sans"/>
                <a:ea typeface="DejaVu Sans"/>
                <a:cs typeface="DejaVu Sans"/>
              </a:defRPr>
            </a:defPPr>
            <a:lvl1pPr algn="l">
              <a:defRPr sz="1425" b="0">
                <a:solidFill>
                  <a:srgbClr val="A3A89D"/>
                </a:solidFill>
                <a:latin typeface="DejaVu Sans"/>
                <a:ea typeface="DejaVu Sans"/>
                <a:cs typeface="DejaVu Sans"/>
              </a:defRPr>
            </a:lvl1pPr>
            <a:lvl2pPr algn="l">
              <a:defRPr sz="1425" b="0">
                <a:solidFill>
                  <a:srgbClr val="A3A89D"/>
                </a:solidFill>
                <a:latin typeface="DejaVu Sans"/>
                <a:ea typeface="DejaVu Sans"/>
                <a:cs typeface="DejaVu Sans"/>
              </a:defRPr>
            </a:lvl2pPr>
            <a:lvl3pPr algn="l">
              <a:defRPr sz="1425" b="0">
                <a:solidFill>
                  <a:srgbClr val="A3A89D"/>
                </a:solidFill>
                <a:latin typeface="DejaVu Sans"/>
                <a:ea typeface="DejaVu Sans"/>
                <a:cs typeface="DejaVu Sans"/>
              </a:defRPr>
            </a:lvl3pPr>
            <a:lvl4pPr algn="l">
              <a:defRPr sz="1425" b="0">
                <a:solidFill>
                  <a:srgbClr val="A3A89D"/>
                </a:solidFill>
                <a:latin typeface="DejaVu Sans"/>
                <a:ea typeface="DejaVu Sans"/>
                <a:cs typeface="DejaVu Sans"/>
              </a:defRPr>
            </a:lvl4pPr>
            <a:lvl5pPr algn="l">
              <a:defRPr sz="1425" b="0">
                <a:solidFill>
                  <a:srgbClr val="A3A89D"/>
                </a:solidFill>
                <a:latin typeface="DejaVu Sans"/>
                <a:ea typeface="DejaVu Sans"/>
                <a:cs typeface="DejaVu Sans"/>
              </a:defRPr>
            </a:lvl5pPr>
            <a:lvl6pPr algn="l">
              <a:defRPr sz="1425" b="0">
                <a:solidFill>
                  <a:srgbClr val="A3A89D"/>
                </a:solidFill>
                <a:latin typeface="DejaVu Sans"/>
                <a:ea typeface="DejaVu Sans"/>
                <a:cs typeface="DejaVu Sans"/>
              </a:defRPr>
            </a:lvl6pPr>
            <a:lvl7pPr algn="l">
              <a:defRPr sz="1425" b="0">
                <a:solidFill>
                  <a:srgbClr val="A3A89D"/>
                </a:solidFill>
                <a:latin typeface="DejaVu Sans"/>
                <a:ea typeface="DejaVu Sans"/>
                <a:cs typeface="DejaVu Sans"/>
              </a:defRPr>
            </a:lvl7pPr>
            <a:lvl8pPr algn="l">
              <a:defRPr sz="1425" b="0">
                <a:solidFill>
                  <a:srgbClr val="A3A89D"/>
                </a:solidFill>
                <a:latin typeface="DejaVu Sans"/>
                <a:ea typeface="DejaVu Sans"/>
                <a:cs typeface="DejaVu Sans"/>
              </a:defRPr>
            </a:lvl8pPr>
            <a:lvl9pPr algn="l">
              <a:defRPr sz="1425" b="0">
                <a:solidFill>
                  <a:srgbClr val="A3A89D"/>
                </a:solidFill>
                <a:latin typeface="DejaVu Sans"/>
                <a:ea typeface="DejaVu Sans"/>
                <a:cs typeface="DejaVu Sans"/>
              </a:defRPr>
            </a:lvl9pPr>
          </a:lstStyle>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Run the collector as a supervised service.</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Persist observations beyond a browser session.</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Export health and lag metrics.</a:t>
            </a:r>
          </a:p>
        </p:txBody>
      </p:sp>
      <p:sp>
        <p:nvSpPr>
          <p:cNvPr id="11" name="rule-446-220">
            <a:extLst xmlns:a="http://schemas.openxmlformats.org/drawingml/2006/main">
              <a:ext uri="{FF2B5EF4-FFF2-40B4-BE49-F238E27FC236}">
                <a16:creationId xmlns:a16="http://schemas.microsoft.com/office/drawing/2014/main" id="{C225C079-7FC6-4740-9DD3-C3850FE67366}"/>
              </a:ext>
            </a:extLst>
          </p:cNvPr>
          <p:cNvSpPr>
            <a:spLocks xmlns:a="http://schemas.openxmlformats.org/drawingml/2006/main" noGrp="1"/>
          </p:cNvSpPr>
          <p:nvPr/>
        </p:nvSpPr>
        <p:spPr>
          <a:xfrm xmlns:a="http://schemas.openxmlformats.org/drawingml/2006/main">
            <a:off x="4248150" y="2095500"/>
            <a:ext cx="9525" cy="3524250"/>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2" name="product-num-1">
            <a:extLst xmlns:a="http://schemas.openxmlformats.org/drawingml/2006/main">
              <a:ext uri="{FF2B5EF4-FFF2-40B4-BE49-F238E27FC236}">
                <a16:creationId xmlns:a16="http://schemas.microsoft.com/office/drawing/2014/main" id="{3A13A441-6C63-42B2-A175-AE589333293B}"/>
              </a:ext>
            </a:extLst>
          </p:cNvPr>
          <p:cNvSpPr>
            <a:spLocks xmlns:a="http://schemas.openxmlformats.org/drawingml/2006/main" noGrp="1"/>
          </p:cNvSpPr>
          <p:nvPr/>
        </p:nvSpPr>
        <p:spPr>
          <a:xfrm xmlns:a="http://schemas.openxmlformats.org/drawingml/2006/main">
            <a:off x="4476750" y="205740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3DCE1"/>
                </a:solidFill>
                <a:latin typeface="DejaVu Sans"/>
                <a:ea typeface="DejaVu Sans"/>
                <a:cs typeface="DejaVu Sans"/>
              </a:defRPr>
            </a:defPPr>
            <a:lvl1pPr algn="l">
              <a:defRPr sz="1050" b="1">
                <a:solidFill>
                  <a:srgbClr val="73DCE1"/>
                </a:solidFill>
                <a:latin typeface="DejaVu Sans"/>
                <a:ea typeface="DejaVu Sans"/>
                <a:cs typeface="DejaVu Sans"/>
              </a:defRPr>
            </a:lvl1pPr>
            <a:lvl2pPr algn="l">
              <a:defRPr sz="1050" b="1">
                <a:solidFill>
                  <a:srgbClr val="73DCE1"/>
                </a:solidFill>
                <a:latin typeface="DejaVu Sans"/>
                <a:ea typeface="DejaVu Sans"/>
                <a:cs typeface="DejaVu Sans"/>
              </a:defRPr>
            </a:lvl2pPr>
            <a:lvl3pPr algn="l">
              <a:defRPr sz="1050" b="1">
                <a:solidFill>
                  <a:srgbClr val="73DCE1"/>
                </a:solidFill>
                <a:latin typeface="DejaVu Sans"/>
                <a:ea typeface="DejaVu Sans"/>
                <a:cs typeface="DejaVu Sans"/>
              </a:defRPr>
            </a:lvl3pPr>
            <a:lvl4pPr algn="l">
              <a:defRPr sz="1050" b="1">
                <a:solidFill>
                  <a:srgbClr val="73DCE1"/>
                </a:solidFill>
                <a:latin typeface="DejaVu Sans"/>
                <a:ea typeface="DejaVu Sans"/>
                <a:cs typeface="DejaVu Sans"/>
              </a:defRPr>
            </a:lvl4pPr>
            <a:lvl5pPr algn="l">
              <a:defRPr sz="1050" b="1">
                <a:solidFill>
                  <a:srgbClr val="73DCE1"/>
                </a:solidFill>
                <a:latin typeface="DejaVu Sans"/>
                <a:ea typeface="DejaVu Sans"/>
                <a:cs typeface="DejaVu Sans"/>
              </a:defRPr>
            </a:lvl5pPr>
            <a:lvl6pPr algn="l">
              <a:defRPr sz="1050" b="1">
                <a:solidFill>
                  <a:srgbClr val="73DCE1"/>
                </a:solidFill>
                <a:latin typeface="DejaVu Sans"/>
                <a:ea typeface="DejaVu Sans"/>
                <a:cs typeface="DejaVu Sans"/>
              </a:defRPr>
            </a:lvl6pPr>
            <a:lvl7pPr algn="l">
              <a:defRPr sz="1050" b="1">
                <a:solidFill>
                  <a:srgbClr val="73DCE1"/>
                </a:solidFill>
                <a:latin typeface="DejaVu Sans"/>
                <a:ea typeface="DejaVu Sans"/>
                <a:cs typeface="DejaVu Sans"/>
              </a:defRPr>
            </a:lvl7pPr>
            <a:lvl8pPr algn="l">
              <a:defRPr sz="1050" b="1">
                <a:solidFill>
                  <a:srgbClr val="73DCE1"/>
                </a:solidFill>
                <a:latin typeface="DejaVu Sans"/>
                <a:ea typeface="DejaVu Sans"/>
                <a:cs typeface="DejaVu Sans"/>
              </a:defRPr>
            </a:lvl8pPr>
            <a:lvl9pPr algn="l">
              <a:defRPr sz="1050" b="1">
                <a:solidFill>
                  <a:srgbClr val="73DCE1"/>
                </a:solidFill>
                <a:latin typeface="DejaVu Sans"/>
                <a:ea typeface="DejaVu Sans"/>
                <a:cs typeface="DejaVu Sans"/>
              </a:defRPr>
            </a:lvl9pPr>
          </a:lstStyle>
          <a:p xmlns:a="http://schemas.openxmlformats.org/drawingml/2006/main">
            <a:pPr algn="l">
              <a:defRPr sz="1050" b="1">
                <a:solidFill>
                  <a:srgbClr val="73DCE1"/>
                </a:solidFill>
                <a:latin typeface="DejaVu Sans"/>
                <a:ea typeface="DejaVu Sans"/>
                <a:cs typeface="DejaVu Sans"/>
              </a:defRPr>
            </a:pPr>
            <a:r>
              <a:rPr sz="1050" b="1">
                <a:solidFill>
                  <a:srgbClr val="73DCE1"/>
                </a:solidFill>
                <a:latin typeface="DejaVu Sans"/>
                <a:ea typeface="DejaVu Sans"/>
                <a:cs typeface="DejaVu Sans"/>
              </a:rPr>
              <a:t>02  ·  CLOSE THE LOOP</a:t>
            </a:r>
          </a:p>
        </p:txBody>
      </p:sp>
      <p:sp>
        <p:nvSpPr>
          <p:cNvPr id="13" name="product-title-1">
            <a:extLst xmlns:a="http://schemas.openxmlformats.org/drawingml/2006/main">
              <a:ext uri="{FF2B5EF4-FFF2-40B4-BE49-F238E27FC236}">
                <a16:creationId xmlns:a16="http://schemas.microsoft.com/office/drawing/2014/main" id="{0727C76C-78B6-4E5C-91AC-4C71332335BE}"/>
              </a:ext>
            </a:extLst>
          </p:cNvPr>
          <p:cNvSpPr>
            <a:spLocks xmlns:a="http://schemas.openxmlformats.org/drawingml/2006/main" noGrp="1"/>
          </p:cNvSpPr>
          <p:nvPr/>
        </p:nvSpPr>
        <p:spPr>
          <a:xfrm xmlns:a="http://schemas.openxmlformats.org/drawingml/2006/main">
            <a:off x="4476750" y="24098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EEF0E8"/>
                </a:solidFill>
                <a:latin typeface="DejaVu Sans"/>
                <a:ea typeface="DejaVu Sans"/>
                <a:cs typeface="DejaVu Sans"/>
              </a:defRPr>
            </a:defPPr>
            <a:lvl1pPr algn="l">
              <a:defRPr sz="2175" b="1">
                <a:solidFill>
                  <a:srgbClr val="EEF0E8"/>
                </a:solidFill>
                <a:latin typeface="DejaVu Sans"/>
                <a:ea typeface="DejaVu Sans"/>
                <a:cs typeface="DejaVu Sans"/>
              </a:defRPr>
            </a:lvl1pPr>
            <a:lvl2pPr algn="l">
              <a:defRPr sz="2175" b="1">
                <a:solidFill>
                  <a:srgbClr val="EEF0E8"/>
                </a:solidFill>
                <a:latin typeface="DejaVu Sans"/>
                <a:ea typeface="DejaVu Sans"/>
                <a:cs typeface="DejaVu Sans"/>
              </a:defRPr>
            </a:lvl2pPr>
            <a:lvl3pPr algn="l">
              <a:defRPr sz="2175" b="1">
                <a:solidFill>
                  <a:srgbClr val="EEF0E8"/>
                </a:solidFill>
                <a:latin typeface="DejaVu Sans"/>
                <a:ea typeface="DejaVu Sans"/>
                <a:cs typeface="DejaVu Sans"/>
              </a:defRPr>
            </a:lvl3pPr>
            <a:lvl4pPr algn="l">
              <a:defRPr sz="2175" b="1">
                <a:solidFill>
                  <a:srgbClr val="EEF0E8"/>
                </a:solidFill>
                <a:latin typeface="DejaVu Sans"/>
                <a:ea typeface="DejaVu Sans"/>
                <a:cs typeface="DejaVu Sans"/>
              </a:defRPr>
            </a:lvl4pPr>
            <a:lvl5pPr algn="l">
              <a:defRPr sz="2175" b="1">
                <a:solidFill>
                  <a:srgbClr val="EEF0E8"/>
                </a:solidFill>
                <a:latin typeface="DejaVu Sans"/>
                <a:ea typeface="DejaVu Sans"/>
                <a:cs typeface="DejaVu Sans"/>
              </a:defRPr>
            </a:lvl5pPr>
            <a:lvl6pPr algn="l">
              <a:defRPr sz="2175" b="1">
                <a:solidFill>
                  <a:srgbClr val="EEF0E8"/>
                </a:solidFill>
                <a:latin typeface="DejaVu Sans"/>
                <a:ea typeface="DejaVu Sans"/>
                <a:cs typeface="DejaVu Sans"/>
              </a:defRPr>
            </a:lvl6pPr>
            <a:lvl7pPr algn="l">
              <a:defRPr sz="2175" b="1">
                <a:solidFill>
                  <a:srgbClr val="EEF0E8"/>
                </a:solidFill>
                <a:latin typeface="DejaVu Sans"/>
                <a:ea typeface="DejaVu Sans"/>
                <a:cs typeface="DejaVu Sans"/>
              </a:defRPr>
            </a:lvl7pPr>
            <a:lvl8pPr algn="l">
              <a:defRPr sz="2175" b="1">
                <a:solidFill>
                  <a:srgbClr val="EEF0E8"/>
                </a:solidFill>
                <a:latin typeface="DejaVu Sans"/>
                <a:ea typeface="DejaVu Sans"/>
                <a:cs typeface="DejaVu Sans"/>
              </a:defRPr>
            </a:lvl8pPr>
            <a:lvl9pPr algn="l">
              <a:defRPr sz="2175" b="1">
                <a:solidFill>
                  <a:srgbClr val="EEF0E8"/>
                </a:solidFill>
                <a:latin typeface="DejaVu Sans"/>
                <a:ea typeface="DejaVu Sans"/>
                <a:cs typeface="DejaVu Sans"/>
              </a:defRPr>
            </a:lvl9pPr>
          </a:lstStyle>
          <a:p xmlns:a="http://schemas.openxmlformats.org/drawingml/2006/main">
            <a:pPr algn="l">
              <a:defRPr sz="2175" b="1">
                <a:solidFill>
                  <a:srgbClr val="EEF0E8"/>
                </a:solidFill>
                <a:latin typeface="DejaVu Sans"/>
                <a:ea typeface="DejaVu Sans"/>
                <a:cs typeface="DejaVu Sans"/>
              </a:defRPr>
            </a:pPr>
            <a:r>
              <a:rPr sz="2175" b="1">
                <a:solidFill>
                  <a:srgbClr val="EEF0E8"/>
                </a:solidFill>
                <a:latin typeface="DejaVu Sans"/>
                <a:ea typeface="DejaVu Sans"/>
                <a:cs typeface="DejaVu Sans"/>
              </a:rPr>
              <a:t>Make alerts useful</a:t>
            </a:r>
          </a:p>
        </p:txBody>
      </p:sp>
      <p:sp>
        <p:nvSpPr>
          <p:cNvPr id="14" name="product-body-1">
            <a:extLst xmlns:a="http://schemas.openxmlformats.org/drawingml/2006/main">
              <a:ext uri="{FF2B5EF4-FFF2-40B4-BE49-F238E27FC236}">
                <a16:creationId xmlns:a16="http://schemas.microsoft.com/office/drawing/2014/main" id="{B8FB2EAA-A9C7-4383-9B44-9EB9CAF68FDE}"/>
              </a:ext>
            </a:extLst>
          </p:cNvPr>
          <p:cNvSpPr>
            <a:spLocks xmlns:a="http://schemas.openxmlformats.org/drawingml/2006/main" noGrp="1"/>
          </p:cNvSpPr>
          <p:nvPr/>
        </p:nvSpPr>
        <p:spPr>
          <a:xfrm xmlns:a="http://schemas.openxmlformats.org/drawingml/2006/main">
            <a:off x="4476750" y="2943225"/>
            <a:ext cx="33337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3A89D"/>
                </a:solidFill>
                <a:latin typeface="DejaVu Sans"/>
                <a:ea typeface="DejaVu Sans"/>
                <a:cs typeface="DejaVu Sans"/>
              </a:defRPr>
            </a:defPPr>
            <a:lvl1pPr algn="l">
              <a:defRPr sz="1425" b="0">
                <a:solidFill>
                  <a:srgbClr val="A3A89D"/>
                </a:solidFill>
                <a:latin typeface="DejaVu Sans"/>
                <a:ea typeface="DejaVu Sans"/>
                <a:cs typeface="DejaVu Sans"/>
              </a:defRPr>
            </a:lvl1pPr>
            <a:lvl2pPr algn="l">
              <a:defRPr sz="1425" b="0">
                <a:solidFill>
                  <a:srgbClr val="A3A89D"/>
                </a:solidFill>
                <a:latin typeface="DejaVu Sans"/>
                <a:ea typeface="DejaVu Sans"/>
                <a:cs typeface="DejaVu Sans"/>
              </a:defRPr>
            </a:lvl2pPr>
            <a:lvl3pPr algn="l">
              <a:defRPr sz="1425" b="0">
                <a:solidFill>
                  <a:srgbClr val="A3A89D"/>
                </a:solidFill>
                <a:latin typeface="DejaVu Sans"/>
                <a:ea typeface="DejaVu Sans"/>
                <a:cs typeface="DejaVu Sans"/>
              </a:defRPr>
            </a:lvl3pPr>
            <a:lvl4pPr algn="l">
              <a:defRPr sz="1425" b="0">
                <a:solidFill>
                  <a:srgbClr val="A3A89D"/>
                </a:solidFill>
                <a:latin typeface="DejaVu Sans"/>
                <a:ea typeface="DejaVu Sans"/>
                <a:cs typeface="DejaVu Sans"/>
              </a:defRPr>
            </a:lvl4pPr>
            <a:lvl5pPr algn="l">
              <a:defRPr sz="1425" b="0">
                <a:solidFill>
                  <a:srgbClr val="A3A89D"/>
                </a:solidFill>
                <a:latin typeface="DejaVu Sans"/>
                <a:ea typeface="DejaVu Sans"/>
                <a:cs typeface="DejaVu Sans"/>
              </a:defRPr>
            </a:lvl5pPr>
            <a:lvl6pPr algn="l">
              <a:defRPr sz="1425" b="0">
                <a:solidFill>
                  <a:srgbClr val="A3A89D"/>
                </a:solidFill>
                <a:latin typeface="DejaVu Sans"/>
                <a:ea typeface="DejaVu Sans"/>
                <a:cs typeface="DejaVu Sans"/>
              </a:defRPr>
            </a:lvl6pPr>
            <a:lvl7pPr algn="l">
              <a:defRPr sz="1425" b="0">
                <a:solidFill>
                  <a:srgbClr val="A3A89D"/>
                </a:solidFill>
                <a:latin typeface="DejaVu Sans"/>
                <a:ea typeface="DejaVu Sans"/>
                <a:cs typeface="DejaVu Sans"/>
              </a:defRPr>
            </a:lvl7pPr>
            <a:lvl8pPr algn="l">
              <a:defRPr sz="1425" b="0">
                <a:solidFill>
                  <a:srgbClr val="A3A89D"/>
                </a:solidFill>
                <a:latin typeface="DejaVu Sans"/>
                <a:ea typeface="DejaVu Sans"/>
                <a:cs typeface="DejaVu Sans"/>
              </a:defRPr>
            </a:lvl8pPr>
            <a:lvl9pPr algn="l">
              <a:defRPr sz="1425" b="0">
                <a:solidFill>
                  <a:srgbClr val="A3A89D"/>
                </a:solidFill>
                <a:latin typeface="DejaVu Sans"/>
                <a:ea typeface="DejaVu Sans"/>
                <a:cs typeface="DejaVu Sans"/>
              </a:defRPr>
            </a:lvl9pPr>
          </a:lstStyle>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Tune freshness and finality thresholds with operators.</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Send alerts to Slack, Discord, or webhooks.</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Attach the report and source context.</a:t>
            </a:r>
          </a:p>
        </p:txBody>
      </p:sp>
      <p:sp>
        <p:nvSpPr>
          <p:cNvPr id="15" name="rule-846-220">
            <a:extLst xmlns:a="http://schemas.openxmlformats.org/drawingml/2006/main">
              <a:ext uri="{FF2B5EF4-FFF2-40B4-BE49-F238E27FC236}">
                <a16:creationId xmlns:a16="http://schemas.microsoft.com/office/drawing/2014/main" id="{21CB7906-7680-481E-A21E-3B68200064AA}"/>
              </a:ext>
            </a:extLst>
          </p:cNvPr>
          <p:cNvSpPr>
            <a:spLocks xmlns:a="http://schemas.openxmlformats.org/drawingml/2006/main" noGrp="1"/>
          </p:cNvSpPr>
          <p:nvPr/>
        </p:nvSpPr>
        <p:spPr>
          <a:xfrm xmlns:a="http://schemas.openxmlformats.org/drawingml/2006/main">
            <a:off x="8058150" y="2095500"/>
            <a:ext cx="9525" cy="3524250"/>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16" name="product-num-2">
            <a:extLst xmlns:a="http://schemas.openxmlformats.org/drawingml/2006/main">
              <a:ext uri="{FF2B5EF4-FFF2-40B4-BE49-F238E27FC236}">
                <a16:creationId xmlns:a16="http://schemas.microsoft.com/office/drawing/2014/main" id="{0D91B532-9D8E-4598-AB2E-E9D7A684964B}"/>
              </a:ext>
            </a:extLst>
          </p:cNvPr>
          <p:cNvSpPr>
            <a:spLocks xmlns:a="http://schemas.openxmlformats.org/drawingml/2006/main" noGrp="1"/>
          </p:cNvSpPr>
          <p:nvPr/>
        </p:nvSpPr>
        <p:spPr>
          <a:xfrm xmlns:a="http://schemas.openxmlformats.org/drawingml/2006/main">
            <a:off x="8286750" y="2057400"/>
            <a:ext cx="3238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995FF"/>
                </a:solidFill>
                <a:latin typeface="DejaVu Sans"/>
                <a:ea typeface="DejaVu Sans"/>
                <a:cs typeface="DejaVu Sans"/>
              </a:defRPr>
            </a:defPPr>
            <a:lvl1pPr algn="l">
              <a:defRPr sz="1050" b="1">
                <a:solidFill>
                  <a:srgbClr val="A995FF"/>
                </a:solidFill>
                <a:latin typeface="DejaVu Sans"/>
                <a:ea typeface="DejaVu Sans"/>
                <a:cs typeface="DejaVu Sans"/>
              </a:defRPr>
            </a:lvl1pPr>
            <a:lvl2pPr algn="l">
              <a:defRPr sz="1050" b="1">
                <a:solidFill>
                  <a:srgbClr val="A995FF"/>
                </a:solidFill>
                <a:latin typeface="DejaVu Sans"/>
                <a:ea typeface="DejaVu Sans"/>
                <a:cs typeface="DejaVu Sans"/>
              </a:defRPr>
            </a:lvl2pPr>
            <a:lvl3pPr algn="l">
              <a:defRPr sz="1050" b="1">
                <a:solidFill>
                  <a:srgbClr val="A995FF"/>
                </a:solidFill>
                <a:latin typeface="DejaVu Sans"/>
                <a:ea typeface="DejaVu Sans"/>
                <a:cs typeface="DejaVu Sans"/>
              </a:defRPr>
            </a:lvl3pPr>
            <a:lvl4pPr algn="l">
              <a:defRPr sz="1050" b="1">
                <a:solidFill>
                  <a:srgbClr val="A995FF"/>
                </a:solidFill>
                <a:latin typeface="DejaVu Sans"/>
                <a:ea typeface="DejaVu Sans"/>
                <a:cs typeface="DejaVu Sans"/>
              </a:defRPr>
            </a:lvl4pPr>
            <a:lvl5pPr algn="l">
              <a:defRPr sz="1050" b="1">
                <a:solidFill>
                  <a:srgbClr val="A995FF"/>
                </a:solidFill>
                <a:latin typeface="DejaVu Sans"/>
                <a:ea typeface="DejaVu Sans"/>
                <a:cs typeface="DejaVu Sans"/>
              </a:defRPr>
            </a:lvl5pPr>
            <a:lvl6pPr algn="l">
              <a:defRPr sz="1050" b="1">
                <a:solidFill>
                  <a:srgbClr val="A995FF"/>
                </a:solidFill>
                <a:latin typeface="DejaVu Sans"/>
                <a:ea typeface="DejaVu Sans"/>
                <a:cs typeface="DejaVu Sans"/>
              </a:defRPr>
            </a:lvl6pPr>
            <a:lvl7pPr algn="l">
              <a:defRPr sz="1050" b="1">
                <a:solidFill>
                  <a:srgbClr val="A995FF"/>
                </a:solidFill>
                <a:latin typeface="DejaVu Sans"/>
                <a:ea typeface="DejaVu Sans"/>
                <a:cs typeface="DejaVu Sans"/>
              </a:defRPr>
            </a:lvl7pPr>
            <a:lvl8pPr algn="l">
              <a:defRPr sz="1050" b="1">
                <a:solidFill>
                  <a:srgbClr val="A995FF"/>
                </a:solidFill>
                <a:latin typeface="DejaVu Sans"/>
                <a:ea typeface="DejaVu Sans"/>
                <a:cs typeface="DejaVu Sans"/>
              </a:defRPr>
            </a:lvl8pPr>
            <a:lvl9pPr algn="l">
              <a:defRPr sz="1050" b="1">
                <a:solidFill>
                  <a:srgbClr val="A995FF"/>
                </a:solidFill>
                <a:latin typeface="DejaVu Sans"/>
                <a:ea typeface="DejaVu Sans"/>
                <a:cs typeface="DejaVu Sans"/>
              </a:defRPr>
            </a:lvl9pPr>
          </a:lstStyle>
          <a:p xmlns:a="http://schemas.openxmlformats.org/drawingml/2006/main">
            <a:pPr algn="l">
              <a:defRPr sz="1050" b="1">
                <a:solidFill>
                  <a:srgbClr val="A995FF"/>
                </a:solidFill>
                <a:latin typeface="DejaVu Sans"/>
                <a:ea typeface="DejaVu Sans"/>
                <a:cs typeface="DejaVu Sans"/>
              </a:defRPr>
            </a:pPr>
            <a:r>
              <a:rPr sz="1050" b="1">
                <a:solidFill>
                  <a:srgbClr val="A995FF"/>
                </a:solidFill>
                <a:latin typeface="DejaVu Sans"/>
                <a:ea typeface="DejaVu Sans"/>
                <a:cs typeface="DejaVu Sans"/>
              </a:rPr>
              <a:t>03  ·  PAID, IF PULLED</a:t>
            </a:r>
          </a:p>
        </p:txBody>
      </p:sp>
      <p:sp>
        <p:nvSpPr>
          <p:cNvPr id="17" name="product-title-2">
            <a:extLst xmlns:a="http://schemas.openxmlformats.org/drawingml/2006/main">
              <a:ext uri="{FF2B5EF4-FFF2-40B4-BE49-F238E27FC236}">
                <a16:creationId xmlns:a16="http://schemas.microsoft.com/office/drawing/2014/main" id="{7D9219AD-E9B8-449B-ABD6-5A7D986BECF9}"/>
              </a:ext>
            </a:extLst>
          </p:cNvPr>
          <p:cNvSpPr>
            <a:spLocks xmlns:a="http://schemas.openxmlformats.org/drawingml/2006/main" noGrp="1"/>
          </p:cNvSpPr>
          <p:nvPr/>
        </p:nvSpPr>
        <p:spPr>
          <a:xfrm xmlns:a="http://schemas.openxmlformats.org/drawingml/2006/main">
            <a:off x="8286750" y="24098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EEF0E8"/>
                </a:solidFill>
                <a:latin typeface="DejaVu Sans"/>
                <a:ea typeface="DejaVu Sans"/>
                <a:cs typeface="DejaVu Sans"/>
              </a:defRPr>
            </a:defPPr>
            <a:lvl1pPr algn="l">
              <a:defRPr sz="2175" b="1">
                <a:solidFill>
                  <a:srgbClr val="EEF0E8"/>
                </a:solidFill>
                <a:latin typeface="DejaVu Sans"/>
                <a:ea typeface="DejaVu Sans"/>
                <a:cs typeface="DejaVu Sans"/>
              </a:defRPr>
            </a:lvl1pPr>
            <a:lvl2pPr algn="l">
              <a:defRPr sz="2175" b="1">
                <a:solidFill>
                  <a:srgbClr val="EEF0E8"/>
                </a:solidFill>
                <a:latin typeface="DejaVu Sans"/>
                <a:ea typeface="DejaVu Sans"/>
                <a:cs typeface="DejaVu Sans"/>
              </a:defRPr>
            </a:lvl2pPr>
            <a:lvl3pPr algn="l">
              <a:defRPr sz="2175" b="1">
                <a:solidFill>
                  <a:srgbClr val="EEF0E8"/>
                </a:solidFill>
                <a:latin typeface="DejaVu Sans"/>
                <a:ea typeface="DejaVu Sans"/>
                <a:cs typeface="DejaVu Sans"/>
              </a:defRPr>
            </a:lvl3pPr>
            <a:lvl4pPr algn="l">
              <a:defRPr sz="2175" b="1">
                <a:solidFill>
                  <a:srgbClr val="EEF0E8"/>
                </a:solidFill>
                <a:latin typeface="DejaVu Sans"/>
                <a:ea typeface="DejaVu Sans"/>
                <a:cs typeface="DejaVu Sans"/>
              </a:defRPr>
            </a:lvl4pPr>
            <a:lvl5pPr algn="l">
              <a:defRPr sz="2175" b="1">
                <a:solidFill>
                  <a:srgbClr val="EEF0E8"/>
                </a:solidFill>
                <a:latin typeface="DejaVu Sans"/>
                <a:ea typeface="DejaVu Sans"/>
                <a:cs typeface="DejaVu Sans"/>
              </a:defRPr>
            </a:lvl5pPr>
            <a:lvl6pPr algn="l">
              <a:defRPr sz="2175" b="1">
                <a:solidFill>
                  <a:srgbClr val="EEF0E8"/>
                </a:solidFill>
                <a:latin typeface="DejaVu Sans"/>
                <a:ea typeface="DejaVu Sans"/>
                <a:cs typeface="DejaVu Sans"/>
              </a:defRPr>
            </a:lvl6pPr>
            <a:lvl7pPr algn="l">
              <a:defRPr sz="2175" b="1">
                <a:solidFill>
                  <a:srgbClr val="EEF0E8"/>
                </a:solidFill>
                <a:latin typeface="DejaVu Sans"/>
                <a:ea typeface="DejaVu Sans"/>
                <a:cs typeface="DejaVu Sans"/>
              </a:defRPr>
            </a:lvl7pPr>
            <a:lvl8pPr algn="l">
              <a:defRPr sz="2175" b="1">
                <a:solidFill>
                  <a:srgbClr val="EEF0E8"/>
                </a:solidFill>
                <a:latin typeface="DejaVu Sans"/>
                <a:ea typeface="DejaVu Sans"/>
                <a:cs typeface="DejaVu Sans"/>
              </a:defRPr>
            </a:lvl8pPr>
            <a:lvl9pPr algn="l">
              <a:defRPr sz="2175" b="1">
                <a:solidFill>
                  <a:srgbClr val="EEF0E8"/>
                </a:solidFill>
                <a:latin typeface="DejaVu Sans"/>
                <a:ea typeface="DejaVu Sans"/>
                <a:cs typeface="DejaVu Sans"/>
              </a:defRPr>
            </a:lvl9pPr>
          </a:lstStyle>
          <a:p xmlns:a="http://schemas.openxmlformats.org/drawingml/2006/main">
            <a:pPr algn="l">
              <a:defRPr sz="2175" b="1">
                <a:solidFill>
                  <a:srgbClr val="EEF0E8"/>
                </a:solidFill>
                <a:latin typeface="DejaVu Sans"/>
                <a:ea typeface="DejaVu Sans"/>
                <a:cs typeface="DejaVu Sans"/>
              </a:defRPr>
            </a:pPr>
            <a:r>
              <a:rPr sz="2175" b="1">
                <a:solidFill>
                  <a:srgbClr val="EEF0E8"/>
                </a:solidFill>
                <a:latin typeface="DejaVu Sans"/>
                <a:ea typeface="DejaVu Sans"/>
                <a:cs typeface="DejaVu Sans"/>
              </a:rPr>
              <a:t>Host the workflow</a:t>
            </a:r>
          </a:p>
        </p:txBody>
      </p:sp>
      <p:sp>
        <p:nvSpPr>
          <p:cNvPr id="18" name="product-body-2">
            <a:extLst xmlns:a="http://schemas.openxmlformats.org/drawingml/2006/main">
              <a:ext uri="{FF2B5EF4-FFF2-40B4-BE49-F238E27FC236}">
                <a16:creationId xmlns:a16="http://schemas.microsoft.com/office/drawing/2014/main" id="{62700773-4A96-48B5-82CB-9E67FA534E35}"/>
              </a:ext>
            </a:extLst>
          </p:cNvPr>
          <p:cNvSpPr>
            <a:spLocks xmlns:a="http://schemas.openxmlformats.org/drawingml/2006/main" noGrp="1"/>
          </p:cNvSpPr>
          <p:nvPr/>
        </p:nvSpPr>
        <p:spPr>
          <a:xfrm xmlns:a="http://schemas.openxmlformats.org/drawingml/2006/main">
            <a:off x="8286750" y="2943225"/>
            <a:ext cx="32385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3A89D"/>
                </a:solidFill>
                <a:latin typeface="DejaVu Sans"/>
                <a:ea typeface="DejaVu Sans"/>
                <a:cs typeface="DejaVu Sans"/>
              </a:defRPr>
            </a:defPPr>
            <a:lvl1pPr algn="l">
              <a:defRPr sz="1425" b="0">
                <a:solidFill>
                  <a:srgbClr val="A3A89D"/>
                </a:solidFill>
                <a:latin typeface="DejaVu Sans"/>
                <a:ea typeface="DejaVu Sans"/>
                <a:cs typeface="DejaVu Sans"/>
              </a:defRPr>
            </a:lvl1pPr>
            <a:lvl2pPr algn="l">
              <a:defRPr sz="1425" b="0">
                <a:solidFill>
                  <a:srgbClr val="A3A89D"/>
                </a:solidFill>
                <a:latin typeface="DejaVu Sans"/>
                <a:ea typeface="DejaVu Sans"/>
                <a:cs typeface="DejaVu Sans"/>
              </a:defRPr>
            </a:lvl2pPr>
            <a:lvl3pPr algn="l">
              <a:defRPr sz="1425" b="0">
                <a:solidFill>
                  <a:srgbClr val="A3A89D"/>
                </a:solidFill>
                <a:latin typeface="DejaVu Sans"/>
                <a:ea typeface="DejaVu Sans"/>
                <a:cs typeface="DejaVu Sans"/>
              </a:defRPr>
            </a:lvl3pPr>
            <a:lvl4pPr algn="l">
              <a:defRPr sz="1425" b="0">
                <a:solidFill>
                  <a:srgbClr val="A3A89D"/>
                </a:solidFill>
                <a:latin typeface="DejaVu Sans"/>
                <a:ea typeface="DejaVu Sans"/>
                <a:cs typeface="DejaVu Sans"/>
              </a:defRPr>
            </a:lvl4pPr>
            <a:lvl5pPr algn="l">
              <a:defRPr sz="1425" b="0">
                <a:solidFill>
                  <a:srgbClr val="A3A89D"/>
                </a:solidFill>
                <a:latin typeface="DejaVu Sans"/>
                <a:ea typeface="DejaVu Sans"/>
                <a:cs typeface="DejaVu Sans"/>
              </a:defRPr>
            </a:lvl5pPr>
            <a:lvl6pPr algn="l">
              <a:defRPr sz="1425" b="0">
                <a:solidFill>
                  <a:srgbClr val="A3A89D"/>
                </a:solidFill>
                <a:latin typeface="DejaVu Sans"/>
                <a:ea typeface="DejaVu Sans"/>
                <a:cs typeface="DejaVu Sans"/>
              </a:defRPr>
            </a:lvl6pPr>
            <a:lvl7pPr algn="l">
              <a:defRPr sz="1425" b="0">
                <a:solidFill>
                  <a:srgbClr val="A3A89D"/>
                </a:solidFill>
                <a:latin typeface="DejaVu Sans"/>
                <a:ea typeface="DejaVu Sans"/>
                <a:cs typeface="DejaVu Sans"/>
              </a:defRPr>
            </a:lvl7pPr>
            <a:lvl8pPr algn="l">
              <a:defRPr sz="1425" b="0">
                <a:solidFill>
                  <a:srgbClr val="A3A89D"/>
                </a:solidFill>
                <a:latin typeface="DejaVu Sans"/>
                <a:ea typeface="DejaVu Sans"/>
                <a:cs typeface="DejaVu Sans"/>
              </a:defRPr>
            </a:lvl8pPr>
            <a:lvl9pPr algn="l">
              <a:defRPr sz="1425" b="0">
                <a:solidFill>
                  <a:srgbClr val="A3A89D"/>
                </a:solidFill>
                <a:latin typeface="DejaVu Sans"/>
                <a:ea typeface="DejaVu Sans"/>
                <a:cs typeface="DejaVu Sans"/>
              </a:defRPr>
            </a:lvl9pPr>
          </a:lstStyle>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Shared workspaces, alert policies, incident history, and longer retention.</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Never put reporter keys in the browser.</a:t>
            </a:r>
          </a:p>
          <a:p xmlns:a="http://schemas.openxmlformats.org/drawingml/2006/main">
            <a:r>
              <a:t/>
            </a:r>
          </a:p>
          <a:p xmlns:a="http://schemas.openxmlformats.org/drawingml/2006/main">
            <a:pPr algn="l">
              <a:defRPr sz="1425" b="0">
                <a:solidFill>
                  <a:srgbClr val="A3A89D"/>
                </a:solidFill>
                <a:latin typeface="DejaVu Sans"/>
                <a:ea typeface="DejaVu Sans"/>
                <a:cs typeface="DejaVu Sans"/>
              </a:defRPr>
            </a:pPr>
            <a:r>
              <a:rPr sz="1425" b="0">
                <a:solidFill>
                  <a:srgbClr val="A3A89D"/>
                </a:solidFill>
                <a:latin typeface="DejaVu Sans"/>
                <a:ea typeface="DejaVu Sans"/>
                <a:cs typeface="DejaVu Sans"/>
              </a:rPr>
              <a:t>Price only after a pilot confirms demand.</a:t>
            </a:r>
          </a:p>
        </p:txBody>
      </p:sp>
      <p:sp>
        <p:nvSpPr>
          <p:cNvPr id="19" name="rule-70-550">
            <a:extLst xmlns:a="http://schemas.openxmlformats.org/drawingml/2006/main">
              <a:ext uri="{FF2B5EF4-FFF2-40B4-BE49-F238E27FC236}">
                <a16:creationId xmlns:a16="http://schemas.microsoft.com/office/drawing/2014/main" id="{A22D0D33-81D2-4120-92AA-84C83F78E8BE}"/>
              </a:ext>
            </a:extLst>
          </p:cNvPr>
          <p:cNvSpPr>
            <a:spLocks xmlns:a="http://schemas.openxmlformats.org/drawingml/2006/main" noGrp="1"/>
          </p:cNvSpPr>
          <p:nvPr/>
        </p:nvSpPr>
        <p:spPr>
          <a:xfrm xmlns:a="http://schemas.openxmlformats.org/drawingml/2006/main">
            <a:off x="666750" y="5238750"/>
            <a:ext cx="10858500" cy="9525"/>
          </a:xfrm>
          <a:prstGeom xmlns:a="http://schemas.openxmlformats.org/drawingml/2006/main" prst="rect">
            <a:avLst/>
          </a:prstGeom>
          <a:solidFill xmlns:a="http://schemas.openxmlformats.org/drawingml/2006/main">
            <a:srgbClr val="303630"/>
          </a:solidFill>
          <a:ln xmlns:a="http://schemas.openxmlformats.org/drawingml/2006/main" w="0">
            <a:noFill/>
            <a:prstDash val="solid"/>
          </a:ln>
        </p:spPr>
      </p:sp>
      <p:sp>
        <p:nvSpPr>
          <p:cNvPr id="20" name="pilot-label">
            <a:extLst xmlns:a="http://schemas.openxmlformats.org/drawingml/2006/main">
              <a:ext uri="{FF2B5EF4-FFF2-40B4-BE49-F238E27FC236}">
                <a16:creationId xmlns:a16="http://schemas.microsoft.com/office/drawing/2014/main" id="{E56D2E11-A159-4BC1-9335-4BDA33793F55}"/>
              </a:ext>
            </a:extLst>
          </p:cNvPr>
          <p:cNvSpPr>
            <a:spLocks xmlns:a="http://schemas.openxmlformats.org/drawingml/2006/main" noGrp="1"/>
          </p:cNvSpPr>
          <p:nvPr/>
        </p:nvSpPr>
        <p:spPr>
          <a:xfrm xmlns:a="http://schemas.openxmlformats.org/drawingml/2006/main">
            <a:off x="666750" y="54387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C8FF45"/>
                </a:solidFill>
                <a:latin typeface="DejaVu Sans"/>
                <a:ea typeface="DejaVu Sans"/>
                <a:cs typeface="DejaVu Sans"/>
              </a:defRPr>
            </a:defPPr>
            <a:lvl1pPr algn="l">
              <a:defRPr sz="1050" b="1">
                <a:solidFill>
                  <a:srgbClr val="C8FF45"/>
                </a:solidFill>
                <a:latin typeface="DejaVu Sans"/>
                <a:ea typeface="DejaVu Sans"/>
                <a:cs typeface="DejaVu Sans"/>
              </a:defRPr>
            </a:lvl1pPr>
            <a:lvl2pPr algn="l">
              <a:defRPr sz="1050" b="1">
                <a:solidFill>
                  <a:srgbClr val="C8FF45"/>
                </a:solidFill>
                <a:latin typeface="DejaVu Sans"/>
                <a:ea typeface="DejaVu Sans"/>
                <a:cs typeface="DejaVu Sans"/>
              </a:defRPr>
            </a:lvl2pPr>
            <a:lvl3pPr algn="l">
              <a:defRPr sz="1050" b="1">
                <a:solidFill>
                  <a:srgbClr val="C8FF45"/>
                </a:solidFill>
                <a:latin typeface="DejaVu Sans"/>
                <a:ea typeface="DejaVu Sans"/>
                <a:cs typeface="DejaVu Sans"/>
              </a:defRPr>
            </a:lvl3pPr>
            <a:lvl4pPr algn="l">
              <a:defRPr sz="1050" b="1">
                <a:solidFill>
                  <a:srgbClr val="C8FF45"/>
                </a:solidFill>
                <a:latin typeface="DejaVu Sans"/>
                <a:ea typeface="DejaVu Sans"/>
                <a:cs typeface="DejaVu Sans"/>
              </a:defRPr>
            </a:lvl4pPr>
            <a:lvl5pPr algn="l">
              <a:defRPr sz="1050" b="1">
                <a:solidFill>
                  <a:srgbClr val="C8FF45"/>
                </a:solidFill>
                <a:latin typeface="DejaVu Sans"/>
                <a:ea typeface="DejaVu Sans"/>
                <a:cs typeface="DejaVu Sans"/>
              </a:defRPr>
            </a:lvl5pPr>
            <a:lvl6pPr algn="l">
              <a:defRPr sz="1050" b="1">
                <a:solidFill>
                  <a:srgbClr val="C8FF45"/>
                </a:solidFill>
                <a:latin typeface="DejaVu Sans"/>
                <a:ea typeface="DejaVu Sans"/>
                <a:cs typeface="DejaVu Sans"/>
              </a:defRPr>
            </a:lvl6pPr>
            <a:lvl7pPr algn="l">
              <a:defRPr sz="1050" b="1">
                <a:solidFill>
                  <a:srgbClr val="C8FF45"/>
                </a:solidFill>
                <a:latin typeface="DejaVu Sans"/>
                <a:ea typeface="DejaVu Sans"/>
                <a:cs typeface="DejaVu Sans"/>
              </a:defRPr>
            </a:lvl7pPr>
            <a:lvl8pPr algn="l">
              <a:defRPr sz="1050" b="1">
                <a:solidFill>
                  <a:srgbClr val="C8FF45"/>
                </a:solidFill>
                <a:latin typeface="DejaVu Sans"/>
                <a:ea typeface="DejaVu Sans"/>
                <a:cs typeface="DejaVu Sans"/>
              </a:defRPr>
            </a:lvl8pPr>
            <a:lvl9pPr algn="l">
              <a:defRPr sz="1050" b="1">
                <a:solidFill>
                  <a:srgbClr val="C8FF45"/>
                </a:solidFill>
                <a:latin typeface="DejaVu Sans"/>
                <a:ea typeface="DejaVu Sans"/>
                <a:cs typeface="DejaVu Sans"/>
              </a:defRPr>
            </a:lvl9pPr>
          </a:lstStyle>
          <a:p xmlns:a="http://schemas.openxmlformats.org/drawingml/2006/main">
            <a:pPr algn="l">
              <a:defRPr sz="1050" b="1">
                <a:solidFill>
                  <a:srgbClr val="C8FF45"/>
                </a:solidFill>
                <a:latin typeface="DejaVu Sans"/>
                <a:ea typeface="DejaVu Sans"/>
                <a:cs typeface="DejaVu Sans"/>
              </a:defRPr>
            </a:pPr>
            <a:r>
              <a:rPr sz="1050" b="1">
                <a:solidFill>
                  <a:srgbClr val="C8FF45"/>
                </a:solidFill>
                <a:latin typeface="DejaVu Sans"/>
                <a:ea typeface="DejaVu Sans"/>
                <a:cs typeface="DejaVu Sans"/>
              </a:rPr>
              <a:t>FIRST VALIDATION</a:t>
            </a:r>
          </a:p>
        </p:txBody>
      </p:sp>
      <p:sp>
        <p:nvSpPr>
          <p:cNvPr id="21" name="pilot-copy">
            <a:extLst xmlns:a="http://schemas.openxmlformats.org/drawingml/2006/main">
              <a:ext uri="{FF2B5EF4-FFF2-40B4-BE49-F238E27FC236}">
                <a16:creationId xmlns:a16="http://schemas.microsoft.com/office/drawing/2014/main" id="{EAE94725-ED17-473C-80DB-463394C557FD}"/>
              </a:ext>
            </a:extLst>
          </p:cNvPr>
          <p:cNvSpPr>
            <a:spLocks xmlns:a="http://schemas.openxmlformats.org/drawingml/2006/main" noGrp="1"/>
          </p:cNvSpPr>
          <p:nvPr/>
        </p:nvSpPr>
        <p:spPr>
          <a:xfrm xmlns:a="http://schemas.openxmlformats.org/drawingml/2006/main">
            <a:off x="666750" y="56959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EEF0E8"/>
                </a:solidFill>
                <a:latin typeface="DejaVu Sans"/>
                <a:ea typeface="DejaVu Sans"/>
                <a:cs typeface="DejaVu Sans"/>
              </a:defRPr>
            </a:defPPr>
            <a:lvl1pPr algn="l">
              <a:defRPr sz="1425" b="0">
                <a:solidFill>
                  <a:srgbClr val="EEF0E8"/>
                </a:solidFill>
                <a:latin typeface="DejaVu Sans"/>
                <a:ea typeface="DejaVu Sans"/>
                <a:cs typeface="DejaVu Sans"/>
              </a:defRPr>
            </a:lvl1pPr>
            <a:lvl2pPr algn="l">
              <a:defRPr sz="1425" b="0">
                <a:solidFill>
                  <a:srgbClr val="EEF0E8"/>
                </a:solidFill>
                <a:latin typeface="DejaVu Sans"/>
                <a:ea typeface="DejaVu Sans"/>
                <a:cs typeface="DejaVu Sans"/>
              </a:defRPr>
            </a:lvl2pPr>
            <a:lvl3pPr algn="l">
              <a:defRPr sz="1425" b="0">
                <a:solidFill>
                  <a:srgbClr val="EEF0E8"/>
                </a:solidFill>
                <a:latin typeface="DejaVu Sans"/>
                <a:ea typeface="DejaVu Sans"/>
                <a:cs typeface="DejaVu Sans"/>
              </a:defRPr>
            </a:lvl3pPr>
            <a:lvl4pPr algn="l">
              <a:defRPr sz="1425" b="0">
                <a:solidFill>
                  <a:srgbClr val="EEF0E8"/>
                </a:solidFill>
                <a:latin typeface="DejaVu Sans"/>
                <a:ea typeface="DejaVu Sans"/>
                <a:cs typeface="DejaVu Sans"/>
              </a:defRPr>
            </a:lvl4pPr>
            <a:lvl5pPr algn="l">
              <a:defRPr sz="1425" b="0">
                <a:solidFill>
                  <a:srgbClr val="EEF0E8"/>
                </a:solidFill>
                <a:latin typeface="DejaVu Sans"/>
                <a:ea typeface="DejaVu Sans"/>
                <a:cs typeface="DejaVu Sans"/>
              </a:defRPr>
            </a:lvl5pPr>
            <a:lvl6pPr algn="l">
              <a:defRPr sz="1425" b="0">
                <a:solidFill>
                  <a:srgbClr val="EEF0E8"/>
                </a:solidFill>
                <a:latin typeface="DejaVu Sans"/>
                <a:ea typeface="DejaVu Sans"/>
                <a:cs typeface="DejaVu Sans"/>
              </a:defRPr>
            </a:lvl6pPr>
            <a:lvl7pPr algn="l">
              <a:defRPr sz="1425" b="0">
                <a:solidFill>
                  <a:srgbClr val="EEF0E8"/>
                </a:solidFill>
                <a:latin typeface="DejaVu Sans"/>
                <a:ea typeface="DejaVu Sans"/>
                <a:cs typeface="DejaVu Sans"/>
              </a:defRPr>
            </a:lvl7pPr>
            <a:lvl8pPr algn="l">
              <a:defRPr sz="1425" b="0">
                <a:solidFill>
                  <a:srgbClr val="EEF0E8"/>
                </a:solidFill>
                <a:latin typeface="DejaVu Sans"/>
                <a:ea typeface="DejaVu Sans"/>
                <a:cs typeface="DejaVu Sans"/>
              </a:defRPr>
            </a:lvl8pPr>
            <a:lvl9pPr algn="l">
              <a:defRPr sz="1425" b="0">
                <a:solidFill>
                  <a:srgbClr val="EEF0E8"/>
                </a:solidFill>
                <a:latin typeface="DejaVu Sans"/>
                <a:ea typeface="DejaVu Sans"/>
                <a:cs typeface="DejaVu Sans"/>
              </a:defRPr>
            </a:lvl9pPr>
          </a:lstStyle>
          <a:p xmlns:a="http://schemas.openxmlformats.org/drawingml/2006/main">
            <a:pPr algn="l">
              <a:defRPr sz="1425" b="0">
                <a:solidFill>
                  <a:srgbClr val="EEF0E8"/>
                </a:solidFill>
                <a:latin typeface="DejaVu Sans"/>
                <a:ea typeface="DejaVu Sans"/>
                <a:cs typeface="DejaVu Sans"/>
              </a:defRPr>
            </a:pPr>
            <a:r>
              <a:rPr sz="1425" b="0">
                <a:solidFill>
                  <a:srgbClr val="EEF0E8"/>
                </a:solidFill>
                <a:latin typeface="DejaVu Sans"/>
                <a:ea typeface="DejaVu Sans"/>
                <a:cs typeface="DejaVu Sans"/>
              </a:rPr>
              <a:t>One Portaldot operator team: measure alert usefulness, false alarms, and time to investigate before building a hosted tier.</a:t>
            </a:r>
          </a:p>
        </p:txBody>
      </p:sp>
    </p:spTree>
    <p:extLst>
      <p:ext uri="{BB962C8B-B14F-4D97-AF65-F5344CB8AC3E}">
        <p14:creationId xmlns:p14="http://schemas.microsoft.com/office/powerpoint/2010/main" val="9802857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2026-10-29T18:02:35.4740000Z</dcterms:created>
  <dcterms:modified xsi:type="dcterms:W3CDTF">2026-10-29T18:02:35.4740000Z</dcterms:modified>
</coreProperties>
</file>